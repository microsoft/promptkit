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PromptKit treats prompts as engineered software components — composable, testable, version-controlled. Today we'll cover the architecture, what's included, and how to start using it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pain point. Most teams treat prompts as throwaway text. But prompts are the primary interface to AI — they deserve the same engineering rigor we apply to code: modularity, review, testing, reuse.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engineering principles applied to prompts. Modularity means you compose from reusable layers instead of writing monolithic prompts. Version control means prompts live in Git with full history. Testable means we have a reference-comparison methodology. Extensible means the team can contribute new components via PR.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stack bottom-up: Template is the task you want to accomplish. It declares which persona, protocols, and format to use. The bootstrap engine reads these declarations and assembles a single coherent prompt in this exact order. The stacking/narrowing visual shows how each layer constrains the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Inventory slide. Emphasize breadth: 10 domain-expert personas, 20 protocols across 3 categories (guardrails that prevent errors, analysis for domain-specific checks, reasoning for systematic approaches), 11 output format specs, and 27 task templates. All MIT-licensed, all composable.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opportunity. Show each command in sequence. Interactive mode is the flagship UX — it walks the user through component selection and parameter gathering. The assemble command is for automation/scripting. List is for discovery.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walkthrough of assembly. The engine reads the template's YAML frontmatter, resolves each referenced component, and concatenates them in order. Parameters like {{problem_description}} are substituted with user-provided values. The output is a single markdown file that can be pasted into any LLM or saved as persistent agent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chaining is the power feature. Templates declare input_contract and output_contract with artifact types. The requirements doc feeds into design, design feeds into validation planning. The bootstrap engine can suggest the next stage automatically. This replaces ad-hoc copy-paste between tools.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to action. The barrier to entry is one npx command. Encourage the team to try it on a real task — bug investigation or code review works great as a first use. The extend-library template is meta: you use PromptKit to contribute to PromptKit.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omptKit-logo.png"/>
          <p:cNvPicPr>
            <a:picLocks noChangeAspect="1"/>
          </p:cNvPicPr>
          <p:nvPr/>
        </p:nvPicPr>
        <p:blipFill>
          <a:blip r:embed="rId2"/>
          <a:stretch>
            <a:fillRect/>
          </a:stretch>
        </p:blipFill>
        <p:spPr>
          <a:xfrm>
            <a:off x="822960" y="1097280"/>
            <a:ext cx="2286000" cy="2286000"/>
          </a:xfrm>
          <a:prstGeom prst="rect">
            <a:avLst/>
          </a:prstGeom>
        </p:spPr>
      </p:pic>
      <p:sp>
        <p:nvSpPr>
          <p:cNvPr id="4" name="TextBox 3"/>
          <p:cNvSpPr txBox="1"/>
          <p:nvPr/>
        </p:nvSpPr>
        <p:spPr>
          <a:xfrm>
            <a:off x="3383280" y="1463040"/>
            <a:ext cx="8229600" cy="1097280"/>
          </a:xfrm>
          <a:prstGeom prst="rect">
            <a:avLst/>
          </a:prstGeom>
          <a:noFill/>
        </p:spPr>
        <p:txBody>
          <a:bodyPr wrap="square">
            <a:spAutoFit/>
          </a:bodyPr>
          <a:lstStyle/>
          <a:p>
            <a:pPr algn="l">
              <a:lnSpc>
                <a:spcPts val="7680"/>
              </a:lnSpc>
              <a:spcAft>
                <a:spcPts val="1920"/>
              </a:spcAft>
              <a:defRPr sz="6400" b="1">
                <a:solidFill>
                  <a:srgbClr val="CDD6F4"/>
                </a:solidFill>
                <a:latin typeface="Segoe UI"/>
              </a:defRPr>
            </a:pPr>
            <a:r>
              <a:t>PromptKit</a:t>
            </a:r>
          </a:p>
        </p:txBody>
      </p:sp>
      <p:sp>
        <p:nvSpPr>
          <p:cNvPr id="5" name="TextBox 4"/>
          <p:cNvSpPr txBox="1"/>
          <p:nvPr/>
        </p:nvSpPr>
        <p:spPr>
          <a:xfrm>
            <a:off x="3383280" y="2560320"/>
            <a:ext cx="8229600" cy="731520"/>
          </a:xfrm>
          <a:prstGeom prst="rect">
            <a:avLst/>
          </a:prstGeom>
          <a:noFill/>
        </p:spPr>
        <p:txBody>
          <a:bodyPr wrap="square">
            <a:spAutoFit/>
          </a:bodyPr>
          <a:lstStyle/>
          <a:p>
            <a:pPr algn="l">
              <a:lnSpc>
                <a:spcPts val="2879"/>
              </a:lnSpc>
              <a:spcAft>
                <a:spcPts val="719"/>
              </a:spcAft>
              <a:defRPr sz="2400" b="0">
                <a:solidFill>
                  <a:srgbClr val="89B4FA"/>
                </a:solidFill>
                <a:latin typeface="Segoe UI"/>
              </a:defRPr>
            </a:pPr>
            <a:r>
              <a:t>Composable, version-controlled prompts</a:t>
            </a:r>
            <a:br/>
            <a:r>
              <a:t>for AI-assisted software engineering</a:t>
            </a:r>
          </a:p>
        </p:txBody>
      </p:sp>
      <p:sp>
        <p:nvSpPr>
          <p:cNvPr id="6" name="TextBox 5"/>
          <p:cNvSpPr txBox="1"/>
          <p:nvPr/>
        </p:nvSpPr>
        <p:spPr>
          <a:xfrm>
            <a:off x="3383280" y="3749039"/>
            <a:ext cx="8229600" cy="457200"/>
          </a:xfrm>
          <a:prstGeom prst="rect">
            <a:avLst/>
          </a:prstGeom>
          <a:noFill/>
        </p:spPr>
        <p:txBody>
          <a:bodyPr wrap="square">
            <a:spAutoFit/>
          </a:bodyPr>
          <a:lstStyle/>
          <a:p>
            <a:pPr algn="l">
              <a:lnSpc>
                <a:spcPts val="1680"/>
              </a:lnSpc>
              <a:spcAft>
                <a:spcPts val="420"/>
              </a:spcAft>
              <a:defRPr sz="1400" b="0">
                <a:solidFill>
                  <a:srgbClr val="6C7086"/>
                </a:solidFill>
                <a:latin typeface="Segoe UI"/>
              </a:defRPr>
            </a:pPr>
            <a:r>
              <a:t>github.com/microsoft/promptkit  ·  MIT License  ·  v0.2.0</a:t>
            </a:r>
          </a:p>
        </p:txBody>
      </p:sp>
      <p:sp>
        <p:nvSpPr>
          <p:cNvPr id="7" name="TextBox 6"/>
          <p:cNvSpPr txBox="1"/>
          <p:nvPr/>
        </p:nvSpPr>
        <p:spPr>
          <a:xfrm>
            <a:off x="822960" y="5669280"/>
            <a:ext cx="10058400" cy="365760"/>
          </a:xfrm>
          <a:prstGeom prst="rect">
            <a:avLst/>
          </a:prstGeom>
          <a:noFill/>
        </p:spPr>
        <p:txBody>
          <a:bodyPr wrap="square">
            <a:spAutoFit/>
          </a:bodyPr>
          <a:lstStyle/>
          <a:p>
            <a:pPr algn="l">
              <a:lnSpc>
                <a:spcPts val="1680"/>
              </a:lnSpc>
              <a:spcAft>
                <a:spcPts val="420"/>
              </a:spcAft>
              <a:defRPr sz="1400" b="0">
                <a:solidFill>
                  <a:srgbClr val="6C7086"/>
                </a:solidFill>
                <a:latin typeface="Segoe UI"/>
              </a:defRPr>
            </a:pPr>
            <a:r>
              <a:t>Engineering Deep-Dive  ·  Getting Started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The Problem</a:t>
            </a:r>
          </a:p>
        </p:txBody>
      </p:sp>
      <p:sp>
        <p:nvSpPr>
          <p:cNvPr id="4" name="Rectangle 3"/>
          <p:cNvSpPr/>
          <p:nvPr/>
        </p:nvSpPr>
        <p:spPr>
          <a:xfrm>
            <a:off x="822960" y="1508760"/>
            <a:ext cx="54864" cy="54864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813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Ad-hoc prompts</a:t>
            </a:r>
          </a:p>
        </p:txBody>
      </p:sp>
      <p:sp>
        <p:nvSpPr>
          <p:cNvPr id="6" name="TextBox 5"/>
          <p:cNvSpPr txBox="1"/>
          <p:nvPr/>
        </p:nvSpPr>
        <p:spPr>
          <a:xfrm>
            <a:off x="1051560" y="18013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Written once, pasted everywhere, never improved</a:t>
            </a:r>
          </a:p>
        </p:txBody>
      </p:sp>
      <p:sp>
        <p:nvSpPr>
          <p:cNvPr id="7" name="Rectangle 6"/>
          <p:cNvSpPr/>
          <p:nvPr/>
        </p:nvSpPr>
        <p:spPr>
          <a:xfrm>
            <a:off x="822960" y="2423160"/>
            <a:ext cx="54864" cy="54864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3957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No version control</a:t>
            </a:r>
          </a:p>
        </p:txBody>
      </p:sp>
      <p:sp>
        <p:nvSpPr>
          <p:cNvPr id="9" name="TextBox 8"/>
          <p:cNvSpPr txBox="1"/>
          <p:nvPr/>
        </p:nvSpPr>
        <p:spPr>
          <a:xfrm>
            <a:off x="1051560" y="27157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Can't track what changed, who changed it, or why</a:t>
            </a:r>
          </a:p>
        </p:txBody>
      </p:sp>
      <p:sp>
        <p:nvSpPr>
          <p:cNvPr id="10" name="Rectangle 9"/>
          <p:cNvSpPr/>
          <p:nvPr/>
        </p:nvSpPr>
        <p:spPr>
          <a:xfrm>
            <a:off x="822960" y="3337560"/>
            <a:ext cx="54864" cy="54864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3101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No reuse</a:t>
            </a:r>
          </a:p>
        </p:txBody>
      </p:sp>
      <p:sp>
        <p:nvSpPr>
          <p:cNvPr id="12" name="TextBox 11"/>
          <p:cNvSpPr txBox="1"/>
          <p:nvPr/>
        </p:nvSpPr>
        <p:spPr>
          <a:xfrm>
            <a:off x="1051560" y="36301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Every engineer reinvents the same persona / guardrails / format</a:t>
            </a:r>
          </a:p>
        </p:txBody>
      </p:sp>
      <p:sp>
        <p:nvSpPr>
          <p:cNvPr id="13" name="Rectangle 12"/>
          <p:cNvSpPr/>
          <p:nvPr/>
        </p:nvSpPr>
        <p:spPr>
          <a:xfrm>
            <a:off x="822960" y="4251960"/>
            <a:ext cx="54864" cy="54864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2245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No testing</a:t>
            </a:r>
          </a:p>
        </p:txBody>
      </p:sp>
      <p:sp>
        <p:nvSpPr>
          <p:cNvPr id="15" name="TextBox 14"/>
          <p:cNvSpPr txBox="1"/>
          <p:nvPr/>
        </p:nvSpPr>
        <p:spPr>
          <a:xfrm>
            <a:off x="1051560" y="45445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No way to verify prompt quality or catch regressions</a:t>
            </a:r>
          </a:p>
        </p:txBody>
      </p:sp>
      <p:sp>
        <p:nvSpPr>
          <p:cNvPr id="16" name="Rectangle 15"/>
          <p:cNvSpPr/>
          <p:nvPr/>
        </p:nvSpPr>
        <p:spPr>
          <a:xfrm>
            <a:off x="822960" y="5166360"/>
            <a:ext cx="54864" cy="54864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138928"/>
            <a:ext cx="3657600" cy="320040"/>
          </a:xfrm>
          <a:prstGeom prst="rect">
            <a:avLst/>
          </a:prstGeom>
          <a:noFill/>
        </p:spPr>
        <p:txBody>
          <a:bodyPr wrap="square">
            <a:spAutoFit/>
          </a:bodyPr>
          <a:lstStyle/>
          <a:p>
            <a:pPr algn="l">
              <a:lnSpc>
                <a:spcPts val="2400"/>
              </a:lnSpc>
              <a:spcAft>
                <a:spcPts val="600"/>
              </a:spcAft>
              <a:defRPr sz="2000" b="1">
                <a:solidFill>
                  <a:srgbClr val="CDD6F4"/>
                </a:solidFill>
                <a:latin typeface="Segoe UI"/>
              </a:defRPr>
            </a:pPr>
            <a:r>
              <a:t>Inconsistent outputs</a:t>
            </a:r>
          </a:p>
        </p:txBody>
      </p:sp>
      <p:sp>
        <p:nvSpPr>
          <p:cNvPr id="18" name="TextBox 17"/>
          <p:cNvSpPr txBox="1"/>
          <p:nvPr/>
        </p:nvSpPr>
        <p:spPr>
          <a:xfrm>
            <a:off x="1051560" y="5458968"/>
            <a:ext cx="9144000" cy="320040"/>
          </a:xfrm>
          <a:prstGeom prst="rect">
            <a:avLst/>
          </a:prstGeom>
          <a:noFill/>
        </p:spPr>
        <p:txBody>
          <a:bodyPr wrap="square">
            <a:spAutoFit/>
          </a:bodyPr>
          <a:lstStyle/>
          <a:p>
            <a:pPr algn="l">
              <a:lnSpc>
                <a:spcPts val="1800"/>
              </a:lnSpc>
              <a:spcAft>
                <a:spcPts val="450"/>
              </a:spcAft>
              <a:defRPr sz="1500" b="0">
                <a:solidFill>
                  <a:srgbClr val="6C7086"/>
                </a:solidFill>
                <a:latin typeface="Segoe UI"/>
              </a:defRPr>
            </a:pPr>
            <a:r>
              <a:t>Same task → wildly different results across the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The Fix: Treat Prompts as Code</a:t>
            </a:r>
          </a:p>
        </p:txBody>
      </p:sp>
      <p:sp>
        <p:nvSpPr>
          <p:cNvPr id="4" name="Rounded Rectangle 3"/>
          <p:cNvSpPr/>
          <p:nvPr/>
        </p:nvSpPr>
        <p:spPr>
          <a:xfrm>
            <a:off x="860907" y="2011680"/>
            <a:ext cx="2377440" cy="256032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0907" y="2011680"/>
            <a:ext cx="2377440"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9507" y="2331720"/>
            <a:ext cx="1920240" cy="365760"/>
          </a:xfrm>
          <a:prstGeom prst="rect">
            <a:avLst/>
          </a:prstGeom>
          <a:noFill/>
        </p:spPr>
        <p:txBody>
          <a:bodyPr wrap="square">
            <a:spAutoFit/>
          </a:bodyPr>
          <a:lstStyle/>
          <a:p>
            <a:pPr algn="ctr">
              <a:lnSpc>
                <a:spcPts val="2400"/>
              </a:lnSpc>
              <a:spcAft>
                <a:spcPts val="600"/>
              </a:spcAft>
              <a:defRPr sz="2000" b="1">
                <a:solidFill>
                  <a:srgbClr val="89B4FA"/>
                </a:solidFill>
                <a:latin typeface="Segoe UI"/>
              </a:defRPr>
            </a:pPr>
            <a:r>
              <a:t>Modular</a:t>
            </a:r>
          </a:p>
        </p:txBody>
      </p:sp>
      <p:sp>
        <p:nvSpPr>
          <p:cNvPr id="7" name="TextBox 6"/>
          <p:cNvSpPr txBox="1"/>
          <p:nvPr/>
        </p:nvSpPr>
        <p:spPr>
          <a:xfrm>
            <a:off x="1089507" y="2880360"/>
            <a:ext cx="1920240" cy="1097280"/>
          </a:xfrm>
          <a:prstGeom prst="rect">
            <a:avLst/>
          </a:prstGeom>
          <a:noFill/>
        </p:spPr>
        <p:txBody>
          <a:bodyPr wrap="square">
            <a:spAutoFit/>
          </a:bodyPr>
          <a:lstStyle/>
          <a:p>
            <a:pPr algn="ctr">
              <a:lnSpc>
                <a:spcPts val="1800"/>
              </a:lnSpc>
              <a:spcAft>
                <a:spcPts val="450"/>
              </a:spcAft>
              <a:defRPr sz="1500" b="0">
                <a:solidFill>
                  <a:srgbClr val="CDD6F4"/>
                </a:solidFill>
                <a:latin typeface="Segoe UI"/>
              </a:defRPr>
            </a:pPr>
            <a:r>
              <a:t>Compose from reusable</a:t>
            </a:r>
            <a:br/>
            <a:r>
              <a:t>building blocks</a:t>
            </a:r>
          </a:p>
        </p:txBody>
      </p:sp>
      <p:sp>
        <p:nvSpPr>
          <p:cNvPr id="8" name="Rounded Rectangle 7"/>
          <p:cNvSpPr/>
          <p:nvPr/>
        </p:nvSpPr>
        <p:spPr>
          <a:xfrm>
            <a:off x="3558387" y="2011680"/>
            <a:ext cx="2377440" cy="256032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58387" y="2011680"/>
            <a:ext cx="2377440"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86987" y="2331720"/>
            <a:ext cx="1920240" cy="365760"/>
          </a:xfrm>
          <a:prstGeom prst="rect">
            <a:avLst/>
          </a:prstGeom>
          <a:noFill/>
        </p:spPr>
        <p:txBody>
          <a:bodyPr wrap="square">
            <a:spAutoFit/>
          </a:bodyPr>
          <a:lstStyle/>
          <a:p>
            <a:pPr algn="ctr">
              <a:lnSpc>
                <a:spcPts val="2400"/>
              </a:lnSpc>
              <a:spcAft>
                <a:spcPts val="600"/>
              </a:spcAft>
              <a:defRPr sz="2000" b="1">
                <a:solidFill>
                  <a:srgbClr val="A6E3A1"/>
                </a:solidFill>
                <a:latin typeface="Segoe UI"/>
              </a:defRPr>
            </a:pPr>
            <a:r>
              <a:t>Version-Controlled</a:t>
            </a:r>
          </a:p>
        </p:txBody>
      </p:sp>
      <p:sp>
        <p:nvSpPr>
          <p:cNvPr id="11" name="TextBox 10"/>
          <p:cNvSpPr txBox="1"/>
          <p:nvPr/>
        </p:nvSpPr>
        <p:spPr>
          <a:xfrm>
            <a:off x="3786987" y="2880360"/>
            <a:ext cx="1920240" cy="1097280"/>
          </a:xfrm>
          <a:prstGeom prst="rect">
            <a:avLst/>
          </a:prstGeom>
          <a:noFill/>
        </p:spPr>
        <p:txBody>
          <a:bodyPr wrap="square">
            <a:spAutoFit/>
          </a:bodyPr>
          <a:lstStyle/>
          <a:p>
            <a:pPr algn="ctr">
              <a:lnSpc>
                <a:spcPts val="1800"/>
              </a:lnSpc>
              <a:spcAft>
                <a:spcPts val="450"/>
              </a:spcAft>
              <a:defRPr sz="1500" b="0">
                <a:solidFill>
                  <a:srgbClr val="CDD6F4"/>
                </a:solidFill>
                <a:latin typeface="Segoe UI"/>
              </a:defRPr>
            </a:pPr>
            <a:r>
              <a:t>Track changes via</a:t>
            </a:r>
            <a:br/>
            <a:r>
              <a:t>Git like any code</a:t>
            </a:r>
          </a:p>
        </p:txBody>
      </p:sp>
      <p:sp>
        <p:nvSpPr>
          <p:cNvPr id="12" name="Rounded Rectangle 11"/>
          <p:cNvSpPr/>
          <p:nvPr/>
        </p:nvSpPr>
        <p:spPr>
          <a:xfrm>
            <a:off x="6255867" y="2011680"/>
            <a:ext cx="2377440" cy="256032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55867" y="2011680"/>
            <a:ext cx="2377440" cy="54864"/>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4467" y="2331720"/>
            <a:ext cx="1920240" cy="365760"/>
          </a:xfrm>
          <a:prstGeom prst="rect">
            <a:avLst/>
          </a:prstGeom>
          <a:noFill/>
        </p:spPr>
        <p:txBody>
          <a:bodyPr wrap="square">
            <a:spAutoFit/>
          </a:bodyPr>
          <a:lstStyle/>
          <a:p>
            <a:pPr algn="ctr">
              <a:lnSpc>
                <a:spcPts val="2400"/>
              </a:lnSpc>
              <a:spcAft>
                <a:spcPts val="600"/>
              </a:spcAft>
              <a:defRPr sz="2000" b="1">
                <a:solidFill>
                  <a:srgbClr val="F9E2AF"/>
                </a:solidFill>
                <a:latin typeface="Segoe UI"/>
              </a:defRPr>
            </a:pPr>
            <a:r>
              <a:t>Testable</a:t>
            </a:r>
          </a:p>
        </p:txBody>
      </p:sp>
      <p:sp>
        <p:nvSpPr>
          <p:cNvPr id="15" name="TextBox 14"/>
          <p:cNvSpPr txBox="1"/>
          <p:nvPr/>
        </p:nvSpPr>
        <p:spPr>
          <a:xfrm>
            <a:off x="6484467" y="2880360"/>
            <a:ext cx="1920240" cy="1097280"/>
          </a:xfrm>
          <a:prstGeom prst="rect">
            <a:avLst/>
          </a:prstGeom>
          <a:noFill/>
        </p:spPr>
        <p:txBody>
          <a:bodyPr wrap="square">
            <a:spAutoFit/>
          </a:bodyPr>
          <a:lstStyle/>
          <a:p>
            <a:pPr algn="ctr">
              <a:lnSpc>
                <a:spcPts val="1800"/>
              </a:lnSpc>
              <a:spcAft>
                <a:spcPts val="450"/>
              </a:spcAft>
              <a:defRPr sz="1500" b="0">
                <a:solidFill>
                  <a:srgbClr val="CDD6F4"/>
                </a:solidFill>
                <a:latin typeface="Segoe UI"/>
              </a:defRPr>
            </a:pPr>
            <a:r>
              <a:t>Reference-compare</a:t>
            </a:r>
            <a:br/>
            <a:r>
              <a:t>against known-good</a:t>
            </a:r>
          </a:p>
        </p:txBody>
      </p:sp>
      <p:sp>
        <p:nvSpPr>
          <p:cNvPr id="16" name="Rounded Rectangle 15"/>
          <p:cNvSpPr/>
          <p:nvPr/>
        </p:nvSpPr>
        <p:spPr>
          <a:xfrm>
            <a:off x="8953347" y="2011680"/>
            <a:ext cx="2377440" cy="256032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53347" y="2011680"/>
            <a:ext cx="2377440" cy="54864"/>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1947" y="2331720"/>
            <a:ext cx="1920240" cy="365760"/>
          </a:xfrm>
          <a:prstGeom prst="rect">
            <a:avLst/>
          </a:prstGeom>
          <a:noFill/>
        </p:spPr>
        <p:txBody>
          <a:bodyPr wrap="square">
            <a:spAutoFit/>
          </a:bodyPr>
          <a:lstStyle/>
          <a:p>
            <a:pPr algn="ctr">
              <a:lnSpc>
                <a:spcPts val="2400"/>
              </a:lnSpc>
              <a:spcAft>
                <a:spcPts val="600"/>
              </a:spcAft>
              <a:defRPr sz="2000" b="1">
                <a:solidFill>
                  <a:srgbClr val="FAB387"/>
                </a:solidFill>
                <a:latin typeface="Segoe UI"/>
              </a:defRPr>
            </a:pPr>
            <a:r>
              <a:t>Extensible</a:t>
            </a:r>
          </a:p>
        </p:txBody>
      </p:sp>
      <p:sp>
        <p:nvSpPr>
          <p:cNvPr id="19" name="TextBox 18"/>
          <p:cNvSpPr txBox="1"/>
          <p:nvPr/>
        </p:nvSpPr>
        <p:spPr>
          <a:xfrm>
            <a:off x="9181947" y="2880360"/>
            <a:ext cx="1920240" cy="1097280"/>
          </a:xfrm>
          <a:prstGeom prst="rect">
            <a:avLst/>
          </a:prstGeom>
          <a:noFill/>
        </p:spPr>
        <p:txBody>
          <a:bodyPr wrap="square">
            <a:spAutoFit/>
          </a:bodyPr>
          <a:lstStyle/>
          <a:p>
            <a:pPr algn="ctr">
              <a:lnSpc>
                <a:spcPts val="1800"/>
              </a:lnSpc>
              <a:spcAft>
                <a:spcPts val="450"/>
              </a:spcAft>
              <a:defRPr sz="1500" b="0">
                <a:solidFill>
                  <a:srgbClr val="CDD6F4"/>
                </a:solidFill>
                <a:latin typeface="Segoe UI"/>
              </a:defRPr>
            </a:pPr>
            <a:r>
              <a:t>Add your own personas,</a:t>
            </a:r>
            <a:br/>
            <a:r>
              <a:t>protocols, templates</a:t>
            </a:r>
          </a:p>
        </p:txBody>
      </p:sp>
      <p:sp>
        <p:nvSpPr>
          <p:cNvPr id="20" name="TextBox 19"/>
          <p:cNvSpPr txBox="1"/>
          <p:nvPr/>
        </p:nvSpPr>
        <p:spPr>
          <a:xfrm>
            <a:off x="1371600" y="5029200"/>
            <a:ext cx="9144000" cy="731520"/>
          </a:xfrm>
          <a:prstGeom prst="rect">
            <a:avLst/>
          </a:prstGeom>
          <a:noFill/>
        </p:spPr>
        <p:txBody>
          <a:bodyPr wrap="square">
            <a:spAutoFit/>
          </a:bodyPr>
          <a:lstStyle/>
          <a:p>
            <a:pPr algn="ctr">
              <a:lnSpc>
                <a:spcPts val="1920"/>
              </a:lnSpc>
              <a:spcAft>
                <a:spcPts val="480"/>
              </a:spcAft>
              <a:defRPr sz="1600" b="0">
                <a:solidFill>
                  <a:srgbClr val="6C7086"/>
                </a:solidFill>
                <a:latin typeface="Segoe UI"/>
              </a:defRPr>
            </a:pPr>
            <a:r>
              <a:t>PromptKit applies the same engineering discipline you use for software</a:t>
            </a:r>
            <a:br/>
            <a:r>
              <a:t>to the prompts that build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Architecture: The 5-Layer Composition Stack</a:t>
            </a:r>
          </a:p>
        </p:txBody>
      </p:sp>
      <p:sp>
        <p:nvSpPr>
          <p:cNvPr id="4" name="Rounded Rectangle 3"/>
          <p:cNvSpPr/>
          <p:nvPr/>
        </p:nvSpPr>
        <p:spPr>
          <a:xfrm>
            <a:off x="838047" y="1417320"/>
            <a:ext cx="1051560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38047" y="1417320"/>
            <a:ext cx="64008" cy="77724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1463040"/>
            <a:ext cx="2011680" cy="365760"/>
          </a:xfrm>
          <a:prstGeom prst="rect">
            <a:avLst/>
          </a:prstGeom>
          <a:noFill/>
        </p:spPr>
        <p:txBody>
          <a:bodyPr wrap="square">
            <a:spAutoFit/>
          </a:bodyPr>
          <a:lstStyle/>
          <a:p>
            <a:pPr algn="l">
              <a:lnSpc>
                <a:spcPts val="2160"/>
              </a:lnSpc>
              <a:spcAft>
                <a:spcPts val="540"/>
              </a:spcAft>
              <a:defRPr sz="1800" b="1">
                <a:solidFill>
                  <a:srgbClr val="89B4FA"/>
                </a:solidFill>
                <a:latin typeface="Segoe UI"/>
              </a:defRPr>
            </a:pPr>
            <a:r>
              <a:t>① Persona</a:t>
            </a:r>
          </a:p>
        </p:txBody>
      </p:sp>
      <p:sp>
        <p:nvSpPr>
          <p:cNvPr id="7" name="TextBox 6"/>
          <p:cNvSpPr txBox="1"/>
          <p:nvPr/>
        </p:nvSpPr>
        <p:spPr>
          <a:xfrm>
            <a:off x="3124047" y="146304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Who the LLM becomes</a:t>
            </a:r>
          </a:p>
        </p:txBody>
      </p:sp>
      <p:sp>
        <p:nvSpPr>
          <p:cNvPr id="8" name="TextBox 7"/>
          <p:cNvSpPr txBox="1"/>
          <p:nvPr/>
        </p:nvSpPr>
        <p:spPr>
          <a:xfrm>
            <a:off x="3124047" y="1801368"/>
            <a:ext cx="804672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systems-engineer, security-auditor, devops-engineer …</a:t>
            </a:r>
          </a:p>
        </p:txBody>
      </p:sp>
      <p:sp>
        <p:nvSpPr>
          <p:cNvPr id="9" name="Rounded Rectangle 8"/>
          <p:cNvSpPr/>
          <p:nvPr/>
        </p:nvSpPr>
        <p:spPr>
          <a:xfrm>
            <a:off x="1112367" y="2377440"/>
            <a:ext cx="996696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12367" y="2377440"/>
            <a:ext cx="64008" cy="77724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40967" y="2423160"/>
            <a:ext cx="2011680" cy="365760"/>
          </a:xfrm>
          <a:prstGeom prst="rect">
            <a:avLst/>
          </a:prstGeom>
          <a:noFill/>
        </p:spPr>
        <p:txBody>
          <a:bodyPr wrap="square">
            <a:spAutoFit/>
          </a:bodyPr>
          <a:lstStyle/>
          <a:p>
            <a:pPr algn="l">
              <a:lnSpc>
                <a:spcPts val="2160"/>
              </a:lnSpc>
              <a:spcAft>
                <a:spcPts val="540"/>
              </a:spcAft>
              <a:defRPr sz="1800" b="1">
                <a:solidFill>
                  <a:srgbClr val="A6E3A1"/>
                </a:solidFill>
                <a:latin typeface="Segoe UI"/>
              </a:defRPr>
            </a:pPr>
            <a:r>
              <a:t>② Protocols</a:t>
            </a:r>
          </a:p>
        </p:txBody>
      </p:sp>
      <p:sp>
        <p:nvSpPr>
          <p:cNvPr id="12" name="TextBox 11"/>
          <p:cNvSpPr txBox="1"/>
          <p:nvPr/>
        </p:nvSpPr>
        <p:spPr>
          <a:xfrm>
            <a:off x="3398367" y="242316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How it reasons + guardrails</a:t>
            </a:r>
          </a:p>
        </p:txBody>
      </p:sp>
      <p:sp>
        <p:nvSpPr>
          <p:cNvPr id="13" name="TextBox 12"/>
          <p:cNvSpPr txBox="1"/>
          <p:nvPr/>
        </p:nvSpPr>
        <p:spPr>
          <a:xfrm>
            <a:off x="3398367" y="2761488"/>
            <a:ext cx="749808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anti-hallucination, root-cause-analysis, thread-safety …</a:t>
            </a:r>
          </a:p>
        </p:txBody>
      </p:sp>
      <p:sp>
        <p:nvSpPr>
          <p:cNvPr id="14" name="Rounded Rectangle 13"/>
          <p:cNvSpPr/>
          <p:nvPr/>
        </p:nvSpPr>
        <p:spPr>
          <a:xfrm>
            <a:off x="1386687" y="3337560"/>
            <a:ext cx="941832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86687" y="3337560"/>
            <a:ext cx="64008" cy="77724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15287" y="3383280"/>
            <a:ext cx="2011680" cy="365760"/>
          </a:xfrm>
          <a:prstGeom prst="rect">
            <a:avLst/>
          </a:prstGeom>
          <a:noFill/>
        </p:spPr>
        <p:txBody>
          <a:bodyPr wrap="square">
            <a:spAutoFit/>
          </a:bodyPr>
          <a:lstStyle/>
          <a:p>
            <a:pPr algn="l">
              <a:lnSpc>
                <a:spcPts val="2160"/>
              </a:lnSpc>
              <a:spcAft>
                <a:spcPts val="540"/>
              </a:spcAft>
              <a:defRPr sz="1800" b="1">
                <a:solidFill>
                  <a:srgbClr val="F9E2AF"/>
                </a:solidFill>
                <a:latin typeface="Segoe UI"/>
              </a:defRPr>
            </a:pPr>
            <a:r>
              <a:t>③ Format</a:t>
            </a:r>
          </a:p>
        </p:txBody>
      </p:sp>
      <p:sp>
        <p:nvSpPr>
          <p:cNvPr id="17" name="TextBox 16"/>
          <p:cNvSpPr txBox="1"/>
          <p:nvPr/>
        </p:nvSpPr>
        <p:spPr>
          <a:xfrm>
            <a:off x="3672687" y="338328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Output structure &amp; rules</a:t>
            </a:r>
          </a:p>
        </p:txBody>
      </p:sp>
      <p:sp>
        <p:nvSpPr>
          <p:cNvPr id="18" name="TextBox 17"/>
          <p:cNvSpPr txBox="1"/>
          <p:nvPr/>
        </p:nvSpPr>
        <p:spPr>
          <a:xfrm>
            <a:off x="3672687" y="3721608"/>
            <a:ext cx="694944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requirements-doc, investigation-report, pipeline-spec …</a:t>
            </a:r>
          </a:p>
        </p:txBody>
      </p:sp>
      <p:sp>
        <p:nvSpPr>
          <p:cNvPr id="19" name="Rounded Rectangle 18"/>
          <p:cNvSpPr/>
          <p:nvPr/>
        </p:nvSpPr>
        <p:spPr>
          <a:xfrm>
            <a:off x="1661007" y="4297680"/>
            <a:ext cx="886968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61007" y="4297680"/>
            <a:ext cx="64008" cy="77724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89607" y="4343400"/>
            <a:ext cx="2011680" cy="365760"/>
          </a:xfrm>
          <a:prstGeom prst="rect">
            <a:avLst/>
          </a:prstGeom>
          <a:noFill/>
        </p:spPr>
        <p:txBody>
          <a:bodyPr wrap="square">
            <a:spAutoFit/>
          </a:bodyPr>
          <a:lstStyle/>
          <a:p>
            <a:pPr algn="l">
              <a:lnSpc>
                <a:spcPts val="2160"/>
              </a:lnSpc>
              <a:spcAft>
                <a:spcPts val="540"/>
              </a:spcAft>
              <a:defRPr sz="1800" b="1">
                <a:solidFill>
                  <a:srgbClr val="FAB387"/>
                </a:solidFill>
                <a:latin typeface="Segoe UI"/>
              </a:defRPr>
            </a:pPr>
            <a:r>
              <a:t>④ Taxonomy</a:t>
            </a:r>
          </a:p>
        </p:txBody>
      </p:sp>
      <p:sp>
        <p:nvSpPr>
          <p:cNvPr id="22" name="TextBox 21"/>
          <p:cNvSpPr txBox="1"/>
          <p:nvPr/>
        </p:nvSpPr>
        <p:spPr>
          <a:xfrm>
            <a:off x="3947007" y="434340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Domain classification (optional)</a:t>
            </a:r>
          </a:p>
        </p:txBody>
      </p:sp>
      <p:sp>
        <p:nvSpPr>
          <p:cNvPr id="23" name="TextBox 22"/>
          <p:cNvSpPr txBox="1"/>
          <p:nvPr/>
        </p:nvSpPr>
        <p:spPr>
          <a:xfrm>
            <a:off x="3947007" y="4681728"/>
            <a:ext cx="640080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Severity levels, priority tiers, risk categories</a:t>
            </a:r>
          </a:p>
        </p:txBody>
      </p:sp>
      <p:sp>
        <p:nvSpPr>
          <p:cNvPr id="24" name="Rounded Rectangle 23"/>
          <p:cNvSpPr/>
          <p:nvPr/>
        </p:nvSpPr>
        <p:spPr>
          <a:xfrm>
            <a:off x="1935327" y="5257800"/>
            <a:ext cx="8321040" cy="77724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35327" y="5257800"/>
            <a:ext cx="64008" cy="777240"/>
          </a:xfrm>
          <a:prstGeom prst="rect">
            <a:avLst/>
          </a:prstGeom>
          <a:solidFill>
            <a:srgbClr val="F38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63927" y="5303520"/>
            <a:ext cx="2011680" cy="365760"/>
          </a:xfrm>
          <a:prstGeom prst="rect">
            <a:avLst/>
          </a:prstGeom>
          <a:noFill/>
        </p:spPr>
        <p:txBody>
          <a:bodyPr wrap="square">
            <a:spAutoFit/>
          </a:bodyPr>
          <a:lstStyle/>
          <a:p>
            <a:pPr algn="l">
              <a:lnSpc>
                <a:spcPts val="2160"/>
              </a:lnSpc>
              <a:spcAft>
                <a:spcPts val="540"/>
              </a:spcAft>
              <a:defRPr sz="1800" b="1">
                <a:solidFill>
                  <a:srgbClr val="F38BA8"/>
                </a:solidFill>
                <a:latin typeface="Segoe UI"/>
              </a:defRPr>
            </a:pPr>
            <a:r>
              <a:t>⑤ Template</a:t>
            </a:r>
          </a:p>
        </p:txBody>
      </p:sp>
      <p:sp>
        <p:nvSpPr>
          <p:cNvPr id="27" name="TextBox 26"/>
          <p:cNvSpPr txBox="1"/>
          <p:nvPr/>
        </p:nvSpPr>
        <p:spPr>
          <a:xfrm>
            <a:off x="4221327" y="5303520"/>
            <a:ext cx="2743200" cy="365760"/>
          </a:xfrm>
          <a:prstGeom prst="rect">
            <a:avLst/>
          </a:prstGeom>
          <a:noFill/>
        </p:spPr>
        <p:txBody>
          <a:bodyPr wrap="square">
            <a:spAutoFit/>
          </a:bodyPr>
          <a:lstStyle/>
          <a:p>
            <a:pPr algn="l">
              <a:lnSpc>
                <a:spcPts val="1800"/>
              </a:lnSpc>
              <a:spcAft>
                <a:spcPts val="450"/>
              </a:spcAft>
              <a:defRPr sz="1500" b="0">
                <a:solidFill>
                  <a:srgbClr val="CDD6F4"/>
                </a:solidFill>
                <a:latin typeface="Segoe UI"/>
              </a:defRPr>
            </a:pPr>
            <a:r>
              <a:t>The task with parameters</a:t>
            </a:r>
          </a:p>
        </p:txBody>
      </p:sp>
      <p:sp>
        <p:nvSpPr>
          <p:cNvPr id="28" name="TextBox 27"/>
          <p:cNvSpPr txBox="1"/>
          <p:nvPr/>
        </p:nvSpPr>
        <p:spPr>
          <a:xfrm>
            <a:off x="4221327" y="5641848"/>
            <a:ext cx="5852160" cy="36576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investigate-bug, review-code, author-design-doc …</a:t>
            </a:r>
          </a:p>
        </p:txBody>
      </p:sp>
      <p:sp>
        <p:nvSpPr>
          <p:cNvPr id="29" name="TextBox 28"/>
          <p:cNvSpPr txBox="1"/>
          <p:nvPr/>
        </p:nvSpPr>
        <p:spPr>
          <a:xfrm>
            <a:off x="914400" y="6309360"/>
            <a:ext cx="10058400" cy="365760"/>
          </a:xfrm>
          <a:prstGeom prst="rect">
            <a:avLst/>
          </a:prstGeom>
          <a:noFill/>
        </p:spPr>
        <p:txBody>
          <a:bodyPr wrap="square">
            <a:spAutoFit/>
          </a:bodyPr>
          <a:lstStyle/>
          <a:p>
            <a:pPr algn="ctr">
              <a:lnSpc>
                <a:spcPts val="1560"/>
              </a:lnSpc>
              <a:spcAft>
                <a:spcPts val="390"/>
              </a:spcAft>
              <a:defRPr sz="1300" b="0">
                <a:solidFill>
                  <a:srgbClr val="6C7086"/>
                </a:solidFill>
                <a:latin typeface="Segoe UI"/>
              </a:defRPr>
            </a:pPr>
            <a:r>
              <a:t>Templates declare which components to compose via YAML frontmatter → bootstrap engine snaps them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What's in the Box</a:t>
            </a:r>
          </a:p>
        </p:txBody>
      </p:sp>
      <p:sp>
        <p:nvSpPr>
          <p:cNvPr id="4" name="Rounded Rectangle 3"/>
          <p:cNvSpPr/>
          <p:nvPr/>
        </p:nvSpPr>
        <p:spPr>
          <a:xfrm>
            <a:off x="792327" y="1463040"/>
            <a:ext cx="3291840" cy="41148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207" y="1600200"/>
            <a:ext cx="2926080" cy="365760"/>
          </a:xfrm>
          <a:prstGeom prst="rect">
            <a:avLst/>
          </a:prstGeom>
          <a:noFill/>
        </p:spPr>
        <p:txBody>
          <a:bodyPr wrap="square">
            <a:spAutoFit/>
          </a:bodyPr>
          <a:lstStyle/>
          <a:p>
            <a:pPr algn="ctr">
              <a:lnSpc>
                <a:spcPts val="2640"/>
              </a:lnSpc>
              <a:spcAft>
                <a:spcPts val="660"/>
              </a:spcAft>
              <a:defRPr sz="2200" b="1">
                <a:solidFill>
                  <a:srgbClr val="89B4FA"/>
                </a:solidFill>
                <a:latin typeface="Segoe UI"/>
              </a:defRPr>
            </a:pPr>
            <a:r>
              <a:t>10 Personas</a:t>
            </a:r>
          </a:p>
        </p:txBody>
      </p:sp>
      <p:sp>
        <p:nvSpPr>
          <p:cNvPr id="6" name="TextBox 5"/>
          <p:cNvSpPr txBox="1"/>
          <p:nvPr/>
        </p:nvSpPr>
        <p:spPr>
          <a:xfrm>
            <a:off x="1066647" y="2103120"/>
            <a:ext cx="2743200" cy="3657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systems-engineer, security-auditor</a:t>
            </a:r>
          </a:p>
        </p:txBody>
      </p:sp>
      <p:sp>
        <p:nvSpPr>
          <p:cNvPr id="7" name="TextBox 6"/>
          <p:cNvSpPr txBox="1"/>
          <p:nvPr/>
        </p:nvSpPr>
        <p:spPr>
          <a:xfrm>
            <a:off x="1066647" y="2651760"/>
            <a:ext cx="2743200" cy="3657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software-architect, devops-engineer</a:t>
            </a:r>
          </a:p>
        </p:txBody>
      </p:sp>
      <p:sp>
        <p:nvSpPr>
          <p:cNvPr id="8" name="TextBox 7"/>
          <p:cNvSpPr txBox="1"/>
          <p:nvPr/>
        </p:nvSpPr>
        <p:spPr>
          <a:xfrm>
            <a:off x="1066647" y="3200400"/>
            <a:ext cx="2743200" cy="3657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reverse-engineer, specification-analyst</a:t>
            </a:r>
          </a:p>
        </p:txBody>
      </p:sp>
      <p:sp>
        <p:nvSpPr>
          <p:cNvPr id="9" name="TextBox 8"/>
          <p:cNvSpPr txBox="1"/>
          <p:nvPr/>
        </p:nvSpPr>
        <p:spPr>
          <a:xfrm>
            <a:off x="1066647" y="3749040"/>
            <a:ext cx="2743200" cy="3657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workflow-arbiter, implementation-engineer</a:t>
            </a:r>
          </a:p>
        </p:txBody>
      </p:sp>
      <p:sp>
        <p:nvSpPr>
          <p:cNvPr id="10" name="TextBox 9"/>
          <p:cNvSpPr txBox="1"/>
          <p:nvPr/>
        </p:nvSpPr>
        <p:spPr>
          <a:xfrm>
            <a:off x="1066647" y="4297680"/>
            <a:ext cx="2743200" cy="3657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test-engineer, promptkit-contributor</a:t>
            </a:r>
          </a:p>
        </p:txBody>
      </p:sp>
      <p:sp>
        <p:nvSpPr>
          <p:cNvPr id="11" name="Rounded Rectangle 10"/>
          <p:cNvSpPr/>
          <p:nvPr/>
        </p:nvSpPr>
        <p:spPr>
          <a:xfrm>
            <a:off x="4449927" y="1463040"/>
            <a:ext cx="3291840" cy="41148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2807" y="1600200"/>
            <a:ext cx="2926080" cy="365760"/>
          </a:xfrm>
          <a:prstGeom prst="rect">
            <a:avLst/>
          </a:prstGeom>
          <a:noFill/>
        </p:spPr>
        <p:txBody>
          <a:bodyPr wrap="square">
            <a:spAutoFit/>
          </a:bodyPr>
          <a:lstStyle/>
          <a:p>
            <a:pPr algn="ctr">
              <a:lnSpc>
                <a:spcPts val="2640"/>
              </a:lnSpc>
              <a:spcAft>
                <a:spcPts val="660"/>
              </a:spcAft>
              <a:defRPr sz="2200" b="1">
                <a:solidFill>
                  <a:srgbClr val="A6E3A1"/>
                </a:solidFill>
                <a:latin typeface="Segoe UI"/>
              </a:defRPr>
            </a:pPr>
            <a:r>
              <a:t>20 Protocols</a:t>
            </a:r>
          </a:p>
        </p:txBody>
      </p:sp>
      <p:sp>
        <p:nvSpPr>
          <p:cNvPr id="13" name="TextBox 12"/>
          <p:cNvSpPr txBox="1"/>
          <p:nvPr/>
        </p:nvSpPr>
        <p:spPr>
          <a:xfrm>
            <a:off x="4724247" y="2103120"/>
            <a:ext cx="2743200" cy="5943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Guardrails (3): anti-hallucination,</a:t>
            </a:r>
            <a:br/>
            <a:r>
              <a:t>  self-verification, operational-constraints</a:t>
            </a:r>
          </a:p>
        </p:txBody>
      </p:sp>
      <p:sp>
        <p:nvSpPr>
          <p:cNvPr id="14" name="TextBox 13"/>
          <p:cNvSpPr txBox="1"/>
          <p:nvPr/>
        </p:nvSpPr>
        <p:spPr>
          <a:xfrm>
            <a:off x="4724247" y="2880360"/>
            <a:ext cx="2743200" cy="5943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Analysis (4): memory-safety-c, memory-safety-rust,</a:t>
            </a:r>
            <a:br/>
            <a:r>
              <a:t>  thread-safety, security-vulnerability</a:t>
            </a:r>
          </a:p>
        </p:txBody>
      </p:sp>
      <p:sp>
        <p:nvSpPr>
          <p:cNvPr id="15" name="TextBox 14"/>
          <p:cNvSpPr txBox="1"/>
          <p:nvPr/>
        </p:nvSpPr>
        <p:spPr>
          <a:xfrm>
            <a:off x="4724247" y="3657600"/>
            <a:ext cx="2743200" cy="8229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Reasoning (13): root-cause-analysis,</a:t>
            </a:r>
            <a:br/>
            <a:r>
              <a:t>  traceability-audit, code-compliance-audit,</a:t>
            </a:r>
            <a:br/>
            <a:r>
              <a:t>  requirements-elicitation … and 9 more</a:t>
            </a:r>
          </a:p>
        </p:txBody>
      </p:sp>
      <p:sp>
        <p:nvSpPr>
          <p:cNvPr id="16" name="Rounded Rectangle 15"/>
          <p:cNvSpPr/>
          <p:nvPr/>
        </p:nvSpPr>
        <p:spPr>
          <a:xfrm>
            <a:off x="8107527" y="1463040"/>
            <a:ext cx="3291840" cy="41148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407" y="1600200"/>
            <a:ext cx="2926080" cy="365760"/>
          </a:xfrm>
          <a:prstGeom prst="rect">
            <a:avLst/>
          </a:prstGeom>
          <a:noFill/>
        </p:spPr>
        <p:txBody>
          <a:bodyPr wrap="square">
            <a:spAutoFit/>
          </a:bodyPr>
          <a:lstStyle/>
          <a:p>
            <a:pPr algn="ctr">
              <a:lnSpc>
                <a:spcPts val="2640"/>
              </a:lnSpc>
              <a:spcAft>
                <a:spcPts val="660"/>
              </a:spcAft>
              <a:defRPr sz="2200" b="1">
                <a:solidFill>
                  <a:srgbClr val="F9E2AF"/>
                </a:solidFill>
                <a:latin typeface="Segoe UI"/>
              </a:defRPr>
            </a:pPr>
            <a:r>
              <a:t>11 Formats</a:t>
            </a:r>
          </a:p>
        </p:txBody>
      </p:sp>
      <p:sp>
        <p:nvSpPr>
          <p:cNvPr id="18" name="TextBox 17"/>
          <p:cNvSpPr txBox="1"/>
          <p:nvPr/>
        </p:nvSpPr>
        <p:spPr>
          <a:xfrm>
            <a:off x="8381847" y="2103120"/>
            <a:ext cx="2743200" cy="5943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requirements-doc, design-doc,</a:t>
            </a:r>
            <a:br/>
            <a:r>
              <a:t>validation-plan, investigation-report</a:t>
            </a:r>
          </a:p>
        </p:txBody>
      </p:sp>
      <p:sp>
        <p:nvSpPr>
          <p:cNvPr id="19" name="TextBox 18"/>
          <p:cNvSpPr txBox="1"/>
          <p:nvPr/>
        </p:nvSpPr>
        <p:spPr>
          <a:xfrm>
            <a:off x="8381847" y="2880360"/>
            <a:ext cx="2743200" cy="5943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implementation-plan, agent-instructions,</a:t>
            </a:r>
            <a:br/>
            <a:r>
              <a:t>pipeline-spec, release-notes</a:t>
            </a:r>
          </a:p>
        </p:txBody>
      </p:sp>
      <p:sp>
        <p:nvSpPr>
          <p:cNvPr id="20" name="TextBox 19"/>
          <p:cNvSpPr txBox="1"/>
          <p:nvPr/>
        </p:nvSpPr>
        <p:spPr>
          <a:xfrm>
            <a:off x="8381847" y="3657600"/>
            <a:ext cx="2743200" cy="594360"/>
          </a:xfrm>
          <a:prstGeom prst="rect">
            <a:avLst/>
          </a:prstGeom>
          <a:noFill/>
        </p:spPr>
        <p:txBody>
          <a:bodyPr wrap="square">
            <a:spAutoFit/>
          </a:bodyPr>
          <a:lstStyle/>
          <a:p>
            <a:pPr algn="l">
              <a:lnSpc>
                <a:spcPts val="1439"/>
              </a:lnSpc>
              <a:spcAft>
                <a:spcPts val="359"/>
              </a:spcAft>
              <a:defRPr sz="1200" b="0">
                <a:solidFill>
                  <a:srgbClr val="CDD6F4"/>
                </a:solidFill>
                <a:latin typeface="Cascadia Code"/>
              </a:defRPr>
            </a:pPr>
            <a:r>
              <a:t>multi-artifact, triage-report,</a:t>
            </a:r>
            <a:br/>
            <a:r>
              <a:t>promptkit-pull-request</a:t>
            </a:r>
          </a:p>
        </p:txBody>
      </p:sp>
      <p:sp>
        <p:nvSpPr>
          <p:cNvPr id="21" name="Rounded Rectangle 20"/>
          <p:cNvSpPr/>
          <p:nvPr/>
        </p:nvSpPr>
        <p:spPr>
          <a:xfrm>
            <a:off x="914400" y="5760720"/>
            <a:ext cx="10332720" cy="6400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5806440"/>
            <a:ext cx="9784080" cy="548640"/>
          </a:xfrm>
          <a:prstGeom prst="rect">
            <a:avLst/>
          </a:prstGeom>
          <a:noFill/>
        </p:spPr>
        <p:txBody>
          <a:bodyPr wrap="square">
            <a:spAutoFit/>
          </a:bodyPr>
          <a:lstStyle/>
          <a:p>
            <a:pPr algn="ctr">
              <a:lnSpc>
                <a:spcPts val="1560"/>
              </a:lnSpc>
              <a:spcAft>
                <a:spcPts val="390"/>
              </a:spcAft>
              <a:defRPr sz="1300" b="0">
                <a:solidFill>
                  <a:srgbClr val="CDD6F4"/>
                </a:solidFill>
                <a:latin typeface="Segoe UI"/>
              </a:defRPr>
            </a:pPr>
            <a:r>
              <a:t>27 Task Templates:  investigate-bug · review-code · author-requirements-doc · author-design-doc · audit-traceability · audit-code-compliance · plan-implementation · author-pipeline · triage-issues · extend-library  … and more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Quick Start  —  3 Commands</a:t>
            </a:r>
          </a:p>
        </p:txBody>
      </p:sp>
      <p:sp>
        <p:nvSpPr>
          <p:cNvPr id="4" name="TextBox 3"/>
          <p:cNvSpPr txBox="1"/>
          <p:nvPr/>
        </p:nvSpPr>
        <p:spPr>
          <a:xfrm>
            <a:off x="822960" y="1463040"/>
            <a:ext cx="2743200" cy="320040"/>
          </a:xfrm>
          <a:prstGeom prst="rect">
            <a:avLst/>
          </a:prstGeom>
          <a:noFill/>
        </p:spPr>
        <p:txBody>
          <a:bodyPr wrap="square">
            <a:spAutoFit/>
          </a:bodyPr>
          <a:lstStyle/>
          <a:p>
            <a:pPr algn="l">
              <a:lnSpc>
                <a:spcPts val="2160"/>
              </a:lnSpc>
              <a:spcAft>
                <a:spcPts val="540"/>
              </a:spcAft>
              <a:defRPr sz="1800" b="1">
                <a:solidFill>
                  <a:srgbClr val="89B4FA"/>
                </a:solidFill>
                <a:latin typeface="Segoe UI"/>
              </a:defRPr>
            </a:pPr>
            <a:r>
              <a:t>Interactive mode</a:t>
            </a:r>
          </a:p>
        </p:txBody>
      </p:sp>
      <p:sp>
        <p:nvSpPr>
          <p:cNvPr id="5" name="Rounded Rectangle 4"/>
          <p:cNvSpPr/>
          <p:nvPr/>
        </p:nvSpPr>
        <p:spPr>
          <a:xfrm>
            <a:off x="822960" y="1828800"/>
            <a:ext cx="6858000" cy="82296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74520"/>
            <a:ext cx="6492240" cy="731520"/>
          </a:xfrm>
          <a:prstGeom prst="rect">
            <a:avLst/>
          </a:prstGeom>
          <a:noFill/>
        </p:spPr>
        <p:txBody>
          <a:bodyPr wrap="square">
            <a:spAutoFit/>
          </a:bodyPr>
          <a:lstStyle/>
          <a:p>
            <a:pPr algn="l">
              <a:lnSpc>
                <a:spcPts val="1959"/>
              </a:lnSpc>
              <a:spcAft>
                <a:spcPts val="420"/>
              </a:spcAft>
              <a:defRPr sz="1400" b="0">
                <a:solidFill>
                  <a:srgbClr val="A6E3A1"/>
                </a:solidFill>
                <a:latin typeface="Cascadia Code"/>
              </a:defRPr>
            </a:pPr>
            <a:r>
              <a:t>npx @alan-jowett/promptkit</a:t>
            </a:r>
          </a:p>
        </p:txBody>
      </p:sp>
      <p:sp>
        <p:nvSpPr>
          <p:cNvPr id="7" name="TextBox 6"/>
          <p:cNvSpPr txBox="1"/>
          <p:nvPr/>
        </p:nvSpPr>
        <p:spPr>
          <a:xfrm>
            <a:off x="8046720" y="1783080"/>
            <a:ext cx="3657600" cy="91440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Detects your LLM CLI (Copilot / Claude) and</a:t>
            </a:r>
            <a:br/>
            <a:r>
              <a:t>launches an interactive prompt-building session</a:t>
            </a:r>
          </a:p>
        </p:txBody>
      </p:sp>
      <p:sp>
        <p:nvSpPr>
          <p:cNvPr id="8" name="TextBox 7"/>
          <p:cNvSpPr txBox="1"/>
          <p:nvPr/>
        </p:nvSpPr>
        <p:spPr>
          <a:xfrm>
            <a:off x="822960" y="3108960"/>
            <a:ext cx="2743200" cy="320040"/>
          </a:xfrm>
          <a:prstGeom prst="rect">
            <a:avLst/>
          </a:prstGeom>
          <a:noFill/>
        </p:spPr>
        <p:txBody>
          <a:bodyPr wrap="square">
            <a:spAutoFit/>
          </a:bodyPr>
          <a:lstStyle/>
          <a:p>
            <a:pPr algn="l">
              <a:lnSpc>
                <a:spcPts val="2160"/>
              </a:lnSpc>
              <a:spcAft>
                <a:spcPts val="540"/>
              </a:spcAft>
              <a:defRPr sz="1800" b="1">
                <a:solidFill>
                  <a:srgbClr val="A6E3A1"/>
                </a:solidFill>
                <a:latin typeface="Segoe UI"/>
              </a:defRPr>
            </a:pPr>
            <a:r>
              <a:t>Browse templates</a:t>
            </a:r>
          </a:p>
        </p:txBody>
      </p:sp>
      <p:sp>
        <p:nvSpPr>
          <p:cNvPr id="9" name="Rounded Rectangle 8"/>
          <p:cNvSpPr/>
          <p:nvPr/>
        </p:nvSpPr>
        <p:spPr>
          <a:xfrm>
            <a:off x="822960" y="3474720"/>
            <a:ext cx="6858000" cy="82296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20440"/>
            <a:ext cx="6492240" cy="731520"/>
          </a:xfrm>
          <a:prstGeom prst="rect">
            <a:avLst/>
          </a:prstGeom>
          <a:noFill/>
        </p:spPr>
        <p:txBody>
          <a:bodyPr wrap="square">
            <a:spAutoFit/>
          </a:bodyPr>
          <a:lstStyle/>
          <a:p>
            <a:pPr algn="l">
              <a:lnSpc>
                <a:spcPts val="1959"/>
              </a:lnSpc>
              <a:spcAft>
                <a:spcPts val="420"/>
              </a:spcAft>
              <a:defRPr sz="1400" b="0">
                <a:solidFill>
                  <a:srgbClr val="A6E3A1"/>
                </a:solidFill>
                <a:latin typeface="Cascadia Code"/>
              </a:defRPr>
            </a:pPr>
            <a:r>
              <a:t>npx @alan-jowett/promptkit list</a:t>
            </a:r>
          </a:p>
        </p:txBody>
      </p:sp>
      <p:sp>
        <p:nvSpPr>
          <p:cNvPr id="11" name="TextBox 10"/>
          <p:cNvSpPr txBox="1"/>
          <p:nvPr/>
        </p:nvSpPr>
        <p:spPr>
          <a:xfrm>
            <a:off x="8046720" y="3429000"/>
            <a:ext cx="3657600" cy="91440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Lists all available templates with descriptions</a:t>
            </a:r>
            <a:br/>
            <a:r>
              <a:t>Add --json for machine-readable output</a:t>
            </a:r>
          </a:p>
        </p:txBody>
      </p:sp>
      <p:sp>
        <p:nvSpPr>
          <p:cNvPr id="12" name="TextBox 11"/>
          <p:cNvSpPr txBox="1"/>
          <p:nvPr/>
        </p:nvSpPr>
        <p:spPr>
          <a:xfrm>
            <a:off x="822960" y="4754880"/>
            <a:ext cx="2743200" cy="320040"/>
          </a:xfrm>
          <a:prstGeom prst="rect">
            <a:avLst/>
          </a:prstGeom>
          <a:noFill/>
        </p:spPr>
        <p:txBody>
          <a:bodyPr wrap="square">
            <a:spAutoFit/>
          </a:bodyPr>
          <a:lstStyle/>
          <a:p>
            <a:pPr algn="l">
              <a:lnSpc>
                <a:spcPts val="2160"/>
              </a:lnSpc>
              <a:spcAft>
                <a:spcPts val="540"/>
              </a:spcAft>
              <a:defRPr sz="1800" b="1">
                <a:solidFill>
                  <a:srgbClr val="F9E2AF"/>
                </a:solidFill>
                <a:latin typeface="Segoe UI"/>
              </a:defRPr>
            </a:pPr>
            <a:r>
              <a:t>Assemble a prompt</a:t>
            </a:r>
          </a:p>
        </p:txBody>
      </p:sp>
      <p:sp>
        <p:nvSpPr>
          <p:cNvPr id="13" name="Rounded Rectangle 12"/>
          <p:cNvSpPr/>
          <p:nvPr/>
        </p:nvSpPr>
        <p:spPr>
          <a:xfrm>
            <a:off x="822960" y="5120640"/>
            <a:ext cx="6858000" cy="82296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166360"/>
            <a:ext cx="6492240" cy="731520"/>
          </a:xfrm>
          <a:prstGeom prst="rect">
            <a:avLst/>
          </a:prstGeom>
          <a:noFill/>
        </p:spPr>
        <p:txBody>
          <a:bodyPr wrap="square">
            <a:spAutoFit/>
          </a:bodyPr>
          <a:lstStyle/>
          <a:p>
            <a:pPr algn="l">
              <a:lnSpc>
                <a:spcPts val="1959"/>
              </a:lnSpc>
              <a:spcAft>
                <a:spcPts val="420"/>
              </a:spcAft>
              <a:defRPr sz="1400" b="0">
                <a:solidFill>
                  <a:srgbClr val="A6E3A1"/>
                </a:solidFill>
                <a:latin typeface="Cascadia Code"/>
              </a:defRPr>
            </a:pPr>
            <a:r>
              <a:t>npx @alan-jowett/promptkit assemble investigate-bug \</a:t>
            </a:r>
            <a:br/>
            <a:r>
              <a:t>  -p problem_description="Segfault on startup" \</a:t>
            </a:r>
            <a:br/>
            <a:r>
              <a:t>  -o investigation.md</a:t>
            </a:r>
          </a:p>
        </p:txBody>
      </p:sp>
      <p:sp>
        <p:nvSpPr>
          <p:cNvPr id="15" name="TextBox 14"/>
          <p:cNvSpPr txBox="1"/>
          <p:nvPr/>
        </p:nvSpPr>
        <p:spPr>
          <a:xfrm>
            <a:off x="8046720" y="5074920"/>
            <a:ext cx="3657600" cy="91440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Composes persona + protocols + format + template</a:t>
            </a:r>
            <a:br/>
            <a:r>
              <a:t>into a single ready-to-use prompt file</a:t>
            </a:r>
          </a:p>
        </p:txBody>
      </p:sp>
      <p:sp>
        <p:nvSpPr>
          <p:cNvPr id="16" name="TextBox 15"/>
          <p:cNvSpPr txBox="1"/>
          <p:nvPr/>
        </p:nvSpPr>
        <p:spPr>
          <a:xfrm>
            <a:off x="822960" y="6400800"/>
            <a:ext cx="10058400" cy="274320"/>
          </a:xfrm>
          <a:prstGeom prst="rect">
            <a:avLst/>
          </a:prstGeom>
          <a:noFill/>
        </p:spPr>
        <p:txBody>
          <a:bodyPr wrap="square">
            <a:spAutoFit/>
          </a:bodyPr>
          <a:lstStyle/>
          <a:p>
            <a:pPr algn="l">
              <a:lnSpc>
                <a:spcPts val="1439"/>
              </a:lnSpc>
              <a:spcAft>
                <a:spcPts val="359"/>
              </a:spcAft>
              <a:defRPr sz="1200" b="0">
                <a:solidFill>
                  <a:srgbClr val="6C7086"/>
                </a:solidFill>
                <a:latin typeface="Segoe UI"/>
              </a:defRPr>
            </a:pPr>
            <a:r>
              <a:t>Prerequisites: Node.js 18+  ·  Optional: GitHub Copilot CLI or Claude Code for interactive mode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How Assembly Works</a:t>
            </a:r>
          </a:p>
        </p:txBody>
      </p:sp>
      <p:sp>
        <p:nvSpPr>
          <p:cNvPr id="4" name="Rounded Rectangle 3"/>
          <p:cNvSpPr/>
          <p:nvPr/>
        </p:nvSpPr>
        <p:spPr>
          <a:xfrm>
            <a:off x="700887" y="1645920"/>
            <a:ext cx="2286000" cy="29260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0887" y="1645920"/>
            <a:ext cx="2286000"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047" y="1828800"/>
            <a:ext cx="2011680" cy="320040"/>
          </a:xfrm>
          <a:prstGeom prst="rect">
            <a:avLst/>
          </a:prstGeom>
          <a:noFill/>
        </p:spPr>
        <p:txBody>
          <a:bodyPr wrap="square">
            <a:spAutoFit/>
          </a:bodyPr>
          <a:lstStyle/>
          <a:p>
            <a:pPr algn="ctr">
              <a:lnSpc>
                <a:spcPts val="2160"/>
              </a:lnSpc>
              <a:spcAft>
                <a:spcPts val="540"/>
              </a:spcAft>
              <a:defRPr sz="1800" b="1">
                <a:solidFill>
                  <a:srgbClr val="89B4FA"/>
                </a:solidFill>
                <a:latin typeface="Segoe UI"/>
              </a:defRPr>
            </a:pPr>
            <a:r>
              <a:t>Persona</a:t>
            </a:r>
          </a:p>
        </p:txBody>
      </p:sp>
      <p:sp>
        <p:nvSpPr>
          <p:cNvPr id="7" name="TextBox 6"/>
          <p:cNvSpPr txBox="1"/>
          <p:nvPr/>
        </p:nvSpPr>
        <p:spPr>
          <a:xfrm>
            <a:off x="838047" y="2286000"/>
            <a:ext cx="2011680" cy="2011680"/>
          </a:xfrm>
          <a:prstGeom prst="rect">
            <a:avLst/>
          </a:prstGeom>
          <a:noFill/>
        </p:spPr>
        <p:txBody>
          <a:bodyPr wrap="square">
            <a:spAutoFit/>
          </a:bodyPr>
          <a:lstStyle/>
          <a:p>
            <a:pPr algn="l">
              <a:lnSpc>
                <a:spcPts val="1800"/>
              </a:lnSpc>
              <a:spcAft>
                <a:spcPts val="359"/>
              </a:spcAft>
              <a:defRPr sz="1200" b="0">
                <a:solidFill>
                  <a:srgbClr val="6C7086"/>
                </a:solidFill>
                <a:latin typeface="Cascadia Code"/>
              </a:defRPr>
            </a:pPr>
            <a:r>
              <a:t># Identity</a:t>
            </a:r>
            <a:br/>
            <a:r>
              <a:t>You are a senior</a:t>
            </a:r>
            <a:br/>
            <a:r>
              <a:t>systems engineer …</a:t>
            </a:r>
          </a:p>
        </p:txBody>
      </p:sp>
      <p:sp>
        <p:nvSpPr>
          <p:cNvPr id="8" name="TextBox 7"/>
          <p:cNvSpPr txBox="1"/>
          <p:nvPr/>
        </p:nvSpPr>
        <p:spPr>
          <a:xfrm>
            <a:off x="3078327" y="2743200"/>
            <a:ext cx="548640" cy="457200"/>
          </a:xfrm>
          <a:prstGeom prst="rect">
            <a:avLst/>
          </a:prstGeom>
          <a:noFill/>
        </p:spPr>
        <p:txBody>
          <a:bodyPr wrap="square">
            <a:spAutoFit/>
          </a:bodyPr>
          <a:lstStyle/>
          <a:p>
            <a:pPr algn="ctr">
              <a:lnSpc>
                <a:spcPts val="3360"/>
              </a:lnSpc>
              <a:spcAft>
                <a:spcPts val="840"/>
              </a:spcAft>
              <a:defRPr sz="2800" b="0">
                <a:solidFill>
                  <a:srgbClr val="6C7086"/>
                </a:solidFill>
                <a:latin typeface="Segoe UI"/>
              </a:defRPr>
            </a:pPr>
            <a:r>
              <a:t>→</a:t>
            </a:r>
          </a:p>
        </p:txBody>
      </p:sp>
      <p:sp>
        <p:nvSpPr>
          <p:cNvPr id="9" name="Rounded Rectangle 8"/>
          <p:cNvSpPr/>
          <p:nvPr/>
        </p:nvSpPr>
        <p:spPr>
          <a:xfrm>
            <a:off x="3535527" y="1645920"/>
            <a:ext cx="2286000" cy="29260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35527" y="1645920"/>
            <a:ext cx="2286000"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687" y="1828800"/>
            <a:ext cx="2011680" cy="320040"/>
          </a:xfrm>
          <a:prstGeom prst="rect">
            <a:avLst/>
          </a:prstGeom>
          <a:noFill/>
        </p:spPr>
        <p:txBody>
          <a:bodyPr wrap="square">
            <a:spAutoFit/>
          </a:bodyPr>
          <a:lstStyle/>
          <a:p>
            <a:pPr algn="ctr">
              <a:lnSpc>
                <a:spcPts val="2160"/>
              </a:lnSpc>
              <a:spcAft>
                <a:spcPts val="540"/>
              </a:spcAft>
              <a:defRPr sz="1800" b="1">
                <a:solidFill>
                  <a:srgbClr val="A6E3A1"/>
                </a:solidFill>
                <a:latin typeface="Segoe UI"/>
              </a:defRPr>
            </a:pPr>
            <a:r>
              <a:t>Protocols</a:t>
            </a:r>
          </a:p>
        </p:txBody>
      </p:sp>
      <p:sp>
        <p:nvSpPr>
          <p:cNvPr id="12" name="TextBox 11"/>
          <p:cNvSpPr txBox="1"/>
          <p:nvPr/>
        </p:nvSpPr>
        <p:spPr>
          <a:xfrm>
            <a:off x="3672687" y="2286000"/>
            <a:ext cx="2011680" cy="2011680"/>
          </a:xfrm>
          <a:prstGeom prst="rect">
            <a:avLst/>
          </a:prstGeom>
          <a:noFill/>
        </p:spPr>
        <p:txBody>
          <a:bodyPr wrap="square">
            <a:spAutoFit/>
          </a:bodyPr>
          <a:lstStyle/>
          <a:p>
            <a:pPr algn="l">
              <a:lnSpc>
                <a:spcPts val="1800"/>
              </a:lnSpc>
              <a:spcAft>
                <a:spcPts val="359"/>
              </a:spcAft>
              <a:defRPr sz="1200" b="0">
                <a:solidFill>
                  <a:srgbClr val="6C7086"/>
                </a:solidFill>
                <a:latin typeface="Cascadia Code"/>
              </a:defRPr>
            </a:pPr>
            <a:r>
              <a:t># Reasoning</a:t>
            </a:r>
            <a:br/>
            <a:r>
              <a:t>## Anti-Hallucination</a:t>
            </a:r>
            <a:br/>
            <a:r>
              <a:t>## Root-Cause …</a:t>
            </a:r>
          </a:p>
        </p:txBody>
      </p:sp>
      <p:sp>
        <p:nvSpPr>
          <p:cNvPr id="13" name="TextBox 12"/>
          <p:cNvSpPr txBox="1"/>
          <p:nvPr/>
        </p:nvSpPr>
        <p:spPr>
          <a:xfrm>
            <a:off x="5912967" y="2743200"/>
            <a:ext cx="548640" cy="457200"/>
          </a:xfrm>
          <a:prstGeom prst="rect">
            <a:avLst/>
          </a:prstGeom>
          <a:noFill/>
        </p:spPr>
        <p:txBody>
          <a:bodyPr wrap="square">
            <a:spAutoFit/>
          </a:bodyPr>
          <a:lstStyle/>
          <a:p>
            <a:pPr algn="ctr">
              <a:lnSpc>
                <a:spcPts val="3360"/>
              </a:lnSpc>
              <a:spcAft>
                <a:spcPts val="840"/>
              </a:spcAft>
              <a:defRPr sz="2800" b="0">
                <a:solidFill>
                  <a:srgbClr val="6C7086"/>
                </a:solidFill>
                <a:latin typeface="Segoe UI"/>
              </a:defRPr>
            </a:pPr>
            <a:r>
              <a:t>→</a:t>
            </a:r>
          </a:p>
        </p:txBody>
      </p:sp>
      <p:sp>
        <p:nvSpPr>
          <p:cNvPr id="14" name="Rounded Rectangle 13"/>
          <p:cNvSpPr/>
          <p:nvPr/>
        </p:nvSpPr>
        <p:spPr>
          <a:xfrm>
            <a:off x="6370167" y="1645920"/>
            <a:ext cx="2286000" cy="29260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70167" y="1645920"/>
            <a:ext cx="2286000" cy="54864"/>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7327" y="1828800"/>
            <a:ext cx="2011680" cy="320040"/>
          </a:xfrm>
          <a:prstGeom prst="rect">
            <a:avLst/>
          </a:prstGeom>
          <a:noFill/>
        </p:spPr>
        <p:txBody>
          <a:bodyPr wrap="square">
            <a:spAutoFit/>
          </a:bodyPr>
          <a:lstStyle/>
          <a:p>
            <a:pPr algn="ctr">
              <a:lnSpc>
                <a:spcPts val="2160"/>
              </a:lnSpc>
              <a:spcAft>
                <a:spcPts val="540"/>
              </a:spcAft>
              <a:defRPr sz="1800" b="1">
                <a:solidFill>
                  <a:srgbClr val="F9E2AF"/>
                </a:solidFill>
                <a:latin typeface="Segoe UI"/>
              </a:defRPr>
            </a:pPr>
            <a:r>
              <a:t>Format</a:t>
            </a:r>
          </a:p>
        </p:txBody>
      </p:sp>
      <p:sp>
        <p:nvSpPr>
          <p:cNvPr id="17" name="TextBox 16"/>
          <p:cNvSpPr txBox="1"/>
          <p:nvPr/>
        </p:nvSpPr>
        <p:spPr>
          <a:xfrm>
            <a:off x="6507327" y="2286000"/>
            <a:ext cx="2011680" cy="2011680"/>
          </a:xfrm>
          <a:prstGeom prst="rect">
            <a:avLst/>
          </a:prstGeom>
          <a:noFill/>
        </p:spPr>
        <p:txBody>
          <a:bodyPr wrap="square">
            <a:spAutoFit/>
          </a:bodyPr>
          <a:lstStyle/>
          <a:p>
            <a:pPr algn="l">
              <a:lnSpc>
                <a:spcPts val="1800"/>
              </a:lnSpc>
              <a:spcAft>
                <a:spcPts val="359"/>
              </a:spcAft>
              <a:defRPr sz="1200" b="0">
                <a:solidFill>
                  <a:srgbClr val="6C7086"/>
                </a:solidFill>
                <a:latin typeface="Cascadia Code"/>
              </a:defRPr>
            </a:pPr>
            <a:r>
              <a:t># Output Format</a:t>
            </a:r>
            <a:br/>
            <a:r>
              <a:t>Investigation Report</a:t>
            </a:r>
            <a:br/>
            <a:r>
              <a:t>with sections …</a:t>
            </a:r>
          </a:p>
        </p:txBody>
      </p:sp>
      <p:sp>
        <p:nvSpPr>
          <p:cNvPr id="18" name="TextBox 17"/>
          <p:cNvSpPr txBox="1"/>
          <p:nvPr/>
        </p:nvSpPr>
        <p:spPr>
          <a:xfrm>
            <a:off x="8747607" y="2743200"/>
            <a:ext cx="548640" cy="457200"/>
          </a:xfrm>
          <a:prstGeom prst="rect">
            <a:avLst/>
          </a:prstGeom>
          <a:noFill/>
        </p:spPr>
        <p:txBody>
          <a:bodyPr wrap="square">
            <a:spAutoFit/>
          </a:bodyPr>
          <a:lstStyle/>
          <a:p>
            <a:pPr algn="ctr">
              <a:lnSpc>
                <a:spcPts val="3360"/>
              </a:lnSpc>
              <a:spcAft>
                <a:spcPts val="840"/>
              </a:spcAft>
              <a:defRPr sz="2800" b="0">
                <a:solidFill>
                  <a:srgbClr val="6C7086"/>
                </a:solidFill>
                <a:latin typeface="Segoe UI"/>
              </a:defRPr>
            </a:pPr>
            <a:r>
              <a:t>→</a:t>
            </a:r>
          </a:p>
        </p:txBody>
      </p:sp>
      <p:sp>
        <p:nvSpPr>
          <p:cNvPr id="19" name="Rounded Rectangle 18"/>
          <p:cNvSpPr/>
          <p:nvPr/>
        </p:nvSpPr>
        <p:spPr>
          <a:xfrm>
            <a:off x="9204807" y="1645920"/>
            <a:ext cx="2286000" cy="292608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04807" y="1645920"/>
            <a:ext cx="2286000" cy="54864"/>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41967" y="1828800"/>
            <a:ext cx="2011680" cy="320040"/>
          </a:xfrm>
          <a:prstGeom prst="rect">
            <a:avLst/>
          </a:prstGeom>
          <a:noFill/>
        </p:spPr>
        <p:txBody>
          <a:bodyPr wrap="square">
            <a:spAutoFit/>
          </a:bodyPr>
          <a:lstStyle/>
          <a:p>
            <a:pPr algn="ctr">
              <a:lnSpc>
                <a:spcPts val="2160"/>
              </a:lnSpc>
              <a:spcAft>
                <a:spcPts val="540"/>
              </a:spcAft>
              <a:defRPr sz="1800" b="1">
                <a:solidFill>
                  <a:srgbClr val="FAB387"/>
                </a:solidFill>
                <a:latin typeface="Segoe UI"/>
              </a:defRPr>
            </a:pPr>
            <a:r>
              <a:t>Template</a:t>
            </a:r>
          </a:p>
        </p:txBody>
      </p:sp>
      <p:sp>
        <p:nvSpPr>
          <p:cNvPr id="22" name="TextBox 21"/>
          <p:cNvSpPr txBox="1"/>
          <p:nvPr/>
        </p:nvSpPr>
        <p:spPr>
          <a:xfrm>
            <a:off x="9341967" y="2286000"/>
            <a:ext cx="2011680" cy="2011680"/>
          </a:xfrm>
          <a:prstGeom prst="rect">
            <a:avLst/>
          </a:prstGeom>
          <a:noFill/>
        </p:spPr>
        <p:txBody>
          <a:bodyPr wrap="square">
            <a:spAutoFit/>
          </a:bodyPr>
          <a:lstStyle/>
          <a:p>
            <a:pPr algn="l">
              <a:lnSpc>
                <a:spcPts val="1800"/>
              </a:lnSpc>
              <a:spcAft>
                <a:spcPts val="359"/>
              </a:spcAft>
              <a:defRPr sz="1200" b="0">
                <a:solidFill>
                  <a:srgbClr val="6C7086"/>
                </a:solidFill>
                <a:latin typeface="Cascadia Code"/>
              </a:defRPr>
            </a:pPr>
            <a:r>
              <a:t># Task</a:t>
            </a:r>
            <a:br/>
            <a:r>
              <a:t>Investigate the bug:</a:t>
            </a:r>
            <a:br/>
            <a:r>
              <a:t>{{problem_description}}</a:t>
            </a:r>
          </a:p>
        </p:txBody>
      </p:sp>
      <p:sp>
        <p:nvSpPr>
          <p:cNvPr id="23" name="Rounded Rectangle 22"/>
          <p:cNvSpPr/>
          <p:nvPr/>
        </p:nvSpPr>
        <p:spPr>
          <a:xfrm>
            <a:off x="1828800" y="4937760"/>
            <a:ext cx="8503920" cy="1097280"/>
          </a:xfrm>
          <a:prstGeom prst="roundRect">
            <a:avLst/>
          </a:prstGeom>
          <a:solidFill>
            <a:srgbClr val="181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03120" y="5029200"/>
            <a:ext cx="7955279" cy="914400"/>
          </a:xfrm>
          <a:prstGeom prst="rect">
            <a:avLst/>
          </a:prstGeom>
          <a:noFill/>
        </p:spPr>
        <p:txBody>
          <a:bodyPr wrap="square">
            <a:spAutoFit/>
          </a:bodyPr>
          <a:lstStyle/>
          <a:p>
            <a:pPr algn="ctr">
              <a:lnSpc>
                <a:spcPts val="2100"/>
              </a:lnSpc>
              <a:spcAft>
                <a:spcPts val="420"/>
              </a:spcAft>
              <a:defRPr sz="1400" b="0">
                <a:solidFill>
                  <a:srgbClr val="89B4FA"/>
                </a:solidFill>
                <a:latin typeface="Segoe UI"/>
              </a:defRPr>
            </a:pPr>
            <a:r>
              <a:t>Output: Single composed prompt file  ─  ready to paste into any LLM</a:t>
            </a:r>
            <a:br/>
            <a:r>
              <a:t>or use as agent instructions (.github/instructions/*.md, CLAUDE.md, .cursorrules)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Pipeline Chaining: Multi-Stage Workflows</a:t>
            </a:r>
          </a:p>
        </p:txBody>
      </p:sp>
      <p:sp>
        <p:nvSpPr>
          <p:cNvPr id="4" name="Rounded Rectangle 3"/>
          <p:cNvSpPr/>
          <p:nvPr/>
        </p:nvSpPr>
        <p:spPr>
          <a:xfrm>
            <a:off x="1523847" y="1828800"/>
            <a:ext cx="2560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23847" y="1828800"/>
            <a:ext cx="2560320"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5287" y="2057400"/>
            <a:ext cx="2377440" cy="822960"/>
          </a:xfrm>
          <a:prstGeom prst="rect">
            <a:avLst/>
          </a:prstGeom>
          <a:noFill/>
        </p:spPr>
        <p:txBody>
          <a:bodyPr wrap="square">
            <a:spAutoFit/>
          </a:bodyPr>
          <a:lstStyle/>
          <a:p>
            <a:pPr algn="ctr">
              <a:lnSpc>
                <a:spcPts val="1920"/>
              </a:lnSpc>
              <a:spcAft>
                <a:spcPts val="480"/>
              </a:spcAft>
              <a:defRPr sz="1600" b="1">
                <a:solidFill>
                  <a:srgbClr val="CDD6F4"/>
                </a:solidFill>
                <a:latin typeface="Cascadia Code"/>
              </a:defRPr>
            </a:pPr>
            <a:r>
              <a:t>author-</a:t>
            </a:r>
            <a:br/>
            <a:r>
              <a:t>requirements-doc</a:t>
            </a:r>
          </a:p>
        </p:txBody>
      </p:sp>
      <p:sp>
        <p:nvSpPr>
          <p:cNvPr id="7" name="TextBox 6"/>
          <p:cNvSpPr txBox="1"/>
          <p:nvPr/>
        </p:nvSpPr>
        <p:spPr>
          <a:xfrm>
            <a:off x="1615287" y="3063240"/>
            <a:ext cx="2377440" cy="274320"/>
          </a:xfrm>
          <a:prstGeom prst="rect">
            <a:avLst/>
          </a:prstGeom>
          <a:noFill/>
        </p:spPr>
        <p:txBody>
          <a:bodyPr wrap="square">
            <a:spAutoFit/>
          </a:bodyPr>
          <a:lstStyle/>
          <a:p>
            <a:pPr algn="ctr">
              <a:lnSpc>
                <a:spcPts val="1439"/>
              </a:lnSpc>
              <a:spcAft>
                <a:spcPts val="359"/>
              </a:spcAft>
              <a:defRPr sz="1200" b="0">
                <a:solidFill>
                  <a:srgbClr val="6C7086"/>
                </a:solidFill>
                <a:latin typeface="Segoe UI"/>
              </a:defRPr>
            </a:pPr>
            <a:r>
              <a:t>produces ↓</a:t>
            </a:r>
          </a:p>
        </p:txBody>
      </p:sp>
      <p:sp>
        <p:nvSpPr>
          <p:cNvPr id="8" name="TextBox 7"/>
          <p:cNvSpPr txBox="1"/>
          <p:nvPr/>
        </p:nvSpPr>
        <p:spPr>
          <a:xfrm>
            <a:off x="1615287" y="3383280"/>
            <a:ext cx="2377440" cy="640080"/>
          </a:xfrm>
          <a:prstGeom prst="rect">
            <a:avLst/>
          </a:prstGeom>
          <a:noFill/>
        </p:spPr>
        <p:txBody>
          <a:bodyPr wrap="square">
            <a:spAutoFit/>
          </a:bodyPr>
          <a:lstStyle/>
          <a:p>
            <a:pPr algn="ctr">
              <a:lnSpc>
                <a:spcPts val="1680"/>
              </a:lnSpc>
              <a:spcAft>
                <a:spcPts val="420"/>
              </a:spcAft>
              <a:defRPr sz="1400" b="0">
                <a:solidFill>
                  <a:srgbClr val="89B4FA"/>
                </a:solidFill>
                <a:latin typeface="Cascadia Code"/>
              </a:defRPr>
            </a:pPr>
            <a:r>
              <a:t>requirements-</a:t>
            </a:r>
            <a:br/>
            <a:r>
              <a:t>document</a:t>
            </a:r>
          </a:p>
        </p:txBody>
      </p:sp>
      <p:sp>
        <p:nvSpPr>
          <p:cNvPr id="9" name="TextBox 8"/>
          <p:cNvSpPr txBox="1"/>
          <p:nvPr/>
        </p:nvSpPr>
        <p:spPr>
          <a:xfrm>
            <a:off x="4129887" y="2560320"/>
            <a:ext cx="731520" cy="457200"/>
          </a:xfrm>
          <a:prstGeom prst="rect">
            <a:avLst/>
          </a:prstGeom>
          <a:noFill/>
        </p:spPr>
        <p:txBody>
          <a:bodyPr wrap="square">
            <a:spAutoFit/>
          </a:bodyPr>
          <a:lstStyle/>
          <a:p>
            <a:pPr algn="ctr">
              <a:lnSpc>
                <a:spcPts val="4320"/>
              </a:lnSpc>
              <a:spcAft>
                <a:spcPts val="1080"/>
              </a:spcAft>
              <a:defRPr sz="3600" b="0">
                <a:solidFill>
                  <a:srgbClr val="6C7086"/>
                </a:solidFill>
                <a:latin typeface="Segoe UI"/>
              </a:defRPr>
            </a:pPr>
            <a:r>
              <a:t>→</a:t>
            </a:r>
          </a:p>
        </p:txBody>
      </p:sp>
      <p:sp>
        <p:nvSpPr>
          <p:cNvPr id="10" name="Rounded Rectangle 9"/>
          <p:cNvSpPr/>
          <p:nvPr/>
        </p:nvSpPr>
        <p:spPr>
          <a:xfrm>
            <a:off x="4815687" y="1828800"/>
            <a:ext cx="2560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15687" y="1828800"/>
            <a:ext cx="2560320" cy="54864"/>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057400"/>
            <a:ext cx="2377440" cy="822960"/>
          </a:xfrm>
          <a:prstGeom prst="rect">
            <a:avLst/>
          </a:prstGeom>
          <a:noFill/>
        </p:spPr>
        <p:txBody>
          <a:bodyPr wrap="square">
            <a:spAutoFit/>
          </a:bodyPr>
          <a:lstStyle/>
          <a:p>
            <a:pPr algn="ctr">
              <a:lnSpc>
                <a:spcPts val="1920"/>
              </a:lnSpc>
              <a:spcAft>
                <a:spcPts val="480"/>
              </a:spcAft>
              <a:defRPr sz="1600" b="1">
                <a:solidFill>
                  <a:srgbClr val="CDD6F4"/>
                </a:solidFill>
                <a:latin typeface="Cascadia Code"/>
              </a:defRPr>
            </a:pPr>
            <a:r>
              <a:t>author-</a:t>
            </a:r>
            <a:br/>
            <a:r>
              <a:t>design-doc</a:t>
            </a:r>
          </a:p>
        </p:txBody>
      </p:sp>
      <p:sp>
        <p:nvSpPr>
          <p:cNvPr id="13" name="TextBox 12"/>
          <p:cNvSpPr txBox="1"/>
          <p:nvPr/>
        </p:nvSpPr>
        <p:spPr>
          <a:xfrm>
            <a:off x="4907127" y="3063240"/>
            <a:ext cx="2377440" cy="274320"/>
          </a:xfrm>
          <a:prstGeom prst="rect">
            <a:avLst/>
          </a:prstGeom>
          <a:noFill/>
        </p:spPr>
        <p:txBody>
          <a:bodyPr wrap="square">
            <a:spAutoFit/>
          </a:bodyPr>
          <a:lstStyle/>
          <a:p>
            <a:pPr algn="ctr">
              <a:lnSpc>
                <a:spcPts val="1439"/>
              </a:lnSpc>
              <a:spcAft>
                <a:spcPts val="359"/>
              </a:spcAft>
              <a:defRPr sz="1200" b="0">
                <a:solidFill>
                  <a:srgbClr val="6C7086"/>
                </a:solidFill>
                <a:latin typeface="Segoe UI"/>
              </a:defRPr>
            </a:pPr>
            <a:r>
              <a:t>produces ↓</a:t>
            </a:r>
          </a:p>
        </p:txBody>
      </p:sp>
      <p:sp>
        <p:nvSpPr>
          <p:cNvPr id="14" name="TextBox 13"/>
          <p:cNvSpPr txBox="1"/>
          <p:nvPr/>
        </p:nvSpPr>
        <p:spPr>
          <a:xfrm>
            <a:off x="4907127" y="3383280"/>
            <a:ext cx="2377440" cy="640080"/>
          </a:xfrm>
          <a:prstGeom prst="rect">
            <a:avLst/>
          </a:prstGeom>
          <a:noFill/>
        </p:spPr>
        <p:txBody>
          <a:bodyPr wrap="square">
            <a:spAutoFit/>
          </a:bodyPr>
          <a:lstStyle/>
          <a:p>
            <a:pPr algn="ctr">
              <a:lnSpc>
                <a:spcPts val="1680"/>
              </a:lnSpc>
              <a:spcAft>
                <a:spcPts val="420"/>
              </a:spcAft>
              <a:defRPr sz="1400" b="0">
                <a:solidFill>
                  <a:srgbClr val="A6E3A1"/>
                </a:solidFill>
                <a:latin typeface="Cascadia Code"/>
              </a:defRPr>
            </a:pPr>
            <a:r>
              <a:t>design-</a:t>
            </a:r>
            <a:br/>
            <a:r>
              <a:t>document</a:t>
            </a:r>
          </a:p>
        </p:txBody>
      </p:sp>
      <p:sp>
        <p:nvSpPr>
          <p:cNvPr id="15" name="TextBox 14"/>
          <p:cNvSpPr txBox="1"/>
          <p:nvPr/>
        </p:nvSpPr>
        <p:spPr>
          <a:xfrm>
            <a:off x="7421727" y="2560320"/>
            <a:ext cx="731520" cy="457200"/>
          </a:xfrm>
          <a:prstGeom prst="rect">
            <a:avLst/>
          </a:prstGeom>
          <a:noFill/>
        </p:spPr>
        <p:txBody>
          <a:bodyPr wrap="square">
            <a:spAutoFit/>
          </a:bodyPr>
          <a:lstStyle/>
          <a:p>
            <a:pPr algn="ctr">
              <a:lnSpc>
                <a:spcPts val="4320"/>
              </a:lnSpc>
              <a:spcAft>
                <a:spcPts val="1080"/>
              </a:spcAft>
              <a:defRPr sz="3600" b="0">
                <a:solidFill>
                  <a:srgbClr val="6C7086"/>
                </a:solidFill>
                <a:latin typeface="Segoe UI"/>
              </a:defRPr>
            </a:pPr>
            <a:r>
              <a:t>→</a:t>
            </a:r>
          </a:p>
        </p:txBody>
      </p:sp>
      <p:sp>
        <p:nvSpPr>
          <p:cNvPr id="16" name="Rounded Rectangle 15"/>
          <p:cNvSpPr/>
          <p:nvPr/>
        </p:nvSpPr>
        <p:spPr>
          <a:xfrm>
            <a:off x="8107527" y="1828800"/>
            <a:ext cx="2560320" cy="2286000"/>
          </a:xfrm>
          <a:prstGeom prst="roundRect">
            <a:avLst/>
          </a:prstGeom>
          <a:solidFill>
            <a:srgbClr val="313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7527" y="1828800"/>
            <a:ext cx="2560320" cy="54864"/>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8967" y="2057400"/>
            <a:ext cx="2377440" cy="822960"/>
          </a:xfrm>
          <a:prstGeom prst="rect">
            <a:avLst/>
          </a:prstGeom>
          <a:noFill/>
        </p:spPr>
        <p:txBody>
          <a:bodyPr wrap="square">
            <a:spAutoFit/>
          </a:bodyPr>
          <a:lstStyle/>
          <a:p>
            <a:pPr algn="ctr">
              <a:lnSpc>
                <a:spcPts val="1920"/>
              </a:lnSpc>
              <a:spcAft>
                <a:spcPts val="480"/>
              </a:spcAft>
              <a:defRPr sz="1600" b="1">
                <a:solidFill>
                  <a:srgbClr val="CDD6F4"/>
                </a:solidFill>
                <a:latin typeface="Cascadia Code"/>
              </a:defRPr>
            </a:pPr>
            <a:r>
              <a:t>author-</a:t>
            </a:r>
            <a:br/>
            <a:r>
              <a:t>validation-plan</a:t>
            </a:r>
          </a:p>
        </p:txBody>
      </p:sp>
      <p:sp>
        <p:nvSpPr>
          <p:cNvPr id="19" name="TextBox 18"/>
          <p:cNvSpPr txBox="1"/>
          <p:nvPr/>
        </p:nvSpPr>
        <p:spPr>
          <a:xfrm>
            <a:off x="8198967" y="3063240"/>
            <a:ext cx="2377440" cy="274320"/>
          </a:xfrm>
          <a:prstGeom prst="rect">
            <a:avLst/>
          </a:prstGeom>
          <a:noFill/>
        </p:spPr>
        <p:txBody>
          <a:bodyPr wrap="square">
            <a:spAutoFit/>
          </a:bodyPr>
          <a:lstStyle/>
          <a:p>
            <a:pPr algn="ctr">
              <a:lnSpc>
                <a:spcPts val="1439"/>
              </a:lnSpc>
              <a:spcAft>
                <a:spcPts val="359"/>
              </a:spcAft>
              <a:defRPr sz="1200" b="0">
                <a:solidFill>
                  <a:srgbClr val="6C7086"/>
                </a:solidFill>
                <a:latin typeface="Segoe UI"/>
              </a:defRPr>
            </a:pPr>
            <a:r>
              <a:t>produces ↓</a:t>
            </a:r>
          </a:p>
        </p:txBody>
      </p:sp>
      <p:sp>
        <p:nvSpPr>
          <p:cNvPr id="20" name="TextBox 19"/>
          <p:cNvSpPr txBox="1"/>
          <p:nvPr/>
        </p:nvSpPr>
        <p:spPr>
          <a:xfrm>
            <a:off x="8198967" y="3383280"/>
            <a:ext cx="2377440" cy="640080"/>
          </a:xfrm>
          <a:prstGeom prst="rect">
            <a:avLst/>
          </a:prstGeom>
          <a:noFill/>
        </p:spPr>
        <p:txBody>
          <a:bodyPr wrap="square">
            <a:spAutoFit/>
          </a:bodyPr>
          <a:lstStyle/>
          <a:p>
            <a:pPr algn="ctr">
              <a:lnSpc>
                <a:spcPts val="1680"/>
              </a:lnSpc>
              <a:spcAft>
                <a:spcPts val="420"/>
              </a:spcAft>
              <a:defRPr sz="1400" b="0">
                <a:solidFill>
                  <a:srgbClr val="F9E2AF"/>
                </a:solidFill>
                <a:latin typeface="Cascadia Code"/>
              </a:defRPr>
            </a:pPr>
            <a:r>
              <a:t>validation-</a:t>
            </a:r>
            <a:br/>
            <a:r>
              <a:t>plan</a:t>
            </a:r>
          </a:p>
        </p:txBody>
      </p:sp>
      <p:sp>
        <p:nvSpPr>
          <p:cNvPr id="21" name="TextBox 20"/>
          <p:cNvSpPr txBox="1"/>
          <p:nvPr/>
        </p:nvSpPr>
        <p:spPr>
          <a:xfrm>
            <a:off x="1371600" y="4572000"/>
            <a:ext cx="9144000" cy="1371600"/>
          </a:xfrm>
          <a:prstGeom prst="rect">
            <a:avLst/>
          </a:prstGeom>
          <a:noFill/>
        </p:spPr>
        <p:txBody>
          <a:bodyPr wrap="square">
            <a:spAutoFit/>
          </a:bodyPr>
          <a:lstStyle/>
          <a:p>
            <a:pPr algn="ctr">
              <a:lnSpc>
                <a:spcPts val="2560"/>
              </a:lnSpc>
              <a:spcAft>
                <a:spcPts val="480"/>
              </a:spcAft>
              <a:defRPr sz="1600" b="0">
                <a:solidFill>
                  <a:srgbClr val="CDD6F4"/>
                </a:solidFill>
                <a:latin typeface="Segoe UI"/>
              </a:defRPr>
            </a:pPr>
            <a:r>
              <a:t>Each template declares input/output contracts.</a:t>
            </a:r>
            <a:br/>
            <a:r>
              <a:t>One template's artifact becomes the next template's input.</a:t>
            </a:r>
            <a:br/>
            <a:r>
              <a:t>Build complete document lifecycles without copy-paste.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594360"/>
          </a:xfrm>
          <a:prstGeom prst="rect">
            <a:avLst/>
          </a:prstGeom>
          <a:noFill/>
        </p:spPr>
        <p:txBody>
          <a:bodyPr wrap="square">
            <a:spAutoFit/>
          </a:bodyPr>
          <a:lstStyle/>
          <a:p>
            <a:pPr algn="l">
              <a:lnSpc>
                <a:spcPts val="3840"/>
              </a:lnSpc>
              <a:spcAft>
                <a:spcPts val="960"/>
              </a:spcAft>
              <a:defRPr sz="3200" b="1">
                <a:solidFill>
                  <a:srgbClr val="CDD6F4"/>
                </a:solidFill>
                <a:latin typeface="Segoe UI"/>
              </a:defRPr>
            </a:pPr>
            <a:r>
              <a:t>Get Started Today</a:t>
            </a:r>
          </a:p>
        </p:txBody>
      </p:sp>
      <p:sp>
        <p:nvSpPr>
          <p:cNvPr id="4" name="Rectangle 3"/>
          <p:cNvSpPr/>
          <p:nvPr/>
        </p:nvSpPr>
        <p:spPr>
          <a:xfrm>
            <a:off x="822960" y="1417320"/>
            <a:ext cx="54864" cy="822960"/>
          </a:xfrm>
          <a:prstGeom prst="rect">
            <a:avLst/>
          </a:prstGeom>
          <a:solidFill>
            <a:srgbClr val="89B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399032"/>
            <a:ext cx="3657600" cy="320040"/>
          </a:xfrm>
          <a:prstGeom prst="rect">
            <a:avLst/>
          </a:prstGeom>
          <a:noFill/>
        </p:spPr>
        <p:txBody>
          <a:bodyPr wrap="square">
            <a:spAutoFit/>
          </a:bodyPr>
          <a:lstStyle/>
          <a:p>
            <a:pPr algn="l">
              <a:lnSpc>
                <a:spcPts val="2400"/>
              </a:lnSpc>
              <a:spcAft>
                <a:spcPts val="600"/>
              </a:spcAft>
              <a:defRPr sz="2000" b="1">
                <a:solidFill>
                  <a:srgbClr val="89B4FA"/>
                </a:solidFill>
                <a:latin typeface="Segoe UI"/>
              </a:defRPr>
            </a:pPr>
            <a:r>
              <a:t>Try it now</a:t>
            </a:r>
          </a:p>
        </p:txBody>
      </p:sp>
      <p:sp>
        <p:nvSpPr>
          <p:cNvPr id="6" name="TextBox 5"/>
          <p:cNvSpPr txBox="1"/>
          <p:nvPr/>
        </p:nvSpPr>
        <p:spPr>
          <a:xfrm>
            <a:off x="1097280" y="1737360"/>
            <a:ext cx="4572000" cy="320040"/>
          </a:xfrm>
          <a:prstGeom prst="rect">
            <a:avLst/>
          </a:prstGeom>
          <a:noFill/>
        </p:spPr>
        <p:txBody>
          <a:bodyPr wrap="square">
            <a:spAutoFit/>
          </a:bodyPr>
          <a:lstStyle/>
          <a:p>
            <a:pPr algn="l">
              <a:lnSpc>
                <a:spcPts val="1680"/>
              </a:lnSpc>
              <a:spcAft>
                <a:spcPts val="420"/>
              </a:spcAft>
              <a:defRPr sz="1400" b="0">
                <a:solidFill>
                  <a:srgbClr val="CDD6F4"/>
                </a:solidFill>
                <a:latin typeface="Cascadia Code"/>
              </a:defRPr>
            </a:pPr>
            <a:r>
              <a:t>npx @alan-jowett/promptkit</a:t>
            </a:r>
          </a:p>
        </p:txBody>
      </p:sp>
      <p:sp>
        <p:nvSpPr>
          <p:cNvPr id="7" name="TextBox 6"/>
          <p:cNvSpPr txBox="1"/>
          <p:nvPr/>
        </p:nvSpPr>
        <p:spPr>
          <a:xfrm>
            <a:off x="6400800" y="1463040"/>
            <a:ext cx="5029200" cy="73152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Zero install — just run it. Walks you through</a:t>
            </a:r>
            <a:br/>
            <a:r>
              <a:t>template selection and prompt assembly.</a:t>
            </a:r>
          </a:p>
        </p:txBody>
      </p:sp>
      <p:sp>
        <p:nvSpPr>
          <p:cNvPr id="8" name="Rectangle 7"/>
          <p:cNvSpPr/>
          <p:nvPr/>
        </p:nvSpPr>
        <p:spPr>
          <a:xfrm>
            <a:off x="822960" y="2651760"/>
            <a:ext cx="54864" cy="822960"/>
          </a:xfrm>
          <a:prstGeom prst="rect">
            <a:avLst/>
          </a:prstGeom>
          <a:solidFill>
            <a:srgbClr val="A6E3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33472"/>
            <a:ext cx="3657600" cy="320040"/>
          </a:xfrm>
          <a:prstGeom prst="rect">
            <a:avLst/>
          </a:prstGeom>
          <a:noFill/>
        </p:spPr>
        <p:txBody>
          <a:bodyPr wrap="square">
            <a:spAutoFit/>
          </a:bodyPr>
          <a:lstStyle/>
          <a:p>
            <a:pPr algn="l">
              <a:lnSpc>
                <a:spcPts val="2400"/>
              </a:lnSpc>
              <a:spcAft>
                <a:spcPts val="600"/>
              </a:spcAft>
              <a:defRPr sz="2000" b="1">
                <a:solidFill>
                  <a:srgbClr val="A6E3A1"/>
                </a:solidFill>
                <a:latin typeface="Segoe UI"/>
              </a:defRPr>
            </a:pPr>
            <a:r>
              <a:t>Browse the repo</a:t>
            </a:r>
          </a:p>
        </p:txBody>
      </p:sp>
      <p:sp>
        <p:nvSpPr>
          <p:cNvPr id="10" name="TextBox 9"/>
          <p:cNvSpPr txBox="1"/>
          <p:nvPr/>
        </p:nvSpPr>
        <p:spPr>
          <a:xfrm>
            <a:off x="1097280" y="2971800"/>
            <a:ext cx="4572000" cy="320040"/>
          </a:xfrm>
          <a:prstGeom prst="rect">
            <a:avLst/>
          </a:prstGeom>
          <a:noFill/>
        </p:spPr>
        <p:txBody>
          <a:bodyPr wrap="square">
            <a:spAutoFit/>
          </a:bodyPr>
          <a:lstStyle/>
          <a:p>
            <a:pPr algn="l">
              <a:lnSpc>
                <a:spcPts val="1680"/>
              </a:lnSpc>
              <a:spcAft>
                <a:spcPts val="420"/>
              </a:spcAft>
              <a:defRPr sz="1400" b="0">
                <a:solidFill>
                  <a:srgbClr val="CDD6F4"/>
                </a:solidFill>
                <a:latin typeface="Cascadia Code"/>
              </a:defRPr>
            </a:pPr>
            <a:r>
              <a:t>github.com/microsoft/promptkit</a:t>
            </a:r>
          </a:p>
        </p:txBody>
      </p:sp>
      <p:sp>
        <p:nvSpPr>
          <p:cNvPr id="11" name="TextBox 10"/>
          <p:cNvSpPr txBox="1"/>
          <p:nvPr/>
        </p:nvSpPr>
        <p:spPr>
          <a:xfrm>
            <a:off x="6400800" y="2697480"/>
            <a:ext cx="5029200" cy="73152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Read the templates, protocols, personas.</a:t>
            </a:r>
            <a:br/>
            <a:r>
              <a:t>Understand the composition model.</a:t>
            </a:r>
          </a:p>
        </p:txBody>
      </p:sp>
      <p:sp>
        <p:nvSpPr>
          <p:cNvPr id="12" name="Rectangle 11"/>
          <p:cNvSpPr/>
          <p:nvPr/>
        </p:nvSpPr>
        <p:spPr>
          <a:xfrm>
            <a:off x="822960" y="3886200"/>
            <a:ext cx="54864" cy="822960"/>
          </a:xfrm>
          <a:prstGeom prst="rect">
            <a:avLst/>
          </a:prstGeom>
          <a:solidFill>
            <a:srgbClr val="F9E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67912"/>
            <a:ext cx="3657600" cy="320040"/>
          </a:xfrm>
          <a:prstGeom prst="rect">
            <a:avLst/>
          </a:prstGeom>
          <a:noFill/>
        </p:spPr>
        <p:txBody>
          <a:bodyPr wrap="square">
            <a:spAutoFit/>
          </a:bodyPr>
          <a:lstStyle/>
          <a:p>
            <a:pPr algn="l">
              <a:lnSpc>
                <a:spcPts val="2400"/>
              </a:lnSpc>
              <a:spcAft>
                <a:spcPts val="600"/>
              </a:spcAft>
              <a:defRPr sz="2000" b="1">
                <a:solidFill>
                  <a:srgbClr val="F9E2AF"/>
                </a:solidFill>
                <a:latin typeface="Segoe UI"/>
              </a:defRPr>
            </a:pPr>
            <a:r>
              <a:t>Contribute</a:t>
            </a:r>
          </a:p>
        </p:txBody>
      </p:sp>
      <p:sp>
        <p:nvSpPr>
          <p:cNvPr id="14" name="TextBox 13"/>
          <p:cNvSpPr txBox="1"/>
          <p:nvPr/>
        </p:nvSpPr>
        <p:spPr>
          <a:xfrm>
            <a:off x="1097280" y="4206240"/>
            <a:ext cx="4572000" cy="320040"/>
          </a:xfrm>
          <a:prstGeom prst="rect">
            <a:avLst/>
          </a:prstGeom>
          <a:noFill/>
        </p:spPr>
        <p:txBody>
          <a:bodyPr wrap="square">
            <a:spAutoFit/>
          </a:bodyPr>
          <a:lstStyle/>
          <a:p>
            <a:pPr algn="l">
              <a:lnSpc>
                <a:spcPts val="1680"/>
              </a:lnSpc>
              <a:spcAft>
                <a:spcPts val="420"/>
              </a:spcAft>
              <a:defRPr sz="1400" b="0">
                <a:solidFill>
                  <a:srgbClr val="CDD6F4"/>
                </a:solidFill>
                <a:latin typeface="Cascadia Code"/>
              </a:defRPr>
            </a:pPr>
            <a:r>
              <a:t>Use the extend-library template</a:t>
            </a:r>
          </a:p>
        </p:txBody>
      </p:sp>
      <p:sp>
        <p:nvSpPr>
          <p:cNvPr id="15" name="TextBox 14"/>
          <p:cNvSpPr txBox="1"/>
          <p:nvPr/>
        </p:nvSpPr>
        <p:spPr>
          <a:xfrm>
            <a:off x="6400800" y="3931920"/>
            <a:ext cx="5029200" cy="73152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Add your own personas, protocols, or templates.</a:t>
            </a:r>
            <a:br/>
            <a:r>
              <a:t>PromptKit eats its own dog food — the contribution</a:t>
            </a:r>
            <a:br/>
            <a:r>
              <a:t>workflow is itself a PromptKit template.</a:t>
            </a:r>
          </a:p>
        </p:txBody>
      </p:sp>
      <p:sp>
        <p:nvSpPr>
          <p:cNvPr id="16" name="Rectangle 15"/>
          <p:cNvSpPr/>
          <p:nvPr/>
        </p:nvSpPr>
        <p:spPr>
          <a:xfrm>
            <a:off x="822960" y="5120640"/>
            <a:ext cx="54864" cy="822960"/>
          </a:xfrm>
          <a:prstGeom prst="rect">
            <a:avLst/>
          </a:prstGeom>
          <a:solidFill>
            <a:srgbClr val="FAB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102352"/>
            <a:ext cx="3657600" cy="320040"/>
          </a:xfrm>
          <a:prstGeom prst="rect">
            <a:avLst/>
          </a:prstGeom>
          <a:noFill/>
        </p:spPr>
        <p:txBody>
          <a:bodyPr wrap="square">
            <a:spAutoFit/>
          </a:bodyPr>
          <a:lstStyle/>
          <a:p>
            <a:pPr algn="l">
              <a:lnSpc>
                <a:spcPts val="2400"/>
              </a:lnSpc>
              <a:spcAft>
                <a:spcPts val="600"/>
              </a:spcAft>
              <a:defRPr sz="2000" b="1">
                <a:solidFill>
                  <a:srgbClr val="FAB387"/>
                </a:solidFill>
                <a:latin typeface="Segoe UI"/>
              </a:defRPr>
            </a:pPr>
            <a:r>
              <a:t>Share feedback</a:t>
            </a:r>
          </a:p>
        </p:txBody>
      </p:sp>
      <p:sp>
        <p:nvSpPr>
          <p:cNvPr id="18" name="TextBox 17"/>
          <p:cNvSpPr txBox="1"/>
          <p:nvPr/>
        </p:nvSpPr>
        <p:spPr>
          <a:xfrm>
            <a:off x="1097280" y="5440680"/>
            <a:ext cx="4572000" cy="320040"/>
          </a:xfrm>
          <a:prstGeom prst="rect">
            <a:avLst/>
          </a:prstGeom>
          <a:noFill/>
        </p:spPr>
        <p:txBody>
          <a:bodyPr wrap="square">
            <a:spAutoFit/>
          </a:bodyPr>
          <a:lstStyle/>
          <a:p>
            <a:pPr algn="l">
              <a:lnSpc>
                <a:spcPts val="1680"/>
              </a:lnSpc>
              <a:spcAft>
                <a:spcPts val="420"/>
              </a:spcAft>
              <a:defRPr sz="1400" b="0">
                <a:solidFill>
                  <a:srgbClr val="CDD6F4"/>
                </a:solidFill>
                <a:latin typeface="Cascadia Code"/>
              </a:defRPr>
            </a:pPr>
            <a:r>
              <a:t>File issues or start discussions</a:t>
            </a:r>
          </a:p>
        </p:txBody>
      </p:sp>
      <p:sp>
        <p:nvSpPr>
          <p:cNvPr id="19" name="TextBox 18"/>
          <p:cNvSpPr txBox="1"/>
          <p:nvPr/>
        </p:nvSpPr>
        <p:spPr>
          <a:xfrm>
            <a:off x="6400800" y="5166360"/>
            <a:ext cx="5029200" cy="731520"/>
          </a:xfrm>
          <a:prstGeom prst="rect">
            <a:avLst/>
          </a:prstGeom>
          <a:noFill/>
        </p:spPr>
        <p:txBody>
          <a:bodyPr wrap="square">
            <a:spAutoFit/>
          </a:bodyPr>
          <a:lstStyle/>
          <a:p>
            <a:pPr algn="l">
              <a:lnSpc>
                <a:spcPts val="1560"/>
              </a:lnSpc>
              <a:spcAft>
                <a:spcPts val="390"/>
              </a:spcAft>
              <a:defRPr sz="1300" b="0">
                <a:solidFill>
                  <a:srgbClr val="6C7086"/>
                </a:solidFill>
                <a:latin typeface="Segoe UI"/>
              </a:defRPr>
            </a:pPr>
            <a:r>
              <a:t>What templates are missing? What workflows</a:t>
            </a:r>
            <a:br/>
            <a:r>
              <a:t>do you wish PromptKit supported?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