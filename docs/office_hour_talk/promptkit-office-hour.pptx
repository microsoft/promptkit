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 Alan Jowett, and today I want to talk about something I think is going to change how we work with AI tools — structured, engineered prompts.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the last time you used an AI tool — Copilot, ChatGPT, Claude. How much of the result quality came from the prompt you wrote? Probably most of it. Now think about how much engineering rigor you put into that prompt versus the code you wrote afterward. There's a huge gap. We version-control our code. We review it. We test it. But the prompts that drive our AI-assisted engineering? They're throwaway artifacts — copy-pasted, tweaked, and forgotten. Today I want to show you how to close that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fundamental problem. LLMs are non-deterministic — you give the same prompt twice, you might get different results. But we make it worse by not applying any engineering discipline. Prompts aren't in source control. We don't test them. We don't share them. When someone on your team discovers a great prompt for code review, how does the rest of the team benefit? Usually, they don't. They write their own version from scratch. And when an LLM hallucinates or misses something critical, we blame the model. But often, the prompt was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we treated prompts the way we treat code? What if they lived in Git, were composed from tested modules, and could be improved systematically? That's the thesis behind PromptKit. It's an open-source library — MIT licensed — that gives you composable, version-controlled prompt components. You don't write prompts from scratch. You compose them from proven building blocks. Let me show you how.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architecture — how PromptKit is structured and how the pieces fit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PromptKit has five composable layers. At the bottom, a Persona defines who the LLM is — its expertise, its tone, its behavioral constraints. Think of it as the LLM's job title and background. Protocols define how the LLM reasons — systematic methodologies like root-cause analysis, anti-hallucination guardrails, memory safety checks. Formats define what the output looks like — the structure and sections the LLM must produce. Taxonomies provide classification schemes for specific domains. And Templates are the task itself — they compose all the other layers and include task-specific instructions. Each layer is a separate Markdown file that can be mixed and matched.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layer is personas. A persona tells the LLM who it is — not just a name, but deep domain expertise, how it should approach problems, and what tone to use. We have 15 built-in personas covering software engineering, hardware design, embedded firmware, protocol engineering, and more. When you tell an LLM it's a senior systems engineer with deep expertise in memory management and concurrency, it reasons differently than when it's a generic assistant. And these aren't just one-liner descriptions — they're detailed behavioral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Protocols are where the real power is. They define how the LLM reasons — not just 'think step by step,' but detailed, multi-phase methodologies. There are three categories. Guardrails are cross-cutting safety protocols — anti-hallucination prevents fabrication, self-verification makes the LLM check its own work. Analysis protocols are domain-specific — memory safety for C, thread safety, security vulnerabilities, even schematic compliance for hardware. Reasoning protocols are systematic approaches — root-cause analysis with hypothesis generation, requirements elicitation, traceability audits. I'll spotlight two of these in detail shortly.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Formats define what the output looks like. When you ask an LLM to investigate a bug, PromptKit ensures the output has specific sections — findings, root cause analysis, evidence, remediation plan — not just a wall of text. We have 21 formats for everything from investigation reports to design documents to presentation kits. In fact, this very presentation was designed using PromptKit's author-presentation template. Taxonomies provide classification labels. When a protocol finds an issue, it classifies it using a defined scheme — D1 through D16 for specification drift, for example. This makes findings actionable and comparable across reviews.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Templates are the orchestration layer. Each template composes the other four layers using YAML frontmatter. This example — investigate-bug — says: use the systems-engineer persona, apply anti-hallucination guardrails, self-verification, and root-cause analysis protocols, and output an investigation report. The parameters are what you provide — the problem description and code context. Everything else is standardized. And because templates declare what they produce and consume, they can be chained into pipelines — the output of one becomes the input of the next.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assembled prompt actually looks like. PromptKit reads each component file and includes its full body text verbatim — no summarization, no abbreviation. The identity section comes from the persona file. The reasoning protocols section includes every phase and sub-step from each protocol. The output format section defines the required structure. And the task section is the template with your parameters filled in. The result is a single, coherent Markdown document that you can paste into any LLM session. The key point: because every component is included verbatim, the LLM gets the full reasoning methodology — not a watered-down summary.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zoom in on two protocols to show you the kind of reasoning discipline PromptKit enforces.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anti-hallucination protocol is probably the most impactful single component in PromptKit. It enforces epistemic honesty. Every claim the LLM makes must be labeled — is this directly known from the context I provided? Is it inferred, and if so, show me the reasoning chain? Or is it an assumption — and if so, flag it explicitly. The protocol also forbids fabrication. If the LLM doesn't know a function name, it writes UNKNOWN instead of making something up. If there are multiple interpretations, it must list them all instead of picking one silently. And there's a hard trigger: if more than 30% of the output is assumptions, the LLM must stop and ask for more context. This single protocol eliminates the majority of hallucination issues.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root-cause analysis protocol shows what structured reasoning looks like in practice. It's a 5-phase methodology. Phase 1 forces the LLM to precisely characterize the symptom before jumping to conclusions — what's the expected behavior, under what conditions does it fail, what's affected and what isn't. Phase 2 is critical — generate at least three hypotheses before investigating any of them, including at least one non-obvious hypothesis. This prevents anchoring bias. Phase 3 gathers evidence to confirm or eliminate each hypothesis. Phase 4 makes a crucial distinction — the proximate cause versus the root cause. A null pointer dereference is the proximate cause. The missing error handling that left the pointer uninitialized is the root cause. Phase 5 ensures the fix addresses the root cause and proposes preventive measures.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you've seen the building blocks and how the reasoning protocols work, let's talk about the breadth of what you can do with these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PromptKit isn't just for software. It covers six engineering domains — software, hardware and electrical engineering, embedded firmware, protocol engineering, specification analysis, and DevOps. 157 components total. You can review C++ code, audit a schematic against requirements, investigate a CI failure, author an RFC, or triage pull requests — all with the same structured, composable approach. And because every template declares what it produces and consumes, they chain together into pipelines.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lifecycle workflows are where everything comes together. Bootstrap scans any existing repository and extracts structured specifications — requirements, design, validation — from the code that's already there. You don't need to start from scratch. Evolve takes a requirements change and propagates it through every layer — specs, implementation, tests — with adversarial audits at each transition to catch inconsistencies before they ship. Maintain runs periodically to detect drift — where have the code and specs diverged? — and generates corrective patches. It's a continuous cycle. When maintain detects drift, it loops back to bootstrap.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a real story about what PromptKit found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real case study. Sonde is a production IoT runtime with over 260 requirements across 15 specification documents. The task was to replace the gateway's encryption scheme — moving from asymmetric key-pair pairing to AES-256-GCM with a pre-shared key. This affected every radio frame in the protocol. We used PromptKit's engineering workflow — 8 phases, from requirements discovery through implementation with adversarial audits at every transition. Right in Phase 1, the automated analysis discovered that the initial understanding of the crypto model was fundamentally wrong. The scope was far larger than originally estimated.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round 5 of the automated specification review, PromptKit's adversarial analysis caught a critical vulnerability. The GCM nonce construction didn't include the message type. This meant a request and a response using the same pre-shared key could end up with the same nonce value. For AES-GCM, nonce reuse is catastrophic — it breaks the authentication guarantees entirely. The fix was straightforward: include the message type in the nonce construction. But here's the key insight — this finding survived six rounds of human review. Domain experts looked at this specification multiple times and didn't catch it. The structured, adversarial prompt did.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migration resulted in 28 modified, 16 retired, and 8 new requirements across 9 specification documents. PromptKit caught a genuine cryptographic vulnerability that human experts missed repeatedly. But it's not a replacement for human judgment. In Phase 7, user review caught a frame ownership design error that all the automated review missed — the phone generates the PEER_REQUEST ESP-NOW frame, and the node is a pure relay. Only domain knowledge could catch that. The lesson: structured prompts amplify human expertise. They catch what humans miss, and humans catch what automation misses. Together, they're more reliable than either alone.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PromptKit in action.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terminal] Let me show you how this works in practice. I'm going to launch PromptKit and walk through an interactive session. Watch how it selects components, composes them, and produces a structured prompt.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the demo fails] Here's what an assembled prompt looks like. Notice how every component is included in full — the persona text, every phase of every protocol, the format rules, and the task with parameters filled in. This is a single document you can paste into any LLM session.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you actually start using this?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ways to get started. The easiest is npx — you don't even need to clone the repo. Just run npx @alan-jowett/promptkit and it launches an interactive session. It auto-detects whether you're using GitHub Copilot or Claude Code. If you want full access to all the component files, clone the repo and point your LLM CLI at bootstrap.md. And if you're not using a CLI tool, you can paste the bootstrap prompt and manifest into any LLM session — ChatGPT, Claude, whatever — and follow the interactive flow. It works everywhere.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one-off prompts, PromptKit can produce persistent instruction files. For GitHub Copilot, these are composable skill files under .github/instructions — each with a description and file-targeting via applyTo globs. For Claude Code, it produces a CLAUDE.md file. For Cursor, a .cursorrules file. These go into your repository. Every engineer on your team gets the same AI behavior. If your team decides that C code should always be reviewed for memory safety, that becomes a version-controlled skill file — not tribal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leave you with five takeaways. First, prompts are code. Treat them that way. Second, compose from proven components instead of writing from scratch. Third, structured reasoning protocols bound the non-determinism inherent in LLMs — they won't eliminate it, but they make outputs dramatically more reliable. Fourth, test your prompts — PromptKit supports reference comparison testing. And fifth, structured prompts and human judgment are complementary. The nonce-reuse case study proves it — automation caught what humans missed, and humans caught what automation missed.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PromptKit is open source under MIT license. You can find it at aka.ms/PromptKit or install it with npx. The full repository has 157 components across 6 engineering domains. I encourage you to try it on your next task — whether that's investigating a bug, reviewing code, or writing a requirements document. 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137160"/>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mptKit-logo.png"/>
          <p:cNvPicPr>
            <a:picLocks noChangeAspect="1"/>
          </p:cNvPicPr>
          <p:nvPr/>
        </p:nvPicPr>
        <p:blipFill>
          <a:blip r:embed="rId2"/>
          <a:stretch>
            <a:fillRect/>
          </a:stretch>
        </p:blipFill>
        <p:spPr>
          <a:xfrm>
            <a:off x="4267504" y="548640"/>
            <a:ext cx="3657600" cy="2286000"/>
          </a:xfrm>
          <a:prstGeom prst="rect">
            <a:avLst/>
          </a:prstGeom>
        </p:spPr>
      </p:pic>
      <p:sp>
        <p:nvSpPr>
          <p:cNvPr id="4" name="TextBox 3"/>
          <p:cNvSpPr txBox="1"/>
          <p:nvPr/>
        </p:nvSpPr>
        <p:spPr>
          <a:xfrm>
            <a:off x="914400" y="3017520"/>
            <a:ext cx="10362895" cy="1097280"/>
          </a:xfrm>
          <a:prstGeom prst="rect">
            <a:avLst/>
          </a:prstGeom>
          <a:noFill/>
        </p:spPr>
        <p:txBody>
          <a:bodyPr wrap="square" anchor="t"/>
          <a:lstStyle/>
          <a:p>
            <a:pPr algn="ctr">
              <a:defRPr sz="4000" b="1">
                <a:solidFill>
                  <a:srgbClr val="0052CC"/>
                </a:solidFill>
                <a:latin typeface="Segoe UI Semibold"/>
              </a:defRPr>
            </a:pPr>
            <a:r>
              <a:t>Introduction to Structured Prompts</a:t>
            </a:r>
            <a:br/>
            <a:r>
              <a:t>with PromptKit</a:t>
            </a:r>
          </a:p>
        </p:txBody>
      </p:sp>
      <p:sp>
        <p:nvSpPr>
          <p:cNvPr id="5" name="TextBox 4"/>
          <p:cNvSpPr txBox="1"/>
          <p:nvPr/>
        </p:nvSpPr>
        <p:spPr>
          <a:xfrm>
            <a:off x="914400" y="4206240"/>
            <a:ext cx="10362895" cy="548640"/>
          </a:xfrm>
          <a:prstGeom prst="rect">
            <a:avLst/>
          </a:prstGeom>
          <a:noFill/>
        </p:spPr>
        <p:txBody>
          <a:bodyPr wrap="square" anchor="t"/>
          <a:lstStyle/>
          <a:p>
            <a:pPr algn="ctr">
              <a:defRPr sz="2200" b="0">
                <a:solidFill>
                  <a:srgbClr val="666666"/>
                </a:solidFill>
                <a:latin typeface="Segoe UI"/>
              </a:defRPr>
            </a:pPr>
            <a:r>
              <a:t>Bringing software engineering discipline to AI prompts</a:t>
            </a:r>
          </a:p>
        </p:txBody>
      </p:sp>
      <p:sp>
        <p:nvSpPr>
          <p:cNvPr id="6" name="TextBox 5"/>
          <p:cNvSpPr txBox="1"/>
          <p:nvPr/>
        </p:nvSpPr>
        <p:spPr>
          <a:xfrm>
            <a:off x="914400" y="5029200"/>
            <a:ext cx="10362895" cy="457200"/>
          </a:xfrm>
          <a:prstGeom prst="rect">
            <a:avLst/>
          </a:prstGeom>
          <a:noFill/>
        </p:spPr>
        <p:txBody>
          <a:bodyPr wrap="square" anchor="t"/>
          <a:lstStyle/>
          <a:p>
            <a:pPr algn="ctr">
              <a:defRPr sz="2000" b="0">
                <a:solidFill>
                  <a:srgbClr val="1A1A1A"/>
                </a:solidFill>
                <a:latin typeface="Segoe UI"/>
              </a:defRPr>
            </a:pPr>
            <a:r>
              <a:t>Alan Jowett</a:t>
            </a:r>
          </a:p>
        </p:txBody>
      </p:sp>
      <p:sp>
        <p:nvSpPr>
          <p:cNvPr id="7" name="Rounded Rectangle 6"/>
          <p:cNvSpPr/>
          <p:nvPr/>
        </p:nvSpPr>
        <p:spPr>
          <a:xfrm>
            <a:off x="0" y="6583680"/>
            <a:ext cx="12191695" cy="274320"/>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The Most Important Code You're Not Engineering</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Every AI-assisted task — investigating bugs, writing requirements,
reviewing code — lives or dies by the prompt that drives it</a:t>
            </a:r>
          </a:p>
          <a:p>
            <a:pPr>
              <a:spcAft>
                <a:spcPts val="400"/>
              </a:spcAft>
            </a:pPr>
            <a:r>
              <a:rPr sz="1800">
                <a:solidFill>
                  <a:srgbClr val="1A1A1A"/>
                </a:solidFill>
                <a:latin typeface="Segoe UI"/>
              </a:rPr>
              <a:t>Yet most teams still write these prompts ad hoc:</a:t>
            </a:r>
          </a:p>
          <a:p>
            <a:pPr>
              <a:spcAft>
                <a:spcPts val="400"/>
              </a:spcAft>
            </a:pPr>
            <a:r>
              <a:rPr sz="1800">
                <a:solidFill>
                  <a:srgbClr val="1A1A1A"/>
                </a:solidFill>
                <a:latin typeface="Segoe UI"/>
              </a:rPr>
              <a:t>    • Copy-pasted from chat histories</a:t>
            </a:r>
          </a:p>
          <a:p>
            <a:pPr>
              <a:spcAft>
                <a:spcPts val="400"/>
              </a:spcAft>
            </a:pPr>
            <a:r>
              <a:rPr sz="1800">
                <a:solidFill>
                  <a:srgbClr val="1A1A1A"/>
                </a:solidFill>
                <a:latin typeface="Segoe UI"/>
              </a:rPr>
              <a:t>    • Untested — no way to detect regressions</a:t>
            </a:r>
          </a:p>
          <a:p>
            <a:pPr>
              <a:spcAft>
                <a:spcPts val="400"/>
              </a:spcAft>
            </a:pPr>
            <a:r>
              <a:rPr sz="1800">
                <a:solidFill>
                  <a:srgbClr val="1A1A1A"/>
                </a:solidFill>
                <a:latin typeface="Segoe UI"/>
              </a:rPr>
              <a:t>    • Inconsistent — every engineer writes their own</a:t>
            </a:r>
          </a:p>
          <a:p>
            <a:pPr>
              <a:spcAft>
                <a:spcPts val="1400"/>
              </a:spcAft>
            </a:pPr>
            <a:r>
              <a:rPr sz="1800">
                <a:solidFill>
                  <a:srgbClr val="1A1A1A"/>
                </a:solidFill>
                <a:latin typeface="Segoe UI"/>
              </a:rPr>
              <a:t>    • Impossible to improve systematically</a:t>
            </a:r>
          </a:p>
          <a:p>
            <a:pPr>
              <a:spcAft>
                <a:spcPts val="0"/>
              </a:spcAft>
            </a:pPr>
            <a:r>
              <a:rPr sz="1800">
                <a:solidFill>
                  <a:srgbClr val="1A1A1A"/>
                </a:solidFill>
                <a:latin typeface="Segoe UI"/>
              </a:rPr>
              <a:t>Your code is reviewed, tested, and version-controlled.
Your prompts? Probably pasted from a Slack thread.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Why Ad-Hoc Prompting Fails at Scale</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Non-deterministic — same prompt, different results every time;
LLMs are inherently stochastic</a:t>
            </a:r>
          </a:p>
          <a:p>
            <a:pPr>
              <a:spcAft>
                <a:spcPts val="1400"/>
              </a:spcAft>
            </a:pPr>
            <a:r>
              <a:rPr sz="1800">
                <a:solidFill>
                  <a:srgbClr val="1A1A1A"/>
                </a:solidFill>
                <a:latin typeface="Segoe UI"/>
              </a:rPr>
              <a:t>Not version-controlled — prompts live in chat histories,
Slack threads, sticky notes</a:t>
            </a:r>
          </a:p>
          <a:p>
            <a:pPr>
              <a:spcAft>
                <a:spcPts val="1400"/>
              </a:spcAft>
            </a:pPr>
            <a:r>
              <a:rPr sz="1800">
                <a:solidFill>
                  <a:srgbClr val="1A1A1A"/>
                </a:solidFill>
                <a:latin typeface="Segoe UI"/>
              </a:rPr>
              <a:t>Not testable — no way to know if a prompt "regressed"
after you changed it</a:t>
            </a:r>
          </a:p>
          <a:p>
            <a:pPr>
              <a:spcAft>
                <a:spcPts val="1400"/>
              </a:spcAft>
            </a:pPr>
            <a:r>
              <a:rPr sz="1800">
                <a:solidFill>
                  <a:srgbClr val="1A1A1A"/>
                </a:solidFill>
                <a:latin typeface="Segoe UI"/>
              </a:rPr>
              <a:t>Not reusable — every engineer writes their own from scratch</a:t>
            </a:r>
          </a:p>
          <a:p>
            <a:pPr>
              <a:spcAft>
                <a:spcPts val="0"/>
              </a:spcAft>
            </a:pPr>
            <a:r>
              <a:rPr sz="1800">
                <a:solidFill>
                  <a:srgbClr val="1A1A1A"/>
                </a:solidFill>
                <a:latin typeface="Segoe UI"/>
              </a:rPr>
              <a:t>Not composable — can't mix and match proven reasoning patterns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What If Prompts Were Engineered Artifacts?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Version-controlled in Git — diffs, blame, history, branching</a:t>
            </a:r>
          </a:p>
          <a:p>
            <a:pPr>
              <a:spcAft>
                <a:spcPts val="1400"/>
              </a:spcAft>
            </a:pPr>
            <a:r>
              <a:rPr sz="1800">
                <a:solidFill>
                  <a:srgbClr val="1A1A1A"/>
                </a:solidFill>
                <a:latin typeface="Segoe UI"/>
              </a:rPr>
              <a:t>Modular — compose proven components instead of writing from scratch</a:t>
            </a:r>
          </a:p>
          <a:p>
            <a:pPr>
              <a:spcAft>
                <a:spcPts val="1400"/>
              </a:spcAft>
            </a:pPr>
            <a:r>
              <a:rPr sz="1800">
                <a:solidFill>
                  <a:srgbClr val="1A1A1A"/>
                </a:solidFill>
                <a:latin typeface="Segoe UI"/>
              </a:rPr>
              <a:t>Testable — compare outputs against known-good reference prompts</a:t>
            </a:r>
          </a:p>
          <a:p>
            <a:pPr>
              <a:spcAft>
                <a:spcPts val="1400"/>
              </a:spcAft>
            </a:pPr>
            <a:r>
              <a:rPr sz="1800">
                <a:solidFill>
                  <a:srgbClr val="1A1A1A"/>
                </a:solidFill>
                <a:latin typeface="Segoe UI"/>
              </a:rPr>
              <a:t>Shareable — team-wide library of best practices, not tribal knowledge</a:t>
            </a:r>
          </a:p>
          <a:p>
            <a:pPr>
              <a:spcAft>
                <a:spcPts val="1400"/>
              </a:spcAft>
            </a:pPr>
            <a:r>
              <a:rPr sz="1800">
                <a:solidFill>
                  <a:srgbClr val="1A1A1A"/>
                </a:solidFill>
                <a:latin typeface="Segoe UI"/>
              </a:rPr>
              <a:t>Improvable — systematic iteration, not random tweaking</a:t>
            </a:r>
          </a:p>
          <a:p>
            <a:pPr>
              <a:spcAft>
                <a:spcPts val="0"/>
              </a:spcAft>
            </a:pPr>
            <a:r>
              <a:rPr sz="1800">
                <a:solidFill>
                  <a:srgbClr val="1A1A1A"/>
                </a:solidFill>
                <a:latin typeface="Segoe UI"/>
              </a:rPr>
              <a:t>This is what PromptKit does.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52CC"/>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nchor="ctr"/>
          <a:lstStyle/>
          <a:p>
            <a:pPr algn="ctr">
              <a:defRPr sz="4400" b="1">
                <a:solidFill>
                  <a:srgbClr val="FFFFFF"/>
                </a:solidFill>
                <a:latin typeface="Segoe UI Semibold"/>
              </a:defRPr>
            </a:pPr>
            <a:r>
              <a:t>Part 1</a:t>
            </a:r>
            <a:br/>
            <a:r>
              <a:t>How PromptKit Works</a:t>
            </a:r>
          </a:p>
        </p:txBody>
      </p:sp>
      <p:sp>
        <p:nvSpPr>
          <p:cNvPr id="3" name="Rounded Rectangle 2"/>
          <p:cNvSpPr/>
          <p:nvPr/>
        </p:nvSpPr>
        <p:spPr>
          <a:xfrm>
            <a:off x="4572000" y="201168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484632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Five Composable Layers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981504" y="1554480"/>
            <a:ext cx="8229600" cy="777240"/>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824" y="1645920"/>
            <a:ext cx="3200400" cy="594360"/>
          </a:xfrm>
          <a:prstGeom prst="rect">
            <a:avLst/>
          </a:prstGeom>
          <a:noFill/>
        </p:spPr>
        <p:txBody>
          <a:bodyPr wrap="square" anchor="t"/>
          <a:lstStyle/>
          <a:p>
            <a:pPr algn="l">
              <a:defRPr sz="1800" b="1">
                <a:solidFill>
                  <a:srgbClr val="FFFFFF"/>
                </a:solidFill>
                <a:latin typeface="Segoe UI Semibold"/>
              </a:defRPr>
            </a:pPr>
            <a:r>
              <a:t>TEMPLATE</a:t>
            </a:r>
          </a:p>
        </p:txBody>
      </p:sp>
      <p:sp>
        <p:nvSpPr>
          <p:cNvPr id="7" name="TextBox 6"/>
          <p:cNvSpPr txBox="1"/>
          <p:nvPr/>
        </p:nvSpPr>
        <p:spPr>
          <a:xfrm>
            <a:off x="5456224" y="1645920"/>
            <a:ext cx="4572000" cy="594360"/>
          </a:xfrm>
          <a:prstGeom prst="rect">
            <a:avLst/>
          </a:prstGeom>
          <a:noFill/>
        </p:spPr>
        <p:txBody>
          <a:bodyPr wrap="square" anchor="t"/>
          <a:lstStyle/>
          <a:p>
            <a:pPr algn="l">
              <a:defRPr sz="1500" b="0">
                <a:solidFill>
                  <a:srgbClr val="DDDDFF"/>
                </a:solidFill>
                <a:latin typeface="Segoe UI"/>
              </a:defRPr>
            </a:pPr>
            <a:r>
              <a:t>The task itself — "Investigate this bug..."</a:t>
            </a:r>
          </a:p>
        </p:txBody>
      </p:sp>
      <p:sp>
        <p:nvSpPr>
          <p:cNvPr id="8" name="Rounded Rectangle 7"/>
          <p:cNvSpPr/>
          <p:nvPr/>
        </p:nvSpPr>
        <p:spPr>
          <a:xfrm>
            <a:off x="1981504" y="2514600"/>
            <a:ext cx="8229600" cy="777240"/>
          </a:xfrm>
          <a:prstGeom prst="roundRect">
            <a:avLst/>
          </a:prstGeom>
          <a:solidFill>
            <a:srgbClr val="006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55824" y="2606040"/>
            <a:ext cx="3200400" cy="594360"/>
          </a:xfrm>
          <a:prstGeom prst="rect">
            <a:avLst/>
          </a:prstGeom>
          <a:noFill/>
        </p:spPr>
        <p:txBody>
          <a:bodyPr wrap="square" anchor="t"/>
          <a:lstStyle/>
          <a:p>
            <a:pPr algn="l">
              <a:defRPr sz="1800" b="1">
                <a:solidFill>
                  <a:srgbClr val="FFFFFF"/>
                </a:solidFill>
                <a:latin typeface="Segoe UI Semibold"/>
              </a:defRPr>
            </a:pPr>
            <a:r>
              <a:t>FORMAT</a:t>
            </a:r>
          </a:p>
        </p:txBody>
      </p:sp>
      <p:sp>
        <p:nvSpPr>
          <p:cNvPr id="10" name="TextBox 9"/>
          <p:cNvSpPr txBox="1"/>
          <p:nvPr/>
        </p:nvSpPr>
        <p:spPr>
          <a:xfrm>
            <a:off x="5456224" y="2606040"/>
            <a:ext cx="4572000" cy="594360"/>
          </a:xfrm>
          <a:prstGeom prst="rect">
            <a:avLst/>
          </a:prstGeom>
          <a:noFill/>
        </p:spPr>
        <p:txBody>
          <a:bodyPr wrap="square" anchor="t"/>
          <a:lstStyle/>
          <a:p>
            <a:pPr algn="l">
              <a:defRPr sz="1500" b="0">
                <a:solidFill>
                  <a:srgbClr val="DDDDFF"/>
                </a:solidFill>
                <a:latin typeface="Segoe UI"/>
              </a:defRPr>
            </a:pPr>
            <a:r>
              <a:t>Output structure — investigation report, design doc...</a:t>
            </a:r>
          </a:p>
        </p:txBody>
      </p:sp>
      <p:sp>
        <p:nvSpPr>
          <p:cNvPr id="11" name="Rounded Rectangle 10"/>
          <p:cNvSpPr/>
          <p:nvPr/>
        </p:nvSpPr>
        <p:spPr>
          <a:xfrm>
            <a:off x="1981504" y="3474720"/>
            <a:ext cx="8229600" cy="777240"/>
          </a:xfrm>
          <a:prstGeom prst="roundRect">
            <a:avLst/>
          </a:prstGeom>
          <a:solidFill>
            <a:srgbClr val="008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5824" y="3566160"/>
            <a:ext cx="3200400" cy="594360"/>
          </a:xfrm>
          <a:prstGeom prst="rect">
            <a:avLst/>
          </a:prstGeom>
          <a:noFill/>
        </p:spPr>
        <p:txBody>
          <a:bodyPr wrap="square" anchor="t"/>
          <a:lstStyle/>
          <a:p>
            <a:pPr algn="l">
              <a:defRPr sz="1800" b="1">
                <a:solidFill>
                  <a:srgbClr val="FFFFFF"/>
                </a:solidFill>
                <a:latin typeface="Segoe UI Semibold"/>
              </a:defRPr>
            </a:pPr>
            <a:r>
              <a:t>TAXONOMY</a:t>
            </a:r>
          </a:p>
        </p:txBody>
      </p:sp>
      <p:sp>
        <p:nvSpPr>
          <p:cNvPr id="13" name="TextBox 12"/>
          <p:cNvSpPr txBox="1"/>
          <p:nvPr/>
        </p:nvSpPr>
        <p:spPr>
          <a:xfrm>
            <a:off x="5456224" y="3566160"/>
            <a:ext cx="4572000" cy="594360"/>
          </a:xfrm>
          <a:prstGeom prst="rect">
            <a:avLst/>
          </a:prstGeom>
          <a:noFill/>
        </p:spPr>
        <p:txBody>
          <a:bodyPr wrap="square" anchor="t"/>
          <a:lstStyle/>
          <a:p>
            <a:pPr algn="l">
              <a:defRPr sz="1500" b="0">
                <a:solidFill>
                  <a:srgbClr val="DDDDFF"/>
                </a:solidFill>
                <a:latin typeface="Segoe UI"/>
              </a:defRPr>
            </a:pPr>
            <a:r>
              <a:t>Classification — D1–D16 spec drift, K1–K14 kernel defects</a:t>
            </a:r>
          </a:p>
        </p:txBody>
      </p:sp>
      <p:sp>
        <p:nvSpPr>
          <p:cNvPr id="14" name="Rounded Rectangle 13"/>
          <p:cNvSpPr/>
          <p:nvPr/>
        </p:nvSpPr>
        <p:spPr>
          <a:xfrm>
            <a:off x="1981504" y="4434840"/>
            <a:ext cx="8229600" cy="777240"/>
          </a:xfrm>
          <a:prstGeom prst="roundRect">
            <a:avLst/>
          </a:prstGeom>
          <a:solidFill>
            <a:srgbClr val="009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55824" y="4526280"/>
            <a:ext cx="3200400" cy="594360"/>
          </a:xfrm>
          <a:prstGeom prst="rect">
            <a:avLst/>
          </a:prstGeom>
          <a:noFill/>
        </p:spPr>
        <p:txBody>
          <a:bodyPr wrap="square" anchor="t"/>
          <a:lstStyle/>
          <a:p>
            <a:pPr algn="l">
              <a:defRPr sz="1800" b="1">
                <a:solidFill>
                  <a:srgbClr val="FFFFFF"/>
                </a:solidFill>
                <a:latin typeface="Segoe UI Semibold"/>
              </a:defRPr>
            </a:pPr>
            <a:r>
              <a:t>PROTOCOL</a:t>
            </a:r>
          </a:p>
        </p:txBody>
      </p:sp>
      <p:sp>
        <p:nvSpPr>
          <p:cNvPr id="16" name="TextBox 15"/>
          <p:cNvSpPr txBox="1"/>
          <p:nvPr/>
        </p:nvSpPr>
        <p:spPr>
          <a:xfrm>
            <a:off x="5456224" y="4526280"/>
            <a:ext cx="4572000" cy="594360"/>
          </a:xfrm>
          <a:prstGeom prst="rect">
            <a:avLst/>
          </a:prstGeom>
          <a:noFill/>
        </p:spPr>
        <p:txBody>
          <a:bodyPr wrap="square" anchor="t"/>
          <a:lstStyle/>
          <a:p>
            <a:pPr algn="l">
              <a:defRPr sz="1500" b="0">
                <a:solidFill>
                  <a:srgbClr val="DDDDFF"/>
                </a:solidFill>
                <a:latin typeface="Segoe UI"/>
              </a:defRPr>
            </a:pPr>
            <a:r>
              <a:t>How to reason — anti-hallucination, root-cause analysis</a:t>
            </a:r>
          </a:p>
        </p:txBody>
      </p:sp>
      <p:sp>
        <p:nvSpPr>
          <p:cNvPr id="17" name="Rounded Rectangle 16"/>
          <p:cNvSpPr/>
          <p:nvPr/>
        </p:nvSpPr>
        <p:spPr>
          <a:xfrm>
            <a:off x="1981504" y="5394960"/>
            <a:ext cx="8229600" cy="777240"/>
          </a:xfrm>
          <a:prstGeom prst="roundRect">
            <a:avLst/>
          </a:prstGeom>
          <a:solidFill>
            <a:srgbClr val="003D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55824" y="5486400"/>
            <a:ext cx="3200400" cy="594360"/>
          </a:xfrm>
          <a:prstGeom prst="rect">
            <a:avLst/>
          </a:prstGeom>
          <a:noFill/>
        </p:spPr>
        <p:txBody>
          <a:bodyPr wrap="square" anchor="t"/>
          <a:lstStyle/>
          <a:p>
            <a:pPr algn="l">
              <a:defRPr sz="1800" b="1">
                <a:solidFill>
                  <a:srgbClr val="FFFFFF"/>
                </a:solidFill>
                <a:latin typeface="Segoe UI Semibold"/>
              </a:defRPr>
            </a:pPr>
            <a:r>
              <a:t>PERSONA</a:t>
            </a:r>
          </a:p>
        </p:txBody>
      </p:sp>
      <p:sp>
        <p:nvSpPr>
          <p:cNvPr id="19" name="TextBox 18"/>
          <p:cNvSpPr txBox="1"/>
          <p:nvPr/>
        </p:nvSpPr>
        <p:spPr>
          <a:xfrm>
            <a:off x="5456224" y="5486400"/>
            <a:ext cx="4572000" cy="594360"/>
          </a:xfrm>
          <a:prstGeom prst="rect">
            <a:avLst/>
          </a:prstGeom>
          <a:noFill/>
        </p:spPr>
        <p:txBody>
          <a:bodyPr wrap="square" anchor="t"/>
          <a:lstStyle/>
          <a:p>
            <a:pPr algn="l">
              <a:defRPr sz="1500" b="0">
                <a:solidFill>
                  <a:srgbClr val="DDDDFF"/>
                </a:solidFill>
                <a:latin typeface="Segoe UI"/>
              </a:defRPr>
            </a:pPr>
            <a:r>
              <a:t>Who the LLM is — systems engineer, security auditor...</a:t>
            </a:r>
          </a:p>
        </p:txBody>
      </p:sp>
      <p:sp>
        <p:nvSpPr>
          <p:cNvPr id="20" name="TextBox 19"/>
          <p:cNvSpPr txBox="1"/>
          <p:nvPr/>
        </p:nvSpPr>
        <p:spPr>
          <a:xfrm>
            <a:off x="731520" y="6217920"/>
            <a:ext cx="10698480" cy="457200"/>
          </a:xfrm>
          <a:prstGeom prst="rect">
            <a:avLst/>
          </a:prstGeom>
          <a:noFill/>
        </p:spPr>
        <p:txBody>
          <a:bodyPr wrap="square" anchor="t"/>
          <a:lstStyle/>
          <a:p>
            <a:pPr algn="l">
              <a:defRPr sz="1400" b="0">
                <a:solidFill>
                  <a:srgbClr val="666666"/>
                </a:solidFill>
                <a:latin typeface="Segoe UI"/>
              </a:defRPr>
            </a:pPr>
            <a:r>
              <a:t>Each layer is a separate Markdown file — compose by reference, not by copy-paste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Layer 1 — Personas: Who the LLM Is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15 built-in personas across 6 engineering domains</a:t>
            </a:r>
          </a:p>
          <a:p>
            <a:pPr>
              <a:spcAft>
                <a:spcPts val="400"/>
              </a:spcAft>
            </a:pPr>
            <a:r>
              <a:rPr sz="1800">
                <a:solidFill>
                  <a:srgbClr val="1A1A1A"/>
                </a:solidFill>
                <a:latin typeface="Segoe UI"/>
              </a:rPr>
              <a:t>Software:  systems-engineer · security-auditor · software-architect</a:t>
            </a:r>
          </a:p>
          <a:p>
            <a:pPr>
              <a:spcAft>
                <a:spcPts val="400"/>
              </a:spcAft>
            </a:pPr>
            <a:r>
              <a:rPr sz="1800">
                <a:solidFill>
                  <a:srgbClr val="1A1A1A"/>
                </a:solidFill>
                <a:latin typeface="Segoe UI"/>
              </a:rPr>
              <a:t>Hardware:  electrical-engineer · embedded-firmware-engineer · rf-engineer · mechanical-engineer</a:t>
            </a:r>
          </a:p>
          <a:p>
            <a:pPr>
              <a:spcAft>
                <a:spcPts val="1400"/>
              </a:spcAft>
            </a:pPr>
            <a:r>
              <a:rPr sz="1800">
                <a:solidFill>
                  <a:srgbClr val="1A1A1A"/>
                </a:solidFill>
                <a:latin typeface="Segoe UI"/>
              </a:rPr>
              <a:t>Specialty:  protocol-architect · specification-analyst · reverse-engineer · test-engineer</a:t>
            </a:r>
          </a:p>
          <a:p>
            <a:pPr>
              <a:spcAft>
                <a:spcPts val="1400"/>
              </a:spcAft>
            </a:pPr>
            <a:r>
              <a:rPr sz="1800">
                <a:solidFill>
                  <a:srgbClr val="1A1A1A"/>
                </a:solidFill>
                <a:latin typeface="Segoe UI"/>
              </a:rPr>
              <a:t>Each defines: domain expertise, tone, behavioral constraints, reasoning style</a:t>
            </a:r>
          </a:p>
          <a:p>
            <a:pPr>
              <a:spcAft>
                <a:spcPts val="0"/>
              </a:spcAft>
            </a:pPr>
            <a:r>
              <a:rPr sz="1800">
                <a:solidFill>
                  <a:srgbClr val="1A1A1A"/>
                </a:solidFill>
                <a:latin typeface="Segoe UI"/>
              </a:rPr>
              <a:t>Or define your own custom persona inline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Layer 2 — Protocols: How the LLM Reasons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48 protocols in three categories:</a:t>
            </a:r>
          </a:p>
          <a:p>
            <a:pPr>
              <a:spcAft>
                <a:spcPts val="400"/>
              </a:spcAft>
            </a:pPr>
            <a:r>
              <a:rPr sz="1800">
                <a:solidFill>
                  <a:srgbClr val="1A1A1A"/>
                </a:solidFill>
                <a:latin typeface="Segoe UI"/>
              </a:rPr>
              <a:t>Guardrails (5) — Cross-cutting safety</a:t>
            </a:r>
          </a:p>
          <a:p>
            <a:pPr>
              <a:spcAft>
                <a:spcPts val="1400"/>
              </a:spcAft>
            </a:pPr>
            <a:r>
              <a:rPr sz="1800">
                <a:solidFill>
                  <a:srgbClr val="1A1A1A"/>
                </a:solidFill>
                <a:latin typeface="Segoe UI"/>
              </a:rPr>
              <a:t>    anti-hallucination · self-verification · adversarial-falsification · minimal-edit-discipline · operational-constraints</a:t>
            </a:r>
          </a:p>
          <a:p>
            <a:pPr>
              <a:spcAft>
                <a:spcPts val="400"/>
              </a:spcAft>
            </a:pPr>
            <a:r>
              <a:rPr sz="1800">
                <a:solidFill>
                  <a:srgbClr val="1A1A1A"/>
                </a:solidFill>
                <a:latin typeface="Segoe UI"/>
              </a:rPr>
              <a:t>Analysis (17) — Domain-specific checks</a:t>
            </a:r>
          </a:p>
          <a:p>
            <a:pPr>
              <a:spcAft>
                <a:spcPts val="1400"/>
              </a:spcAft>
            </a:pPr>
            <a:r>
              <a:rPr sz="1800">
                <a:solidFill>
                  <a:srgbClr val="1A1A1A"/>
                </a:solidFill>
                <a:latin typeface="Segoe UI"/>
              </a:rPr>
              <a:t>    memory-safety-c · thread-safety · security-vulnerability · schematic-compliance · kernel-correctness · and more...</a:t>
            </a:r>
          </a:p>
          <a:p>
            <a:pPr>
              <a:spcAft>
                <a:spcPts val="400"/>
              </a:spcAft>
            </a:pPr>
            <a:r>
              <a:rPr sz="1800">
                <a:solidFill>
                  <a:srgbClr val="1A1A1A"/>
                </a:solidFill>
                <a:latin typeface="Segoe UI"/>
              </a:rPr>
              <a:t>Reasoning (26) — Systematic methodologies</a:t>
            </a:r>
          </a:p>
          <a:p>
            <a:pPr>
              <a:spcAft>
                <a:spcPts val="1400"/>
              </a:spcAft>
            </a:pPr>
            <a:r>
              <a:rPr sz="1800">
                <a:solidFill>
                  <a:srgbClr val="1A1A1A"/>
                </a:solidFill>
                <a:latin typeface="Segoe UI"/>
              </a:rPr>
              <a:t>    root-cause-analysis · requirements-elicitation · traceability-audit · protocol-evolution · change-propagation · and more...</a:t>
            </a:r>
          </a:p>
          <a:p>
            <a:pPr>
              <a:spcAft>
                <a:spcPts val="0"/>
              </a:spcAft>
            </a:pPr>
            <a:r>
              <a:rPr sz="1800">
                <a:solidFill>
                  <a:srgbClr val="1A1A1A"/>
                </a:solidFill>
                <a:latin typeface="Segoe UI"/>
              </a:rPr>
              <a:t>Each is a multi-phase, step-by-step methodology — protocols compose additively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Layers 3 &amp; 4 — Formats and Taxonomies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400"/>
              </a:spcAft>
            </a:pPr>
            <a:r>
              <a:rPr sz="1800">
                <a:solidFill>
                  <a:srgbClr val="1A1A1A"/>
                </a:solidFill>
                <a:latin typeface="Segoe UI"/>
              </a:rPr>
              <a:t>21 output formats — structured document templates:</a:t>
            </a:r>
          </a:p>
          <a:p>
            <a:pPr>
              <a:spcAft>
                <a:spcPts val="1400"/>
              </a:spcAft>
            </a:pPr>
            <a:r>
              <a:rPr sz="1800">
                <a:solidFill>
                  <a:srgbClr val="1A1A1A"/>
                </a:solidFill>
                <a:latin typeface="Segoe UI"/>
              </a:rPr>
              <a:t>    investigation-report · requirements-doc · design-doc · validation-plan · structured-patch · presentation-kit · agent-instructions · and more...</a:t>
            </a:r>
          </a:p>
          <a:p>
            <a:pPr>
              <a:spcAft>
                <a:spcPts val="400"/>
              </a:spcAft>
            </a:pPr>
            <a:r>
              <a:rPr sz="1800">
                <a:solidFill>
                  <a:srgbClr val="1A1A1A"/>
                </a:solidFill>
                <a:latin typeface="Segoe UI"/>
              </a:rPr>
              <a:t>5 classification taxonomies:</a:t>
            </a:r>
          </a:p>
          <a:p>
            <a:pPr>
              <a:spcAft>
                <a:spcPts val="400"/>
              </a:spcAft>
            </a:pPr>
            <a:r>
              <a:rPr sz="1800">
                <a:solidFill>
                  <a:srgbClr val="1A1A1A"/>
                </a:solidFill>
                <a:latin typeface="Segoe UI"/>
              </a:rPr>
              <a:t>    specification-drift (D1–D16): Cross-document divergence</a:t>
            </a:r>
          </a:p>
          <a:p>
            <a:pPr>
              <a:spcAft>
                <a:spcPts val="400"/>
              </a:spcAft>
            </a:pPr>
            <a:r>
              <a:rPr sz="1800">
                <a:solidFill>
                  <a:srgbClr val="1A1A1A"/>
                </a:solidFill>
                <a:latin typeface="Segoe UI"/>
              </a:rPr>
              <a:t>    kernel-defect-categories (K1–K14): OS kernel/driver defects</a:t>
            </a:r>
          </a:p>
          <a:p>
            <a:pPr>
              <a:spcAft>
                <a:spcPts val="400"/>
              </a:spcAft>
            </a:pPr>
            <a:r>
              <a:rPr sz="1800">
                <a:solidFill>
                  <a:srgbClr val="1A1A1A"/>
                </a:solidFill>
                <a:latin typeface="Segoe UI"/>
              </a:rPr>
              <a:t>    stack-lifetime-hazards (H1–H5): Memory escape hazards</a:t>
            </a:r>
          </a:p>
          <a:p>
            <a:pPr>
              <a:spcAft>
                <a:spcPts val="400"/>
              </a:spcAft>
            </a:pPr>
            <a:r>
              <a:rPr sz="1800">
                <a:solidFill>
                  <a:srgbClr val="1A1A1A"/>
                </a:solidFill>
                <a:latin typeface="Segoe UI"/>
              </a:rPr>
              <a:t>    cpp-review-patterns (19 labels): C++ code review findings</a:t>
            </a:r>
          </a:p>
          <a:p>
            <a:pPr>
              <a:spcAft>
                <a:spcPts val="1400"/>
              </a:spcAft>
            </a:pPr>
            <a:r>
              <a:rPr sz="1800">
                <a:solidFill>
                  <a:srgbClr val="1A1A1A"/>
                </a:solidFill>
                <a:latin typeface="Segoe UI"/>
              </a:rPr>
              <a:t>    protocol-change-categories (PC1–PC8): Protocol changes</a:t>
            </a:r>
          </a:p>
          <a:p>
            <a:pPr>
              <a:spcAft>
                <a:spcPts val="0"/>
              </a:spcAft>
            </a:pPr>
            <a:r>
              <a:rPr sz="1800">
                <a:solidFill>
                  <a:srgbClr val="1A1A1A"/>
                </a:solidFill>
                <a:latin typeface="Segoe UI"/>
              </a:rPr>
              <a:t>Fun fact: this presentation was built with PromptKit's author-presentation template + presentation-kit format!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Layer 5 — Templates: The Task Itself</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698480"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3749039"/>
          </a:xfrm>
          <a:prstGeom prst="rect">
            <a:avLst/>
          </a:prstGeom>
          <a:noFill/>
        </p:spPr>
        <p:txBody>
          <a:bodyPr wrap="square" anchor="t"/>
          <a:lstStyle/>
          <a:p>
            <a:pPr algn="l">
              <a:defRPr sz="1500" b="0">
                <a:solidFill>
                  <a:srgbClr val="D4D4D4"/>
                </a:solidFill>
                <a:latin typeface="Cascadia Code"/>
              </a:defRPr>
            </a:pPr>
            <a:r>
              <a:t>---</a:t>
            </a:r>
            <a:br/>
            <a:r>
              <a:t>name: investigate-bug</a:t>
            </a:r>
            <a:br/>
            <a:r>
              <a:t>persona: systems-engineer</a:t>
            </a:r>
            <a:br/>
            <a:r>
              <a:t>protocols:</a:t>
            </a:r>
            <a:br/>
            <a:r>
              <a:t>  - guardrails/anti-hallucination</a:t>
            </a:r>
            <a:br/>
            <a:r>
              <a:t>  - guardrails/self-verification</a:t>
            </a:r>
            <a:br/>
            <a:r>
              <a:t>  - guardrails/operational-constraints</a:t>
            </a:r>
            <a:br/>
            <a:r>
              <a:t>  - reasoning/root-cause-analysis</a:t>
            </a:r>
            <a:br/>
            <a:r>
              <a:t>taxonomies:</a:t>
            </a:r>
            <a:br/>
            <a:r>
              <a:t>  - stack-lifetime-hazards</a:t>
            </a:r>
            <a:br/>
            <a:r>
              <a:t>format: investigation-report</a:t>
            </a:r>
            <a:br/>
            <a:r>
              <a:t>params:</a:t>
            </a:r>
            <a:br/>
            <a:r>
              <a:t>  problem_description: "What is the bug?"</a:t>
            </a:r>
            <a:br/>
            <a:r>
              <a:t>  code_context: "Relevant source code"</a:t>
            </a:r>
            <a:br/>
            <a:r>
              <a:t>  environment: "OS, compiler, runtime"</a:t>
            </a:r>
            <a:br/>
            <a:r>
              <a:t>---</a:t>
            </a:r>
          </a:p>
        </p:txBody>
      </p:sp>
      <p:sp>
        <p:nvSpPr>
          <p:cNvPr id="7" name="TextBox 6"/>
          <p:cNvSpPr txBox="1"/>
          <p:nvPr/>
        </p:nvSpPr>
        <p:spPr>
          <a:xfrm>
            <a:off x="731520" y="5852160"/>
            <a:ext cx="10698480" cy="731520"/>
          </a:xfrm>
          <a:prstGeom prst="rect">
            <a:avLst/>
          </a:prstGeom>
          <a:noFill/>
        </p:spPr>
        <p:txBody>
          <a:bodyPr wrap="square" anchor="t"/>
          <a:lstStyle/>
          <a:p>
            <a:pPr algn="l">
              <a:defRPr sz="1600" b="0">
                <a:solidFill>
                  <a:srgbClr val="1A1A1A"/>
                </a:solidFill>
                <a:latin typeface="Segoe UI"/>
              </a:defRPr>
            </a:pPr>
            <a:r>
              <a:t>64 templates — each composes persona + protocols + format via YAML frontmatter.</a:t>
            </a:r>
            <a:br/>
            <a:r>
              <a:t>Templates declare input/output contracts → enables chaining into pipelines.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How Components Snap Together</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698480"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3749039"/>
          </a:xfrm>
          <a:prstGeom prst="rect">
            <a:avLst/>
          </a:prstGeom>
          <a:noFill/>
        </p:spPr>
        <p:txBody>
          <a:bodyPr wrap="square" anchor="t"/>
          <a:lstStyle/>
          <a:p>
            <a:pPr algn="l">
              <a:defRPr sz="1500" b="0">
                <a:solidFill>
                  <a:srgbClr val="D4D4D4"/>
                </a:solidFill>
                <a:latin typeface="Cascadia Code"/>
              </a:defRPr>
            </a:pPr>
            <a:r>
              <a:t># Identity</a:t>
            </a:r>
            <a:br/>
            <a:r>
              <a:t>You are a senior systems engineer with deep expertise</a:t>
            </a:r>
            <a:br/>
            <a:r>
              <a:t>in memory management, concurrency, and debugging...</a:t>
            </a:r>
            <a:br/>
            <a:br/>
            <a:r>
              <a:t># Reasoning Protocols</a:t>
            </a:r>
            <a:br/>
            <a:r>
              <a:t>## Protocol: Anti-Hallucination Guardrails</a:t>
            </a:r>
            <a:br/>
            <a:r>
              <a:t>Rule 1: Every claim must be KNOWN, INFERRED, or ASSUMED...</a:t>
            </a:r>
            <a:br/>
            <a:br/>
            <a:r>
              <a:t>## Protocol: Root Cause Analysis</a:t>
            </a:r>
            <a:br/>
            <a:r>
              <a:t>Phase 1: Characterize the symptom precisely...</a:t>
            </a:r>
            <a:br/>
            <a:r>
              <a:t>Phase 2: Generate &gt;= 3 hypotheses before investigating...</a:t>
            </a:r>
            <a:br/>
            <a:br/>
            <a:r>
              <a:t># Output Format</a:t>
            </a:r>
            <a:br/>
            <a:r>
              <a:t>Output MUST contain: Executive Summary, Findings,</a:t>
            </a:r>
            <a:br/>
            <a:r>
              <a:t>Root Cause, Remediation, Prevention...</a:t>
            </a:r>
            <a:br/>
            <a:br/>
            <a:r>
              <a:t># Task</a:t>
            </a:r>
            <a:br/>
            <a:r>
              <a:t>Investigate: segfault on startup under high connection load...</a:t>
            </a:r>
          </a:p>
        </p:txBody>
      </p:sp>
      <p:sp>
        <p:nvSpPr>
          <p:cNvPr id="7" name="TextBox 6"/>
          <p:cNvSpPr txBox="1"/>
          <p:nvPr/>
        </p:nvSpPr>
        <p:spPr>
          <a:xfrm>
            <a:off x="731520" y="5852160"/>
            <a:ext cx="10698480" cy="731520"/>
          </a:xfrm>
          <a:prstGeom prst="rect">
            <a:avLst/>
          </a:prstGeom>
          <a:noFill/>
        </p:spPr>
        <p:txBody>
          <a:bodyPr wrap="square" anchor="t"/>
          <a:lstStyle/>
          <a:p>
            <a:pPr algn="l">
              <a:defRPr sz="1600" b="0">
                <a:solidFill>
                  <a:srgbClr val="1A1A1A"/>
                </a:solidFill>
                <a:latin typeface="Segoe UI"/>
              </a:defRPr>
            </a:pPr>
            <a:r>
              <a:t>Components are included verbatim — no summarization. One coherent Markdown document.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52CC"/>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nchor="ctr"/>
          <a:lstStyle/>
          <a:p>
            <a:pPr algn="ctr">
              <a:defRPr sz="4400" b="1">
                <a:solidFill>
                  <a:srgbClr val="FFFFFF"/>
                </a:solidFill>
                <a:latin typeface="Segoe UI Semibold"/>
              </a:defRPr>
            </a:pPr>
            <a:r>
              <a:t>Part 2</a:t>
            </a:r>
            <a:br/>
            <a:r>
              <a:t>Protocol Spotlights</a:t>
            </a:r>
          </a:p>
        </p:txBody>
      </p:sp>
      <p:sp>
        <p:nvSpPr>
          <p:cNvPr id="3" name="Rounded Rectangle 2"/>
          <p:cNvSpPr/>
          <p:nvPr/>
        </p:nvSpPr>
        <p:spPr>
          <a:xfrm>
            <a:off x="4572000" y="201168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484632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Spotlight: Anti-Hallucination Guardrails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400"/>
              </a:spcAft>
            </a:pPr>
            <a:r>
              <a:rPr sz="1800">
                <a:solidFill>
                  <a:srgbClr val="1A1A1A"/>
                </a:solidFill>
                <a:latin typeface="Segoe UI"/>
              </a:rPr>
              <a:t>Epistemic Labeling — every claim must be categorized:</a:t>
            </a:r>
          </a:p>
          <a:p>
            <a:pPr>
              <a:spcAft>
                <a:spcPts val="400"/>
              </a:spcAft>
            </a:pPr>
            <a:r>
              <a:rPr sz="1800">
                <a:solidFill>
                  <a:srgbClr val="1A1A1A"/>
                </a:solidFill>
                <a:latin typeface="Segoe UI"/>
              </a:rPr>
              <a:t>    KNOWN: Directly stated in the provided context</a:t>
            </a:r>
          </a:p>
          <a:p>
            <a:pPr>
              <a:spcAft>
                <a:spcPts val="400"/>
              </a:spcAft>
            </a:pPr>
            <a:r>
              <a:rPr sz="1800">
                <a:solidFill>
                  <a:srgbClr val="1A1A1A"/>
                </a:solidFill>
                <a:latin typeface="Segoe UI"/>
              </a:rPr>
              <a:t>    INFERRED: Reasonable conclusion with explicit reasoning chain</a:t>
            </a:r>
          </a:p>
          <a:p>
            <a:pPr>
              <a:spcAft>
                <a:spcPts val="1400"/>
              </a:spcAft>
            </a:pPr>
            <a:r>
              <a:rPr sz="1800">
                <a:solidFill>
                  <a:srgbClr val="1A1A1A"/>
                </a:solidFill>
                <a:latin typeface="Segoe UI"/>
              </a:rPr>
              <a:t>    ASSUMED: Not established — flagged with [ASSUMPTION]</a:t>
            </a:r>
          </a:p>
          <a:p>
            <a:pPr>
              <a:spcAft>
                <a:spcPts val="1400"/>
              </a:spcAft>
            </a:pPr>
            <a:r>
              <a:rPr sz="1800">
                <a:solidFill>
                  <a:srgbClr val="1A1A1A"/>
                </a:solidFill>
                <a:latin typeface="Segoe UI"/>
              </a:rPr>
              <a:t>Refusal to Fabricate — no invented function names, API signatures, version numbers. Use [UNKNOWN] placeholders instead.</a:t>
            </a:r>
          </a:p>
          <a:p>
            <a:pPr>
              <a:spcAft>
                <a:spcPts val="1400"/>
              </a:spcAft>
            </a:pPr>
            <a:r>
              <a:rPr sz="1800">
                <a:solidFill>
                  <a:srgbClr val="1A1A1A"/>
                </a:solidFill>
                <a:latin typeface="Segoe UI"/>
              </a:rPr>
              <a:t>Uncertainty Disclosure — enumerate multiple interpretations, don't choose one silently</a:t>
            </a:r>
          </a:p>
          <a:p>
            <a:pPr>
              <a:spcAft>
                <a:spcPts val="1400"/>
              </a:spcAft>
            </a:pPr>
            <a:r>
              <a:rPr sz="1800">
                <a:solidFill>
                  <a:srgbClr val="1A1A1A"/>
                </a:solidFill>
                <a:latin typeface="Segoe UI"/>
              </a:rPr>
              <a:t>Source Attribution — cite where information came from ("per requirements doc, section 3.2")</a:t>
            </a:r>
          </a:p>
          <a:p>
            <a:pPr>
              <a:spcAft>
                <a:spcPts val="0"/>
              </a:spcAft>
            </a:pPr>
            <a:r>
              <a:rPr sz="1800">
                <a:solidFill>
                  <a:srgbClr val="1A1A1A"/>
                </a:solidFill>
                <a:latin typeface="Segoe UI"/>
              </a:rPr>
              <a:t>Hard trigger: if ASSUMED content exceeds ~30%, stop and request more context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Spotlight: Root-Cause Analysis Protocol</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400"/>
              </a:spcAft>
            </a:pPr>
            <a:r>
              <a:rPr sz="1800">
                <a:solidFill>
                  <a:srgbClr val="1A1A1A"/>
                </a:solidFill>
                <a:latin typeface="Segoe UI"/>
              </a:rPr>
              <a:t>Phase 1 — Symptom Characterization</a:t>
            </a:r>
          </a:p>
          <a:p>
            <a:pPr>
              <a:spcAft>
                <a:spcPts val="1400"/>
              </a:spcAft>
            </a:pPr>
            <a:r>
              <a:rPr sz="1800">
                <a:solidFill>
                  <a:srgbClr val="1A1A1A"/>
                </a:solidFill>
                <a:latin typeface="Segoe UI"/>
              </a:rPr>
              <a:t>    Describe precisely, establish timeline, determine blast radius</a:t>
            </a:r>
          </a:p>
          <a:p>
            <a:pPr>
              <a:spcAft>
                <a:spcPts val="400"/>
              </a:spcAft>
            </a:pPr>
            <a:r>
              <a:rPr sz="1800">
                <a:solidFill>
                  <a:srgbClr val="1A1A1A"/>
                </a:solidFill>
                <a:latin typeface="Segoe UI"/>
              </a:rPr>
              <a:t>Phase 2 — Hypothesis Generation</a:t>
            </a:r>
          </a:p>
          <a:p>
            <a:pPr>
              <a:spcAft>
                <a:spcPts val="400"/>
              </a:spcAft>
            </a:pPr>
            <a:r>
              <a:rPr sz="1800">
                <a:solidFill>
                  <a:srgbClr val="1A1A1A"/>
                </a:solidFill>
                <a:latin typeface="Segoe UI"/>
              </a:rPr>
              <a:t>    Generate &gt;= 3 hypotheses before investigating ANY of them</a:t>
            </a:r>
          </a:p>
          <a:p>
            <a:pPr>
              <a:spcAft>
                <a:spcPts val="1400"/>
              </a:spcAft>
            </a:pPr>
            <a:r>
              <a:rPr sz="1800">
                <a:solidFill>
                  <a:srgbClr val="1A1A1A"/>
                </a:solidFill>
                <a:latin typeface="Segoe UI"/>
              </a:rPr>
              <a:t>    Include one "non-obvious" hypothesis. No anchoring on first guess.</a:t>
            </a:r>
          </a:p>
          <a:p>
            <a:pPr>
              <a:spcAft>
                <a:spcPts val="400"/>
              </a:spcAft>
            </a:pPr>
            <a:r>
              <a:rPr sz="1800">
                <a:solidFill>
                  <a:srgbClr val="1A1A1A"/>
                </a:solidFill>
                <a:latin typeface="Segoe UI"/>
              </a:rPr>
              <a:t>Phase 3 — Evidence Gathering &amp; Elimination</a:t>
            </a:r>
          </a:p>
          <a:p>
            <a:pPr>
              <a:spcAft>
                <a:spcPts val="1400"/>
              </a:spcAft>
            </a:pPr>
            <a:r>
              <a:rPr sz="1800">
                <a:solidFill>
                  <a:srgbClr val="1A1A1A"/>
                </a:solidFill>
                <a:latin typeface="Segoe UI"/>
              </a:rPr>
              <a:t>    For each hypothesis: minimal investigation to confirm/eliminate. Classify: CONFIRMED / ELIMINATED / INCONCLUSIVE</a:t>
            </a:r>
          </a:p>
          <a:p>
            <a:pPr>
              <a:spcAft>
                <a:spcPts val="400"/>
              </a:spcAft>
            </a:pPr>
            <a:r>
              <a:rPr sz="1800">
                <a:solidFill>
                  <a:srgbClr val="1A1A1A"/>
                </a:solidFill>
                <a:latin typeface="Segoe UI"/>
              </a:rPr>
              <a:t>Phase 4 — Root Cause Identification</a:t>
            </a:r>
          </a:p>
          <a:p>
            <a:pPr>
              <a:spcAft>
                <a:spcPts val="1400"/>
              </a:spcAft>
            </a:pPr>
            <a:r>
              <a:rPr sz="1800">
                <a:solidFill>
                  <a:srgbClr val="1A1A1A"/>
                </a:solidFill>
                <a:latin typeface="Segoe UI"/>
              </a:rPr>
              <a:t>    Distinguish root cause from proximate cause. Trace full causal chain. "If we fix only the proximate cause, will the root cause produce other failures?"</a:t>
            </a:r>
          </a:p>
          <a:p>
            <a:pPr>
              <a:spcAft>
                <a:spcPts val="0"/>
              </a:spcAft>
            </a:pPr>
            <a:r>
              <a:rPr sz="1800">
                <a:solidFill>
                  <a:srgbClr val="1A1A1A"/>
                </a:solidFill>
                <a:latin typeface="Segoe UI"/>
              </a:rPr>
              <a:t>Phase 5 — Remediation: Fix the root cause, not the symptom. Propose secondary fixes.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52CC"/>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nchor="ctr"/>
          <a:lstStyle/>
          <a:p>
            <a:pPr algn="ctr">
              <a:defRPr sz="4400" b="1">
                <a:solidFill>
                  <a:srgbClr val="FFFFFF"/>
                </a:solidFill>
                <a:latin typeface="Segoe UI Semibold"/>
              </a:defRPr>
            </a:pPr>
            <a:r>
              <a:t>Part 3</a:t>
            </a:r>
            <a:br/>
            <a:r>
              <a:t>What Can You Do With PromptKit?</a:t>
            </a:r>
          </a:p>
        </p:txBody>
      </p:sp>
      <p:sp>
        <p:nvSpPr>
          <p:cNvPr id="3" name="Rounded Rectangle 2"/>
          <p:cNvSpPr/>
          <p:nvPr/>
        </p:nvSpPr>
        <p:spPr>
          <a:xfrm>
            <a:off x="4572000" y="201168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484632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157 Components Across 6 Engineering Domains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698479" cy="3200400"/>
        </p:xfrm>
        <a:graphic>
          <a:graphicData uri="http://schemas.openxmlformats.org/drawingml/2006/table">
            <a:tbl>
              <a:tblPr firstRow="1" bandRow="1">
                <a:tableStyleId>{5C22544A-7EE6-4342-B048-85BDC9FD1C3A}</a:tableStyleId>
              </a:tblPr>
              <a:tblGrid>
                <a:gridCol w="2743200"/>
                <a:gridCol w="7955279"/>
              </a:tblGrid>
              <a:tr h="457200">
                <a:tc>
                  <a:txBody>
                    <a:bodyPr/>
                    <a:lstStyle/>
                    <a:p>
                      <a:pPr>
                        <a:defRPr sz="1600" b="1">
                          <a:solidFill>
                            <a:srgbClr val="FFFFFF"/>
                          </a:solidFill>
                          <a:latin typeface="Segoe UI Semibold"/>
                        </a:defRPr>
                      </a:pPr>
                      <a:r>
                        <a:t>Domain</a:t>
                      </a:r>
                    </a:p>
                  </a:txBody>
                  <a:tcPr>
                    <a:solidFill>
                      <a:srgbClr val="0052CC"/>
                    </a:solidFill>
                  </a:tcPr>
                </a:tc>
                <a:tc>
                  <a:txBody>
                    <a:bodyPr/>
                    <a:lstStyle/>
                    <a:p>
                      <a:pPr>
                        <a:defRPr sz="1600" b="1">
                          <a:solidFill>
                            <a:srgbClr val="FFFFFF"/>
                          </a:solidFill>
                          <a:latin typeface="Segoe UI Semibold"/>
                        </a:defRPr>
                      </a:pPr>
                      <a:r>
                        <a:t>What You Can Do</a:t>
                      </a:r>
                    </a:p>
                  </a:txBody>
                  <a:tcPr>
                    <a:solidFill>
                      <a:srgbClr val="0052CC"/>
                    </a:solidFill>
                  </a:tcPr>
                </a:tc>
              </a:tr>
              <a:tr h="457200">
                <a:tc>
                  <a:txBody>
                    <a:bodyPr/>
                    <a:lstStyle/>
                    <a:p>
                      <a:pPr>
                        <a:defRPr sz="1400">
                          <a:solidFill>
                            <a:srgbClr val="1A1A1A"/>
                          </a:solidFill>
                          <a:latin typeface="Segoe UI"/>
                        </a:defRPr>
                      </a:pPr>
                      <a:r>
                        <a:t>Software</a:t>
                      </a:r>
                    </a:p>
                  </a:txBody>
                  <a:tcPr>
                    <a:solidFill>
                      <a:srgbClr val="E8EFF7"/>
                    </a:solidFill>
                  </a:tcPr>
                </a:tc>
                <a:tc>
                  <a:txBody>
                    <a:bodyPr/>
                    <a:lstStyle/>
                    <a:p>
                      <a:pPr>
                        <a:defRPr sz="1400">
                          <a:solidFill>
                            <a:srgbClr val="1A1A1A"/>
                          </a:solidFill>
                          <a:latin typeface="Segoe UI"/>
                        </a:defRPr>
                      </a:pPr>
                      <a:r>
                        <a:t>Code review, bug investigation, requirements, design docs, testing, refactoring</a:t>
                      </a:r>
                    </a:p>
                  </a:txBody>
                  <a:tcPr>
                    <a:solidFill>
                      <a:srgbClr val="E8EFF7"/>
                    </a:solidFill>
                  </a:tcPr>
                </a:tc>
              </a:tr>
              <a:tr h="457200">
                <a:tc>
                  <a:txBody>
                    <a:bodyPr/>
                    <a:lstStyle/>
                    <a:p>
                      <a:pPr>
                        <a:defRPr sz="1400">
                          <a:solidFill>
                            <a:srgbClr val="1A1A1A"/>
                          </a:solidFill>
                          <a:latin typeface="Segoe UI"/>
                        </a:defRPr>
                      </a:pPr>
                      <a:r>
                        <a:t>Hardware / EE</a:t>
                      </a:r>
                    </a:p>
                  </a:txBody>
                  <a:tcPr>
                    <a:solidFill>
                      <a:srgbClr val="FFFFFF"/>
                    </a:solidFill>
                  </a:tcPr>
                </a:tc>
                <a:tc>
                  <a:txBody>
                    <a:bodyPr/>
                    <a:lstStyle/>
                    <a:p>
                      <a:pPr>
                        <a:defRPr sz="1400">
                          <a:solidFill>
                            <a:srgbClr val="1A1A1A"/>
                          </a:solidFill>
                          <a:latin typeface="Segoe UI"/>
                        </a:defRPr>
                      </a:pPr>
                      <a:r>
                        <a:t>Schematic review, BOM audit, PCB layout, simulation validation, power budgets</a:t>
                      </a:r>
                    </a:p>
                  </a:txBody>
                  <a:tcPr>
                    <a:solidFill>
                      <a:srgbClr val="FFFFFF"/>
                    </a:solidFill>
                  </a:tcPr>
                </a:tc>
              </a:tr>
              <a:tr h="457200">
                <a:tc>
                  <a:txBody>
                    <a:bodyPr/>
                    <a:lstStyle/>
                    <a:p>
                      <a:pPr>
                        <a:defRPr sz="1400">
                          <a:solidFill>
                            <a:srgbClr val="1A1A1A"/>
                          </a:solidFill>
                          <a:latin typeface="Segoe UI"/>
                        </a:defRPr>
                      </a:pPr>
                      <a:r>
                        <a:t>Embedded Firmware</a:t>
                      </a:r>
                    </a:p>
                  </a:txBody>
                  <a:tcPr>
                    <a:solidFill>
                      <a:srgbClr val="E8EFF7"/>
                    </a:solidFill>
                  </a:tcPr>
                </a:tc>
                <a:tc>
                  <a:txBody>
                    <a:bodyPr/>
                    <a:lstStyle/>
                    <a:p>
                      <a:pPr>
                        <a:defRPr sz="1400">
                          <a:solidFill>
                            <a:srgbClr val="1A1A1A"/>
                          </a:solidFill>
                          <a:latin typeface="Segoe UI"/>
                        </a:defRPr>
                      </a:pPr>
                      <a:r>
                        <a:t>Boot sequences, OTA updates, flash management, power-fail-safe, watchdogs</a:t>
                      </a:r>
                    </a:p>
                  </a:txBody>
                  <a:tcPr>
                    <a:solidFill>
                      <a:srgbClr val="E8EFF7"/>
                    </a:solidFill>
                  </a:tcPr>
                </a:tc>
              </a:tr>
              <a:tr h="457200">
                <a:tc>
                  <a:txBody>
                    <a:bodyPr/>
                    <a:lstStyle/>
                    <a:p>
                      <a:pPr>
                        <a:defRPr sz="1400">
                          <a:solidFill>
                            <a:srgbClr val="1A1A1A"/>
                          </a:solidFill>
                          <a:latin typeface="Segoe UI"/>
                        </a:defRPr>
                      </a:pPr>
                      <a:r>
                        <a:t>Protocol Engineering</a:t>
                      </a:r>
                    </a:p>
                  </a:txBody>
                  <a:tcPr>
                    <a:solidFill>
                      <a:srgbClr val="FFFFFF"/>
                    </a:solidFill>
                  </a:tcPr>
                </a:tc>
                <a:tc>
                  <a:txBody>
                    <a:bodyPr/>
                    <a:lstStyle/>
                    <a:p>
                      <a:pPr>
                        <a:defRPr sz="1400">
                          <a:solidFill>
                            <a:srgbClr val="1A1A1A"/>
                          </a:solidFill>
                          <a:latin typeface="Segoe UI"/>
                        </a:defRPr>
                      </a:pPr>
                      <a:r>
                        <a:t>RFC authoring, protocol evolution, conflict analysis, validation specs</a:t>
                      </a:r>
                    </a:p>
                  </a:txBody>
                  <a:tcPr>
                    <a:solidFill>
                      <a:srgbClr val="FFFFFF"/>
                    </a:solidFill>
                  </a:tcPr>
                </a:tc>
              </a:tr>
              <a:tr h="457200">
                <a:tc>
                  <a:txBody>
                    <a:bodyPr/>
                    <a:lstStyle/>
                    <a:p>
                      <a:pPr>
                        <a:defRPr sz="1400">
                          <a:solidFill>
                            <a:srgbClr val="1A1A1A"/>
                          </a:solidFill>
                          <a:latin typeface="Segoe UI"/>
                        </a:defRPr>
                      </a:pPr>
                      <a:r>
                        <a:t>Specification Analysis</a:t>
                      </a:r>
                    </a:p>
                  </a:txBody>
                  <a:tcPr>
                    <a:solidFill>
                      <a:srgbClr val="E8EFF7"/>
                    </a:solidFill>
                  </a:tcPr>
                </a:tc>
                <a:tc>
                  <a:txBody>
                    <a:bodyPr/>
                    <a:lstStyle/>
                    <a:p>
                      <a:pPr>
                        <a:defRPr sz="1400">
                          <a:solidFill>
                            <a:srgbClr val="1A1A1A"/>
                          </a:solidFill>
                          <a:latin typeface="Segoe UI"/>
                        </a:defRPr>
                      </a:pPr>
                      <a:r>
                        <a:t>Invariant extraction, traceability audits, interface contracts, spec diffing</a:t>
                      </a:r>
                    </a:p>
                  </a:txBody>
                  <a:tcPr>
                    <a:solidFill>
                      <a:srgbClr val="E8EFF7"/>
                    </a:solidFill>
                  </a:tcPr>
                </a:tc>
              </a:tr>
              <a:tr h="457200">
                <a:tc>
                  <a:txBody>
                    <a:bodyPr/>
                    <a:lstStyle/>
                    <a:p>
                      <a:pPr>
                        <a:defRPr sz="1400">
                          <a:solidFill>
                            <a:srgbClr val="1A1A1A"/>
                          </a:solidFill>
                          <a:latin typeface="Segoe UI"/>
                        </a:defRPr>
                      </a:pPr>
                      <a:r>
                        <a:t>DevOps &amp; CI/CD</a:t>
                      </a:r>
                    </a:p>
                  </a:txBody>
                  <a:tcPr>
                    <a:solidFill>
                      <a:srgbClr val="FFFFFF"/>
                    </a:solidFill>
                  </a:tcPr>
                </a:tc>
                <a:tc>
                  <a:txBody>
                    <a:bodyPr/>
                    <a:lstStyle/>
                    <a:p>
                      <a:pPr>
                        <a:defRPr sz="1400">
                          <a:solidFill>
                            <a:srgbClr val="1A1A1A"/>
                          </a:solidFill>
                          <a:latin typeface="Segoe UI"/>
                        </a:defRPr>
                      </a:pPr>
                      <a:r>
                        <a:t>Pipelines, issue triage, PR triage, releases, infrastructure review</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The Engineering Lifecycle: Bootstrap → Evolve → Maintain</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981504" y="1554480"/>
            <a:ext cx="8229600" cy="777240"/>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824" y="1645920"/>
            <a:ext cx="3200400" cy="594360"/>
          </a:xfrm>
          <a:prstGeom prst="rect">
            <a:avLst/>
          </a:prstGeom>
          <a:noFill/>
        </p:spPr>
        <p:txBody>
          <a:bodyPr wrap="square" anchor="t"/>
          <a:lstStyle/>
          <a:p>
            <a:pPr algn="l">
              <a:defRPr sz="1800" b="1">
                <a:solidFill>
                  <a:srgbClr val="FFFFFF"/>
                </a:solidFill>
                <a:latin typeface="Segoe UI Semibold"/>
              </a:defRPr>
            </a:pPr>
            <a:r>
              <a:t>BOOTSTRAP</a:t>
            </a:r>
          </a:p>
        </p:txBody>
      </p:sp>
      <p:sp>
        <p:nvSpPr>
          <p:cNvPr id="7" name="TextBox 6"/>
          <p:cNvSpPr txBox="1"/>
          <p:nvPr/>
        </p:nvSpPr>
        <p:spPr>
          <a:xfrm>
            <a:off x="5456224" y="1645920"/>
            <a:ext cx="4572000" cy="594360"/>
          </a:xfrm>
          <a:prstGeom prst="rect">
            <a:avLst/>
          </a:prstGeom>
          <a:noFill/>
        </p:spPr>
        <p:txBody>
          <a:bodyPr wrap="square" anchor="t"/>
          <a:lstStyle/>
          <a:p>
            <a:pPr algn="l">
              <a:defRPr sz="1500" b="0">
                <a:solidFill>
                  <a:srgbClr val="DDDDFF"/>
                </a:solidFill>
                <a:latin typeface="Segoe UI"/>
              </a:defRPr>
            </a:pPr>
            <a:r>
              <a:t>Scan any repo, extract requirements + design + validation specs</a:t>
            </a:r>
          </a:p>
        </p:txBody>
      </p:sp>
      <p:sp>
        <p:nvSpPr>
          <p:cNvPr id="8" name="Rounded Rectangle 7"/>
          <p:cNvSpPr/>
          <p:nvPr/>
        </p:nvSpPr>
        <p:spPr>
          <a:xfrm>
            <a:off x="1981504" y="2514600"/>
            <a:ext cx="8229600" cy="777240"/>
          </a:xfrm>
          <a:prstGeom prst="roundRect">
            <a:avLst/>
          </a:prstGeom>
          <a:solidFill>
            <a:srgbClr val="006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55824" y="2606040"/>
            <a:ext cx="3200400" cy="594360"/>
          </a:xfrm>
          <a:prstGeom prst="rect">
            <a:avLst/>
          </a:prstGeom>
          <a:noFill/>
        </p:spPr>
        <p:txBody>
          <a:bodyPr wrap="square" anchor="t"/>
          <a:lstStyle/>
          <a:p>
            <a:pPr algn="l">
              <a:defRPr sz="1800" b="1">
                <a:solidFill>
                  <a:srgbClr val="FFFFFF"/>
                </a:solidFill>
                <a:latin typeface="Segoe UI Semibold"/>
              </a:defRPr>
            </a:pPr>
            <a:r>
              <a:t>EVOLVE</a:t>
            </a:r>
          </a:p>
        </p:txBody>
      </p:sp>
      <p:sp>
        <p:nvSpPr>
          <p:cNvPr id="10" name="TextBox 9"/>
          <p:cNvSpPr txBox="1"/>
          <p:nvPr/>
        </p:nvSpPr>
        <p:spPr>
          <a:xfrm>
            <a:off x="5456224" y="2606040"/>
            <a:ext cx="4572000" cy="594360"/>
          </a:xfrm>
          <a:prstGeom prst="rect">
            <a:avLst/>
          </a:prstGeom>
          <a:noFill/>
        </p:spPr>
        <p:txBody>
          <a:bodyPr wrap="square" anchor="t"/>
          <a:lstStyle/>
          <a:p>
            <a:pPr algn="l">
              <a:defRPr sz="1500" b="0">
                <a:solidFill>
                  <a:srgbClr val="DDDDFF"/>
                </a:solidFill>
                <a:latin typeface="Segoe UI"/>
              </a:defRPr>
            </a:pPr>
            <a:r>
              <a:t>Propagate changes through specs &amp; implementation with adversarial audits</a:t>
            </a:r>
          </a:p>
        </p:txBody>
      </p:sp>
      <p:sp>
        <p:nvSpPr>
          <p:cNvPr id="11" name="Rounded Rectangle 10"/>
          <p:cNvSpPr/>
          <p:nvPr/>
        </p:nvSpPr>
        <p:spPr>
          <a:xfrm>
            <a:off x="1981504" y="3474720"/>
            <a:ext cx="8229600" cy="777240"/>
          </a:xfrm>
          <a:prstGeom prst="roundRect">
            <a:avLst/>
          </a:prstGeom>
          <a:solidFill>
            <a:srgbClr val="008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55824" y="3566160"/>
            <a:ext cx="3200400" cy="594360"/>
          </a:xfrm>
          <a:prstGeom prst="rect">
            <a:avLst/>
          </a:prstGeom>
          <a:noFill/>
        </p:spPr>
        <p:txBody>
          <a:bodyPr wrap="square" anchor="t"/>
          <a:lstStyle/>
          <a:p>
            <a:pPr algn="l">
              <a:defRPr sz="1800" b="1">
                <a:solidFill>
                  <a:srgbClr val="FFFFFF"/>
                </a:solidFill>
                <a:latin typeface="Segoe UI Semibold"/>
              </a:defRPr>
            </a:pPr>
            <a:r>
              <a:t>MAINTAIN</a:t>
            </a:r>
          </a:p>
        </p:txBody>
      </p:sp>
      <p:sp>
        <p:nvSpPr>
          <p:cNvPr id="13" name="TextBox 12"/>
          <p:cNvSpPr txBox="1"/>
          <p:nvPr/>
        </p:nvSpPr>
        <p:spPr>
          <a:xfrm>
            <a:off x="5456224" y="3566160"/>
            <a:ext cx="4572000" cy="594360"/>
          </a:xfrm>
          <a:prstGeom prst="rect">
            <a:avLst/>
          </a:prstGeom>
          <a:noFill/>
        </p:spPr>
        <p:txBody>
          <a:bodyPr wrap="square" anchor="t"/>
          <a:lstStyle/>
          <a:p>
            <a:pPr algn="l">
              <a:defRPr sz="1500" b="0">
                <a:solidFill>
                  <a:srgbClr val="DDDDFF"/>
                </a:solidFill>
                <a:latin typeface="Segoe UI"/>
              </a:defRPr>
            </a:pPr>
            <a:r>
              <a:t>Periodic drift detection — find where code and specs have diverged</a:t>
            </a:r>
          </a:p>
        </p:txBody>
      </p:sp>
      <p:sp>
        <p:nvSpPr>
          <p:cNvPr id="14" name="TextBox 13"/>
          <p:cNvSpPr txBox="1"/>
          <p:nvPr/>
        </p:nvSpPr>
        <p:spPr>
          <a:xfrm>
            <a:off x="731520" y="6217920"/>
            <a:ext cx="10698480" cy="457200"/>
          </a:xfrm>
          <a:prstGeom prst="rect">
            <a:avLst/>
          </a:prstGeom>
          <a:noFill/>
        </p:spPr>
        <p:txBody>
          <a:bodyPr wrap="square" anchor="t"/>
          <a:lstStyle/>
          <a:p>
            <a:pPr algn="l">
              <a:defRPr sz="1400" b="0">
                <a:solidFill>
                  <a:srgbClr val="666666"/>
                </a:solidFill>
                <a:latin typeface="Segoe UI"/>
              </a:defRPr>
            </a:pPr>
            <a:r>
              <a:t>Each is an interactive workflow — runs in your LLM session with built-in challenge and verification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52CC"/>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nchor="ctr"/>
          <a:lstStyle/>
          <a:p>
            <a:pPr algn="ctr">
              <a:defRPr sz="4400" b="1">
                <a:solidFill>
                  <a:srgbClr val="FFFFFF"/>
                </a:solidFill>
                <a:latin typeface="Segoe UI Semibold"/>
              </a:defRPr>
            </a:pPr>
            <a:r>
              <a:t>Part 4</a:t>
            </a:r>
            <a:br/>
            <a:r>
              <a:t>Case Study — Finding a Crypto</a:t>
            </a:r>
            <a:br/>
            <a:r>
              <a:t>Vulnerability via Spec Review</a:t>
            </a:r>
          </a:p>
        </p:txBody>
      </p:sp>
      <p:sp>
        <p:nvSpPr>
          <p:cNvPr id="3" name="Rounded Rectangle 2"/>
          <p:cNvSpPr/>
          <p:nvPr/>
        </p:nvSpPr>
        <p:spPr>
          <a:xfrm>
            <a:off x="4572000" y="201168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484632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Case Study: IoT Protocol Crypto Migration</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400"/>
              </a:spcAft>
            </a:pPr>
            <a:r>
              <a:rPr sz="1800">
                <a:solidFill>
                  <a:srgbClr val="1A1A1A"/>
                </a:solidFill>
                <a:latin typeface="Segoe UI"/>
              </a:rPr>
              <a:t>Project: Sonde — a production IoT runtime</a:t>
            </a:r>
          </a:p>
          <a:p>
            <a:pPr>
              <a:spcAft>
                <a:spcPts val="1400"/>
              </a:spcAft>
            </a:pPr>
            <a:r>
              <a:rPr sz="1800">
                <a:solidFill>
                  <a:srgbClr val="1A1A1A"/>
                </a:solidFill>
                <a:latin typeface="Segoe UI"/>
              </a:rPr>
              <a:t>    260+ requirements across 15 specification documents</a:t>
            </a:r>
          </a:p>
          <a:p>
            <a:pPr>
              <a:spcAft>
                <a:spcPts val="1400"/>
              </a:spcAft>
            </a:pPr>
            <a:r>
              <a:rPr sz="1800">
                <a:solidFill>
                  <a:srgbClr val="1A1A1A"/>
                </a:solidFill>
                <a:latin typeface="Segoe UI"/>
              </a:rPr>
              <a:t>Task: Replace gateway's asymmetric key-pair pairing encryption with AES-256-GCM using a pre-shared key (PSK)</a:t>
            </a:r>
          </a:p>
          <a:p>
            <a:pPr>
              <a:spcAft>
                <a:spcPts val="1400"/>
              </a:spcAft>
            </a:pPr>
            <a:r>
              <a:rPr sz="1800">
                <a:solidFill>
                  <a:srgbClr val="1A1A1A"/>
                </a:solidFill>
                <a:latin typeface="Segoe UI"/>
              </a:rPr>
              <a:t>Impact: Every radio frame in the protocol is affected</a:t>
            </a:r>
          </a:p>
          <a:p>
            <a:pPr>
              <a:spcAft>
                <a:spcPts val="1400"/>
              </a:spcAft>
            </a:pPr>
            <a:r>
              <a:rPr sz="1800">
                <a:solidFill>
                  <a:srgbClr val="1A1A1A"/>
                </a:solidFill>
                <a:latin typeface="Segoe UI"/>
              </a:rPr>
              <a:t>Approach: PromptKit's engineering-workflow — 8-phase incremental development with adversarial audits at each transition</a:t>
            </a:r>
          </a:p>
          <a:p>
            <a:pPr>
              <a:spcAft>
                <a:spcPts val="0"/>
              </a:spcAft>
            </a:pPr>
            <a:r>
              <a:rPr sz="1800">
                <a:solidFill>
                  <a:srgbClr val="1A1A1A"/>
                </a:solidFill>
                <a:latin typeface="Segoe UI"/>
              </a:rPr>
              <a:t>Phase 1 discovery: The initial understanding was fundamentally wrong — wrong crypto model, scope significantly underestimated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Nonce Reuse Vulnerability Found by Automated Spec Review</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Round 5 of spec review: automated reviewer identified that GCM nonce construction could allow nonce reuse between request/response pairs using the same PSK</a:t>
            </a:r>
          </a:p>
          <a:p>
            <a:pPr>
              <a:spcAft>
                <a:spcPts val="400"/>
              </a:spcAft>
            </a:pPr>
            <a:r>
              <a:rPr sz="1800">
                <a:solidFill>
                  <a:srgbClr val="1A1A1A"/>
                </a:solidFill>
                <a:latin typeface="Segoe UI"/>
              </a:rPr>
              <a:t>Original nonce construction:</a:t>
            </a:r>
          </a:p>
          <a:p>
            <a:pPr>
              <a:spcAft>
                <a:spcPts val="1400"/>
              </a:spcAft>
            </a:pPr>
            <a:r>
              <a:rPr sz="1800">
                <a:solidFill>
                  <a:srgbClr val="1A1A1A"/>
                </a:solidFill>
                <a:latin typeface="Segoe UI"/>
              </a:rPr>
              <a:t>    gcm_nonce = SHA-256(psk)[0..3] || frame_nonce[8]</a:t>
            </a:r>
          </a:p>
          <a:p>
            <a:pPr>
              <a:spcAft>
                <a:spcPts val="1400"/>
              </a:spcAft>
            </a:pPr>
            <a:r>
              <a:rPr sz="1800">
                <a:solidFill>
                  <a:srgbClr val="1A1A1A"/>
                </a:solidFill>
                <a:latin typeface="Segoe UI"/>
              </a:rPr>
              <a:t>Problem: A request and response could use the same nonce value — catastrophic for GCM security</a:t>
            </a:r>
          </a:p>
          <a:p>
            <a:pPr>
              <a:spcAft>
                <a:spcPts val="400"/>
              </a:spcAft>
            </a:pPr>
            <a:r>
              <a:rPr sz="1800">
                <a:solidFill>
                  <a:srgbClr val="1A1A1A"/>
                </a:solidFill>
                <a:latin typeface="Segoe UI"/>
              </a:rPr>
              <a:t>Fix: Include msg_type in nonce construction:</a:t>
            </a:r>
          </a:p>
          <a:p>
            <a:pPr>
              <a:spcAft>
                <a:spcPts val="1400"/>
              </a:spcAft>
            </a:pPr>
            <a:r>
              <a:rPr sz="1800">
                <a:solidFill>
                  <a:srgbClr val="1A1A1A"/>
                </a:solidFill>
                <a:latin typeface="Segoe UI"/>
              </a:rPr>
              <a:t>    gcm_nonce = SHA-256(psk)[0..3] || msg_type || frame_nonce[8]</a:t>
            </a:r>
          </a:p>
          <a:p>
            <a:pPr>
              <a:spcAft>
                <a:spcPts val="0"/>
              </a:spcAft>
            </a:pPr>
            <a:r>
              <a:rPr sz="1800">
                <a:solidFill>
                  <a:srgbClr val="1A1A1A"/>
                </a:solidFill>
                <a:latin typeface="Segoe UI"/>
              </a:rPr>
              <a:t>This vulnerability survived 6 rounds of human review. The structured, adversarial prompt caught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What the Case Study Tells Us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Full migration: 28 modified, 16 retired, 8 new requirements across 9 specification documents</a:t>
            </a:r>
          </a:p>
          <a:p>
            <a:pPr>
              <a:spcAft>
                <a:spcPts val="400"/>
              </a:spcAft>
            </a:pPr>
            <a:r>
              <a:rPr sz="1800">
                <a:solidFill>
                  <a:srgbClr val="1A1A1A"/>
                </a:solidFill>
                <a:latin typeface="Segoe UI"/>
              </a:rPr>
              <a:t>PromptKit's contribution:</a:t>
            </a:r>
          </a:p>
          <a:p>
            <a:pPr>
              <a:spcAft>
                <a:spcPts val="400"/>
              </a:spcAft>
            </a:pPr>
            <a:r>
              <a:rPr sz="1800">
                <a:solidFill>
                  <a:srgbClr val="1A1A1A"/>
                </a:solidFill>
                <a:latin typeface="Segoe UI"/>
              </a:rPr>
              <a:t>    • Caught a genuine cryptographic vulnerability that human review missed</a:t>
            </a:r>
          </a:p>
          <a:p>
            <a:pPr>
              <a:spcAft>
                <a:spcPts val="400"/>
              </a:spcAft>
            </a:pPr>
            <a:r>
              <a:rPr sz="1800">
                <a:solidFill>
                  <a:srgbClr val="1A1A1A"/>
                </a:solidFill>
                <a:latin typeface="Segoe UI"/>
              </a:rPr>
              <a:t>    • Forced systematic exploration — no anchoring on first impressions</a:t>
            </a:r>
          </a:p>
          <a:p>
            <a:pPr>
              <a:spcAft>
                <a:spcPts val="1400"/>
              </a:spcAft>
            </a:pPr>
            <a:r>
              <a:rPr sz="1800">
                <a:solidFill>
                  <a:srgbClr val="1A1A1A"/>
                </a:solidFill>
                <a:latin typeface="Segoe UI"/>
              </a:rPr>
              <a:t>    • Adversarial auditing at each phase prevented compounding errors</a:t>
            </a:r>
          </a:p>
          <a:p>
            <a:pPr>
              <a:spcAft>
                <a:spcPts val="400"/>
              </a:spcAft>
            </a:pPr>
            <a:r>
              <a:rPr sz="1800">
                <a:solidFill>
                  <a:srgbClr val="1A1A1A"/>
                </a:solidFill>
                <a:latin typeface="Segoe UI"/>
              </a:rPr>
              <a:t>Human review still mattered:</a:t>
            </a:r>
          </a:p>
          <a:p>
            <a:pPr>
              <a:spcAft>
                <a:spcPts val="400"/>
              </a:spcAft>
            </a:pPr>
            <a:r>
              <a:rPr sz="1800">
                <a:solidFill>
                  <a:srgbClr val="1A1A1A"/>
                </a:solidFill>
                <a:latin typeface="Segoe UI"/>
              </a:rPr>
              <a:t>    • Phase 7 caught a frame ownership error — only domain knowledge could catch it</a:t>
            </a:r>
          </a:p>
          <a:p>
            <a:pPr>
              <a:spcAft>
                <a:spcPts val="1400"/>
              </a:spcAft>
            </a:pPr>
            <a:r>
              <a:rPr sz="1800">
                <a:solidFill>
                  <a:srgbClr val="1A1A1A"/>
                </a:solidFill>
                <a:latin typeface="Segoe UI"/>
              </a:rPr>
              <a:t>    • Survived all automated review</a:t>
            </a:r>
          </a:p>
          <a:p>
            <a:pPr>
              <a:spcAft>
                <a:spcPts val="0"/>
              </a:spcAft>
            </a:pPr>
            <a:r>
              <a:rPr sz="1800">
                <a:solidFill>
                  <a:srgbClr val="1A1A1A"/>
                </a:solidFill>
                <a:latin typeface="Segoe UI"/>
              </a:rPr>
              <a:t>Lesson: Structured prompts + human judgment &gt; either alone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52CC"/>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nchor="ctr"/>
          <a:lstStyle/>
          <a:p>
            <a:pPr algn="ctr">
              <a:defRPr sz="4400" b="1">
                <a:solidFill>
                  <a:srgbClr val="FFFFFF"/>
                </a:solidFill>
                <a:latin typeface="Segoe UI Semibold"/>
              </a:defRPr>
            </a:pPr>
            <a:r>
              <a:t>Part 5</a:t>
            </a:r>
            <a:br/>
            <a:r>
              <a:t>Live Demo</a:t>
            </a:r>
          </a:p>
        </p:txBody>
      </p:sp>
      <p:sp>
        <p:nvSpPr>
          <p:cNvPr id="3" name="Rounded Rectangle 2"/>
          <p:cNvSpPr/>
          <p:nvPr/>
        </p:nvSpPr>
        <p:spPr>
          <a:xfrm>
            <a:off x="4572000" y="201168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484632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Demo: Bootstrapping a Prompt with PromptKit</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We'll use npx @alan-jowett/promptkit to launch an interactive session</a:t>
            </a:r>
          </a:p>
          <a:p>
            <a:pPr>
              <a:spcAft>
                <a:spcPts val="1400"/>
              </a:spcAft>
            </a:pPr>
            <a:r>
              <a:rPr sz="1800">
                <a:solidFill>
                  <a:srgbClr val="1A1A1A"/>
                </a:solidFill>
                <a:latin typeface="Segoe UI"/>
              </a:rPr>
              <a:t>The bootstrap engine reads manifest.yaml, discovers all 157 components</a:t>
            </a:r>
          </a:p>
          <a:p>
            <a:pPr>
              <a:spcAft>
                <a:spcPts val="1400"/>
              </a:spcAft>
            </a:pPr>
            <a:r>
              <a:rPr sz="1800">
                <a:solidFill>
                  <a:srgbClr val="1A1A1A"/>
                </a:solidFill>
                <a:latin typeface="Segoe UI"/>
              </a:rPr>
              <a:t>We'll select a task, provide parameters, and watch it assemble a structured prompt</a:t>
            </a:r>
          </a:p>
          <a:p>
            <a:pPr>
              <a:spcAft>
                <a:spcPts val="400"/>
              </a:spcAft>
            </a:pPr>
            <a:r>
              <a:rPr sz="1800">
                <a:solidFill>
                  <a:srgbClr val="1A1A1A"/>
                </a:solidFill>
                <a:latin typeface="Segoe UI"/>
              </a:rPr>
              <a:t>Watch for:</a:t>
            </a:r>
          </a:p>
          <a:p>
            <a:pPr>
              <a:spcAft>
                <a:spcPts val="400"/>
              </a:spcAft>
            </a:pPr>
            <a:r>
              <a:rPr sz="1800">
                <a:solidFill>
                  <a:srgbClr val="1A1A1A"/>
                </a:solidFill>
                <a:latin typeface="Segoe UI"/>
              </a:rPr>
              <a:t>    • Persona selection    • Protocol composition</a:t>
            </a:r>
          </a:p>
          <a:p>
            <a:pPr>
              <a:spcAft>
                <a:spcPts val="0"/>
              </a:spcAft>
            </a:pPr>
            <a:r>
              <a:rPr sz="1800">
                <a:solidFill>
                  <a:srgbClr val="1A1A1A"/>
                </a:solidFill>
                <a:latin typeface="Segoe UI"/>
              </a:rPr>
              <a:t>    • Format enforcement   • Parameter substitution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Demo Fallback: What the Assembled Prompt Looks Like</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698480"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10149840" cy="3749039"/>
          </a:xfrm>
          <a:prstGeom prst="rect">
            <a:avLst/>
          </a:prstGeom>
          <a:noFill/>
        </p:spPr>
        <p:txBody>
          <a:bodyPr wrap="square" anchor="t"/>
          <a:lstStyle/>
          <a:p>
            <a:pPr algn="l">
              <a:defRPr sz="1500" b="0">
                <a:solidFill>
                  <a:srgbClr val="D4D4D4"/>
                </a:solidFill>
                <a:latin typeface="Cascadia Code"/>
              </a:defRPr>
            </a:pPr>
            <a:r>
              <a:t># Identity</a:t>
            </a:r>
            <a:br/>
            <a:r>
              <a:t>You are a senior systems engineer with deep expertise in</a:t>
            </a:r>
            <a:br/>
            <a:r>
              <a:t>memory management, concurrency, performance, and debugging.</a:t>
            </a:r>
            <a:br/>
            <a:r>
              <a:t>You reason from first principles...</a:t>
            </a:r>
            <a:br/>
            <a:br/>
            <a:r>
              <a:t># Reasoning Protocols</a:t>
            </a:r>
            <a:br/>
            <a:r>
              <a:t>## Anti-Hallucination Guardrails</a:t>
            </a:r>
            <a:br/>
            <a:r>
              <a:t>Every claim MUST be categorized as KNOWN, INFERRED, or ASSUMED.</a:t>
            </a:r>
            <a:br/>
            <a:r>
              <a:t>Do NOT invent function names, API signatures...</a:t>
            </a:r>
            <a:br/>
            <a:br/>
            <a:r>
              <a:t>## Root Cause Analysis</a:t>
            </a:r>
            <a:br/>
            <a:r>
              <a:t>Phase 1: Describe the symptom precisely...</a:t>
            </a:r>
            <a:br/>
            <a:r>
              <a:t>Phase 2: Generate &gt;= 3 hypotheses before investigating...</a:t>
            </a:r>
            <a:br/>
            <a:br/>
            <a:r>
              <a:t># Output Format</a:t>
            </a:r>
            <a:br/>
            <a:r>
              <a:t>Findings, Root Cause, Remediation, Prevention...</a:t>
            </a:r>
            <a:br/>
            <a:br/>
            <a:r>
              <a:t># Task</a:t>
            </a:r>
            <a:br/>
            <a:r>
              <a:t>Investigate: {{problem_description}}</a:t>
            </a:r>
          </a:p>
        </p:txBody>
      </p:sp>
      <p:sp>
        <p:nvSpPr>
          <p:cNvPr id="7" name="TextBox 6"/>
          <p:cNvSpPr txBox="1"/>
          <p:nvPr/>
        </p:nvSpPr>
        <p:spPr>
          <a:xfrm>
            <a:off x="731520" y="5852160"/>
            <a:ext cx="10698480" cy="731520"/>
          </a:xfrm>
          <a:prstGeom prst="rect">
            <a:avLst/>
          </a:prstGeom>
          <a:noFill/>
        </p:spPr>
        <p:txBody>
          <a:bodyPr wrap="square" anchor="t"/>
          <a:lstStyle/>
          <a:p>
            <a:pPr algn="l">
              <a:defRPr sz="1600" b="0">
                <a:solidFill>
                  <a:srgbClr val="1A1A1A"/>
                </a:solidFill>
                <a:latin typeface="Segoe UI"/>
              </a:defRPr>
            </a:pPr>
            <a:r>
              <a:t>Assembled prompt — all components included verbatim, parameters filled 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52CC"/>
        </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nchor="ctr"/>
          <a:lstStyle/>
          <a:p>
            <a:pPr algn="ctr">
              <a:defRPr sz="4400" b="1">
                <a:solidFill>
                  <a:srgbClr val="FFFFFF"/>
                </a:solidFill>
                <a:latin typeface="Segoe UI Semibold"/>
              </a:defRPr>
            </a:pPr>
            <a:r>
              <a:t>Part 6</a:t>
            </a:r>
            <a:br/>
            <a:r>
              <a:t>Getting Started</a:t>
            </a:r>
          </a:p>
        </p:txBody>
      </p:sp>
      <p:sp>
        <p:nvSpPr>
          <p:cNvPr id="3" name="Rounded Rectangle 2"/>
          <p:cNvSpPr/>
          <p:nvPr/>
        </p:nvSpPr>
        <p:spPr>
          <a:xfrm>
            <a:off x="4572000" y="201168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4846320"/>
            <a:ext cx="3047695" cy="5486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Three Ways to Use PromptKit</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400"/>
              </a:spcAft>
            </a:pPr>
            <a:r>
              <a:rPr sz="1800">
                <a:solidFill>
                  <a:srgbClr val="1A1A1A"/>
                </a:solidFill>
                <a:latin typeface="Segoe UI"/>
              </a:rPr>
              <a:t>1. npx (recommended — no clone needed):</a:t>
            </a:r>
          </a:p>
          <a:p>
            <a:pPr>
              <a:spcAft>
                <a:spcPts val="1400"/>
              </a:spcAft>
            </a:pPr>
            <a:r>
              <a:rPr sz="1800">
                <a:solidFill>
                  <a:srgbClr val="1A1A1A"/>
                </a:solidFill>
                <a:latin typeface="Segoe UI"/>
              </a:rPr>
              <a:t>       npx @alan-jowett/promptkit</a:t>
            </a:r>
          </a:p>
          <a:p>
            <a:pPr>
              <a:spcAft>
                <a:spcPts val="400"/>
              </a:spcAft>
            </a:pPr>
            <a:r>
              <a:rPr sz="1800">
                <a:solidFill>
                  <a:srgbClr val="1A1A1A"/>
                </a:solidFill>
                <a:latin typeface="Segoe UI"/>
              </a:rPr>
              <a:t>2. Clone the repo — full access to all components:</a:t>
            </a:r>
          </a:p>
          <a:p>
            <a:pPr>
              <a:spcAft>
                <a:spcPts val="400"/>
              </a:spcAft>
            </a:pPr>
            <a:r>
              <a:rPr sz="1800">
                <a:solidFill>
                  <a:srgbClr val="1A1A1A"/>
                </a:solidFill>
                <a:latin typeface="Segoe UI"/>
              </a:rPr>
              <a:t>       git clone https://github.com/microsoft/promptkit.git</a:t>
            </a:r>
          </a:p>
          <a:p>
            <a:pPr>
              <a:spcAft>
                <a:spcPts val="1400"/>
              </a:spcAft>
            </a:pPr>
            <a:r>
              <a:rPr sz="1800">
                <a:solidFill>
                  <a:srgbClr val="1A1A1A"/>
                </a:solidFill>
                <a:latin typeface="Segoe UI"/>
              </a:rPr>
              <a:t>       copilot -i "Read and execute bootstrap.md"</a:t>
            </a:r>
          </a:p>
          <a:p>
            <a:pPr>
              <a:spcAft>
                <a:spcPts val="1400"/>
              </a:spcAft>
            </a:pPr>
            <a:r>
              <a:rPr sz="1800">
                <a:solidFill>
                  <a:srgbClr val="1A1A1A"/>
                </a:solidFill>
                <a:latin typeface="Segoe UI"/>
              </a:rPr>
              <a:t>3. Manual — paste bootstrap.md + manifest.yaml into any LLM session</a:t>
            </a:r>
          </a:p>
          <a:p>
            <a:pPr>
              <a:spcAft>
                <a:spcPts val="0"/>
              </a:spcAft>
            </a:pPr>
            <a:r>
              <a:rPr sz="1800">
                <a:solidFill>
                  <a:srgbClr val="1A1A1A"/>
                </a:solidFill>
                <a:latin typeface="Segoe UI"/>
              </a:rPr>
              <a:t>Works with: GitHub Copilot CLI · Claude Code · Any LLM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Persistent Agent Instructions —</a:t>
            </a:r>
            <a:br/>
            <a:r>
              <a:t>Version-Control Your Team's AI Practices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PromptKit produces persistent instruction files for:</a:t>
            </a:r>
          </a:p>
          <a:p>
            <a:pPr>
              <a:spcAft>
                <a:spcPts val="400"/>
              </a:spcAft>
            </a:pPr>
            <a:r>
              <a:rPr sz="1800">
                <a:solidFill>
                  <a:srgbClr val="1A1A1A"/>
                </a:solidFill>
                <a:latin typeface="Segoe UI"/>
              </a:rPr>
              <a:t>GitHub Copilot: .github/instructions/*.instructions.md — composable skill files with applyTo glob targeting</a:t>
            </a:r>
          </a:p>
          <a:p>
            <a:pPr>
              <a:spcAft>
                <a:spcPts val="400"/>
              </a:spcAft>
            </a:pPr>
            <a:r>
              <a:rPr sz="1800">
                <a:solidFill>
                  <a:srgbClr val="1A1A1A"/>
                </a:solidFill>
                <a:latin typeface="Segoe UI"/>
              </a:rPr>
              <a:t>Claude Code: CLAUDE.md</a:t>
            </a:r>
          </a:p>
          <a:p>
            <a:pPr>
              <a:spcAft>
                <a:spcPts val="1400"/>
              </a:spcAft>
            </a:pPr>
            <a:r>
              <a:rPr sz="1800">
                <a:solidFill>
                  <a:srgbClr val="1A1A1A"/>
                </a:solidFill>
                <a:latin typeface="Segoe UI"/>
              </a:rPr>
              <a:t>Cursor: .cursorrules</a:t>
            </a:r>
          </a:p>
          <a:p>
            <a:pPr>
              <a:spcAft>
                <a:spcPts val="1400"/>
              </a:spcAft>
            </a:pPr>
            <a:r>
              <a:rPr sz="1800">
                <a:solidFill>
                  <a:srgbClr val="1A1A1A"/>
                </a:solidFill>
                <a:latin typeface="Segoe UI"/>
              </a:rPr>
              <a:t>Example: "Always review C code for memory safety" → persistent skill file applied to every *.c and *.h file</a:t>
            </a:r>
          </a:p>
          <a:p>
            <a:pPr>
              <a:spcAft>
                <a:spcPts val="0"/>
              </a:spcAft>
            </a:pPr>
            <a:r>
              <a:rPr sz="1800">
                <a:solidFill>
                  <a:srgbClr val="1A1A1A"/>
                </a:solidFill>
                <a:latin typeface="Segoe UI"/>
              </a:rPr>
              <a:t>Commit to your repo → every engineer gets the same AI behavior automatically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73152"/>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nchor="t"/>
          <a:lstStyle/>
          <a:p>
            <a:pPr algn="l">
              <a:defRPr sz="3200" b="1">
                <a:solidFill>
                  <a:srgbClr val="0052CC"/>
                </a:solidFill>
                <a:latin typeface="Segoe UI Semibold"/>
              </a:defRPr>
            </a:pPr>
            <a:r>
              <a:t>Key Takeaways</a:t>
            </a:r>
          </a:p>
        </p:txBody>
      </p:sp>
      <p:sp>
        <p:nvSpPr>
          <p:cNvPr id="4" name="Rounded Rectangle 3"/>
          <p:cNvSpPr/>
          <p:nvPr/>
        </p:nvSpPr>
        <p:spPr>
          <a:xfrm>
            <a:off x="731520" y="1234440"/>
            <a:ext cx="2743200" cy="54864"/>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698480" cy="4572000"/>
          </a:xfrm>
          <a:prstGeom prst="rect">
            <a:avLst/>
          </a:prstGeom>
          <a:noFill/>
        </p:spPr>
        <p:txBody>
          <a:bodyPr wrap="square"/>
          <a:lstStyle/>
          <a:p>
            <a:pPr>
              <a:spcAft>
                <a:spcPts val="1400"/>
              </a:spcAft>
            </a:pPr>
            <a:r>
              <a:rPr sz="1800">
                <a:solidFill>
                  <a:srgbClr val="1A1A1A"/>
                </a:solidFill>
                <a:latin typeface="Segoe UI"/>
              </a:rPr>
              <a:t>1.  Prompts are code — treat them with the same engineering rigor as your software</a:t>
            </a:r>
          </a:p>
          <a:p>
            <a:pPr>
              <a:spcAft>
                <a:spcPts val="1400"/>
              </a:spcAft>
            </a:pPr>
            <a:r>
              <a:rPr sz="1800">
                <a:solidFill>
                  <a:srgbClr val="1A1A1A"/>
                </a:solidFill>
                <a:latin typeface="Segoe UI"/>
              </a:rPr>
              <a:t>2.  Compose, don't copy-paste — modular components beat ad-hoc prompts every time</a:t>
            </a:r>
          </a:p>
          <a:p>
            <a:pPr>
              <a:spcAft>
                <a:spcPts val="1400"/>
              </a:spcAft>
            </a:pPr>
            <a:r>
              <a:rPr sz="1800">
                <a:solidFill>
                  <a:srgbClr val="1A1A1A"/>
                </a:solidFill>
                <a:latin typeface="Segoe UI"/>
              </a:rPr>
              <a:t>3.  Structured reasoning bounds non-determinism — protocols like anti-hallucination and root-cause analysis make LLM outputs more reliable</a:t>
            </a:r>
          </a:p>
          <a:p>
            <a:pPr>
              <a:spcAft>
                <a:spcPts val="1400"/>
              </a:spcAft>
            </a:pPr>
            <a:r>
              <a:rPr sz="1800">
                <a:solidFill>
                  <a:srgbClr val="1A1A1A"/>
                </a:solidFill>
                <a:latin typeface="Segoe UI"/>
              </a:rPr>
              <a:t>4.  Test against references — compare outputs against known-good prompts to catch regressions</a:t>
            </a:r>
          </a:p>
          <a:p>
            <a:pPr>
              <a:spcAft>
                <a:spcPts val="0"/>
              </a:spcAft>
            </a:pPr>
            <a:r>
              <a:rPr sz="1800">
                <a:solidFill>
                  <a:srgbClr val="1A1A1A"/>
                </a:solidFill>
                <a:latin typeface="Segoe UI"/>
              </a:rPr>
              <a:t>5.  Humans + structured prompts &gt; either alone — the crypto case study proves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ounded Rectangle 1"/>
          <p:cNvSpPr/>
          <p:nvPr/>
        </p:nvSpPr>
        <p:spPr>
          <a:xfrm>
            <a:off x="0" y="0"/>
            <a:ext cx="12191695" cy="137160"/>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romptKit-logo.png"/>
          <p:cNvPicPr>
            <a:picLocks noChangeAspect="1"/>
          </p:cNvPicPr>
          <p:nvPr/>
        </p:nvPicPr>
        <p:blipFill>
          <a:blip r:embed="rId2"/>
          <a:stretch>
            <a:fillRect/>
          </a:stretch>
        </p:blipFill>
        <p:spPr>
          <a:xfrm>
            <a:off x="4724704" y="457200"/>
            <a:ext cx="2743200" cy="1714500"/>
          </a:xfrm>
          <a:prstGeom prst="rect">
            <a:avLst/>
          </a:prstGeom>
        </p:spPr>
      </p:pic>
      <p:sp>
        <p:nvSpPr>
          <p:cNvPr id="4" name="TextBox 3"/>
          <p:cNvSpPr txBox="1"/>
          <p:nvPr/>
        </p:nvSpPr>
        <p:spPr>
          <a:xfrm>
            <a:off x="914400" y="2377440"/>
            <a:ext cx="10362895" cy="731520"/>
          </a:xfrm>
          <a:prstGeom prst="rect">
            <a:avLst/>
          </a:prstGeom>
          <a:noFill/>
        </p:spPr>
        <p:txBody>
          <a:bodyPr wrap="square" anchor="t"/>
          <a:lstStyle/>
          <a:p>
            <a:pPr algn="ctr">
              <a:defRPr sz="3600" b="1">
                <a:solidFill>
                  <a:srgbClr val="0052CC"/>
                </a:solidFill>
                <a:latin typeface="Segoe UI Semibold"/>
              </a:defRPr>
            </a:pPr>
            <a:r>
              <a:t>Get Started with PromptKit</a:t>
            </a:r>
          </a:p>
        </p:txBody>
      </p:sp>
      <p:sp>
        <p:nvSpPr>
          <p:cNvPr id="5" name="TextBox 4"/>
          <p:cNvSpPr txBox="1"/>
          <p:nvPr/>
        </p:nvSpPr>
        <p:spPr>
          <a:xfrm>
            <a:off x="3200400" y="3383280"/>
            <a:ext cx="5790895" cy="1828800"/>
          </a:xfrm>
          <a:prstGeom prst="rect">
            <a:avLst/>
          </a:prstGeom>
          <a:noFill/>
        </p:spPr>
        <p:txBody>
          <a:bodyPr wrap="square"/>
          <a:lstStyle/>
          <a:p>
            <a:pPr>
              <a:spcAft>
                <a:spcPts val="1200"/>
              </a:spcAft>
            </a:pPr>
            <a:r>
              <a:rPr sz="2000">
                <a:solidFill>
                  <a:srgbClr val="1A1A1A"/>
                </a:solidFill>
                <a:latin typeface="Segoe UI"/>
              </a:rPr>
              <a:t>🔗  aka.ms/PromptKit</a:t>
            </a:r>
          </a:p>
          <a:p>
            <a:pPr>
              <a:spcAft>
                <a:spcPts val="1200"/>
              </a:spcAft>
            </a:pPr>
            <a:r>
              <a:rPr sz="2000">
                <a:solidFill>
                  <a:srgbClr val="1A1A1A"/>
                </a:solidFill>
                <a:latin typeface="Segoe UI"/>
              </a:rPr>
              <a:t>📦  npx @alan-jowett/promptkit</a:t>
            </a:r>
          </a:p>
          <a:p>
            <a:pPr>
              <a:spcAft>
                <a:spcPts val="1200"/>
              </a:spcAft>
            </a:pPr>
            <a:r>
              <a:rPr sz="2000">
                <a:solidFill>
                  <a:srgbClr val="1A1A1A"/>
                </a:solidFill>
                <a:latin typeface="Segoe UI"/>
              </a:rPr>
              <a:t>📄  MIT License — open source</a:t>
            </a:r>
          </a:p>
          <a:p>
            <a:pPr>
              <a:spcAft>
                <a:spcPts val="0"/>
              </a:spcAft>
            </a:pPr>
            <a:r>
              <a:rPr sz="2000">
                <a:solidFill>
                  <a:srgbClr val="1A1A1A"/>
                </a:solidFill>
                <a:latin typeface="Segoe UI"/>
              </a:rPr>
              <a:t>🐙  github.com/microsoft/promptkit</a:t>
            </a:r>
          </a:p>
        </p:txBody>
      </p:sp>
      <p:sp>
        <p:nvSpPr>
          <p:cNvPr id="6" name="TextBox 5"/>
          <p:cNvSpPr txBox="1"/>
          <p:nvPr/>
        </p:nvSpPr>
        <p:spPr>
          <a:xfrm>
            <a:off x="914400" y="5303520"/>
            <a:ext cx="10362895" cy="457200"/>
          </a:xfrm>
          <a:prstGeom prst="rect">
            <a:avLst/>
          </a:prstGeom>
          <a:noFill/>
        </p:spPr>
        <p:txBody>
          <a:bodyPr wrap="square" anchor="t"/>
          <a:lstStyle/>
          <a:p>
            <a:pPr algn="ctr">
              <a:defRPr sz="1600" b="0">
                <a:solidFill>
                  <a:srgbClr val="666666"/>
                </a:solidFill>
                <a:latin typeface="Segoe UI"/>
              </a:defRPr>
            </a:pPr>
            <a:r>
              <a:t>157 components · 15 personas · 48 protocols · 21 formats · 64 templates</a:t>
            </a:r>
          </a:p>
        </p:txBody>
      </p:sp>
      <p:sp>
        <p:nvSpPr>
          <p:cNvPr id="7" name="TextBox 6"/>
          <p:cNvSpPr txBox="1"/>
          <p:nvPr/>
        </p:nvSpPr>
        <p:spPr>
          <a:xfrm>
            <a:off x="914400" y="5943600"/>
            <a:ext cx="10362895" cy="731520"/>
          </a:xfrm>
          <a:prstGeom prst="rect">
            <a:avLst/>
          </a:prstGeom>
          <a:noFill/>
        </p:spPr>
        <p:txBody>
          <a:bodyPr wrap="square" anchor="t"/>
          <a:lstStyle/>
          <a:p>
            <a:pPr algn="ctr">
              <a:defRPr sz="3200" b="1">
                <a:solidFill>
                  <a:srgbClr val="0052CC"/>
                </a:solidFill>
                <a:latin typeface="Segoe UI Semibold"/>
              </a:defRPr>
            </a:pPr>
            <a:r>
              <a:t>Thank you!  Questions?</a:t>
            </a:r>
          </a:p>
        </p:txBody>
      </p:sp>
      <p:sp>
        <p:nvSpPr>
          <p:cNvPr id="8" name="Rounded Rectangle 7"/>
          <p:cNvSpPr/>
          <p:nvPr/>
        </p:nvSpPr>
        <p:spPr>
          <a:xfrm>
            <a:off x="0" y="6583680"/>
            <a:ext cx="12191695" cy="274320"/>
          </a:xfrm>
          <a:prstGeom prst="round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