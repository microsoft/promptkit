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This is the deep-dive version covering architecture, component internals, assembly engine, testing methodology, and pipeline chaining.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pain point. The core insight: prompts are the primary interface to AI tools, but we treat them as throwaway text.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engineering principles. Modularity = compose layers. Version control = full Git history. Testable = reference comparison methodology. Extensible = anyone can contribute new components.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composition stack. Each layer constrains the next. Templates declare their dependencies in YAML frontmatter — persona, protocols, format. The narrowing visual shows how the stack funnels into a specific task.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Personas define identity, domain expertise, tone, and behavioral constraints. The YAML frontmatter is machine-readable; the markdown body contains the actual prompt content. Key: behavioral constraints reinforce the protocols.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protocol categories with different scoping rules. Guardrails are cross-cutting (apply to every task). Analysis protocols are language/domain-specific. Reasoning protocols define systematic methodologies — 13 total including audit, extraction, and orchestration protocols. Separate files, not conditional blocks.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 dive into the anti-hallucination protocol. This is the single most impactful guardrail. Epistemic labeling forces the LLM to be honest about what it knows vs infers vs assumes. The 30% threshold prevents assumption-heavy outputs.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RCA protocol enforces systematic debugging. The ≥3 hypothesis rule prevents anchoring bias. The root vs proximate distinction is critical — most quick fixes only address the proximate cause and leave the root cause to produce more bugs.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Overview of all 11 output formats. Each format defines the structure of the deliverable — section ordering, required content, naming conventions. The 'produces' field enables pipeline chaining between templates.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 dive into the investigation-report format. The 9-section structure ensures consistency across all bug investigations and security audits. Key: findings use F-NNN IDs, severity ordering, and the root cause section must trace the full causal chain — not just the proximate symptom.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Template frontmatter is the composition declaration. The key insight: protocols use category/name paths (guardrails/anti-hallucination) while the manifest uses short names (anti-hallucination). CI validates they stay in sync.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manifest is the component registry. Critical detail: protocols have a naming duality — templates use category/name paths, manifest uses short names. CI (validate-manifest.py) enforces sync. This is the only automated check in the repo.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bootstrap flow is the core UX. bootstrap.md is itself a meta-prompt — it instructs the LLM how to use PromptKit. Two modes: single-shot writes a file you paste elsewhere; interactive executes the prompt live in the current session.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assembly engine is deliberately simple. It reads the manifest to resolve component paths, loads each .md file, strips YAML frontmatter and SPDX headers, wraps in section headers, joins with horizontal rules, and substitutes parameters. No template language, no recursion, no magic — just concatenation in a specific order.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Pipeline chaining is the power feature. Templates declare input_contract and output_contract with artifact types. The manifest defines pipeline stages. The bootstrap engine validates contracts before offering the next template. This replaces ad-hoc copy-paste between tools with a structured workflow.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Testing prompts is hard because output is non-deterministic. The reference comparison methodology sidesteps this: compare prompt structure, not LLM output. Each dimension gets ✅ Covered / ⚠️ Partial / ❌ Missing classification. Gaps feed back into the library as improvements.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 to action. The barrier to entry is one npx command. The extend-library template is meta: you use PromptKit to contribute to PromptKit.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romptKit-logo.png"/>
          <p:cNvPicPr>
            <a:picLocks noChangeAspect="1"/>
          </p:cNvPicPr>
          <p:nvPr/>
        </p:nvPicPr>
        <p:blipFill>
          <a:blip r:embed="rId2"/>
          <a:stretch>
            <a:fillRect/>
          </a:stretch>
        </p:blipFill>
        <p:spPr>
          <a:xfrm>
            <a:off x="822960" y="1097280"/>
            <a:ext cx="2286000" cy="2286000"/>
          </a:xfrm>
          <a:prstGeom prst="rect">
            <a:avLst/>
          </a:prstGeom>
        </p:spPr>
      </p:pic>
      <p:sp>
        <p:nvSpPr>
          <p:cNvPr id="4" name="TextBox 3"/>
          <p:cNvSpPr txBox="1"/>
          <p:nvPr/>
        </p:nvSpPr>
        <p:spPr>
          <a:xfrm>
            <a:off x="3383280" y="1463040"/>
            <a:ext cx="8229600" cy="1097280"/>
          </a:xfrm>
          <a:prstGeom prst="rect">
            <a:avLst/>
          </a:prstGeom>
          <a:noFill/>
        </p:spPr>
        <p:txBody>
          <a:bodyPr wrap="square">
            <a:spAutoFit/>
          </a:bodyPr>
          <a:lstStyle/>
          <a:p>
            <a:pPr algn="l">
              <a:lnSpc>
                <a:spcPts val="7680"/>
              </a:lnSpc>
              <a:spcAft>
                <a:spcPts val="1920"/>
              </a:spcAft>
              <a:defRPr sz="6400" b="1">
                <a:solidFill>
                  <a:srgbClr val="CDD6F4"/>
                </a:solidFill>
                <a:latin typeface="Segoe UI"/>
              </a:defRPr>
            </a:pPr>
            <a:r>
              <a:t>PromptKit</a:t>
            </a:r>
          </a:p>
        </p:txBody>
      </p:sp>
      <p:sp>
        <p:nvSpPr>
          <p:cNvPr id="5" name="TextBox 4"/>
          <p:cNvSpPr txBox="1"/>
          <p:nvPr/>
        </p:nvSpPr>
        <p:spPr>
          <a:xfrm>
            <a:off x="3383280" y="2560320"/>
            <a:ext cx="8229600" cy="731520"/>
          </a:xfrm>
          <a:prstGeom prst="rect">
            <a:avLst/>
          </a:prstGeom>
          <a:noFill/>
        </p:spPr>
        <p:txBody>
          <a:bodyPr wrap="square">
            <a:spAutoFit/>
          </a:bodyPr>
          <a:lstStyle/>
          <a:p>
            <a:pPr algn="l">
              <a:lnSpc>
                <a:spcPts val="2879"/>
              </a:lnSpc>
              <a:spcAft>
                <a:spcPts val="719"/>
              </a:spcAft>
              <a:defRPr sz="2400" b="0">
                <a:solidFill>
                  <a:srgbClr val="89B4FA"/>
                </a:solidFill>
                <a:latin typeface="Segoe UI"/>
              </a:defRPr>
            </a:pPr>
            <a:r>
              <a:t>Composable, version-controlled prompts</a:t>
            </a:r>
            <a:br/>
            <a:r>
              <a:t>for AI-assisted software engineering</a:t>
            </a:r>
          </a:p>
        </p:txBody>
      </p:sp>
      <p:sp>
        <p:nvSpPr>
          <p:cNvPr id="6" name="TextBox 5"/>
          <p:cNvSpPr txBox="1"/>
          <p:nvPr/>
        </p:nvSpPr>
        <p:spPr>
          <a:xfrm>
            <a:off x="3383280" y="3749039"/>
            <a:ext cx="8229600" cy="457200"/>
          </a:xfrm>
          <a:prstGeom prst="rect">
            <a:avLst/>
          </a:prstGeom>
          <a:noFill/>
        </p:spPr>
        <p:txBody>
          <a:bodyPr wrap="square">
            <a:spAutoFit/>
          </a:bodyPr>
          <a:lstStyle/>
          <a:p>
            <a:pPr algn="l">
              <a:lnSpc>
                <a:spcPts val="1680"/>
              </a:lnSpc>
              <a:spcAft>
                <a:spcPts val="420"/>
              </a:spcAft>
              <a:defRPr sz="1400" b="0">
                <a:solidFill>
                  <a:srgbClr val="6C7086"/>
                </a:solidFill>
                <a:latin typeface="Segoe UI"/>
              </a:defRPr>
            </a:pPr>
            <a:r>
              <a:t>aka.ms/PromptKit  ·  MIT License  ·  v0.2.0</a:t>
            </a:r>
          </a:p>
        </p:txBody>
      </p:sp>
      <p:sp>
        <p:nvSpPr>
          <p:cNvPr id="7" name="TextBox 6"/>
          <p:cNvSpPr txBox="1"/>
          <p:nvPr/>
        </p:nvSpPr>
        <p:spPr>
          <a:xfrm>
            <a:off x="822960" y="5669280"/>
            <a:ext cx="10058400" cy="365760"/>
          </a:xfrm>
          <a:prstGeom prst="rect">
            <a:avLst/>
          </a:prstGeom>
          <a:noFill/>
        </p:spPr>
        <p:txBody>
          <a:bodyPr wrap="square">
            <a:spAutoFit/>
          </a:bodyPr>
          <a:lstStyle/>
          <a:p>
            <a:pPr algn="l">
              <a:lnSpc>
                <a:spcPts val="1680"/>
              </a:lnSpc>
              <a:spcAft>
                <a:spcPts val="420"/>
              </a:spcAft>
              <a:defRPr sz="1400" b="0">
                <a:solidFill>
                  <a:srgbClr val="6C7086"/>
                </a:solidFill>
                <a:latin typeface="Segoe UI"/>
              </a:defRPr>
            </a:pPr>
            <a:r>
              <a:t>Deep Dive  ·  Architecture &amp; Internals</a:t>
            </a:r>
          </a:p>
        </p:txBody>
      </p:sp>
      <p:sp>
        <p:nvSpPr>
          <p:cNvPr id="8" name="TextBox 7"/>
          <p:cNvSpPr txBox="1"/>
          <p:nvPr/>
        </p:nvSpPr>
        <p:spPr>
          <a:xfrm>
            <a:off x="11155680" y="6492240"/>
            <a:ext cx="914400" cy="274320"/>
          </a:xfrm>
          <a:prstGeom prst="rect">
            <a:avLst/>
          </a:prstGeom>
          <a:noFill/>
        </p:spPr>
        <p:txBody>
          <a:bodyPr wrap="square">
            <a:spAutoFit/>
          </a:bodyPr>
          <a:lstStyle/>
          <a:p>
            <a:pPr algn="r">
              <a:lnSpc>
                <a:spcPts val="1200"/>
              </a:lnSpc>
              <a:spcAft>
                <a:spcPts val="300"/>
              </a:spcAft>
              <a:defRPr sz="1000" b="0">
                <a:solidFill>
                  <a:srgbClr val="6C7086"/>
                </a:solidFill>
                <a:latin typeface="Segoe UI"/>
              </a:defRPr>
            </a:pPr>
            <a:r>
              <a:t>1 / 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594360"/>
          </a:xfrm>
          <a:prstGeom prst="rect">
            <a:avLst/>
          </a:prstGeom>
          <a:noFill/>
        </p:spPr>
        <p:txBody>
          <a:bodyPr wrap="square">
            <a:spAutoFit/>
          </a:bodyPr>
          <a:lstStyle/>
          <a:p>
            <a:pPr algn="l">
              <a:lnSpc>
                <a:spcPts val="3840"/>
              </a:lnSpc>
              <a:spcAft>
                <a:spcPts val="960"/>
              </a:spcAft>
              <a:defRPr sz="3200" b="1">
                <a:solidFill>
                  <a:srgbClr val="CDD6F4"/>
                </a:solidFill>
                <a:latin typeface="Segoe UI"/>
              </a:defRPr>
            </a:pPr>
            <a:r>
              <a:t>The Problem with Ad-Hoc Prompts</a:t>
            </a:r>
          </a:p>
        </p:txBody>
      </p:sp>
      <p:sp>
        <p:nvSpPr>
          <p:cNvPr id="4" name="Rectangle 3"/>
          <p:cNvSpPr/>
          <p:nvPr/>
        </p:nvSpPr>
        <p:spPr>
          <a:xfrm>
            <a:off x="822960" y="1508760"/>
            <a:ext cx="54864" cy="548640"/>
          </a:xfrm>
          <a:prstGeom prst="rect">
            <a:avLst/>
          </a:prstGeom>
          <a:solidFill>
            <a:srgbClr val="FAB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481328"/>
            <a:ext cx="3657600" cy="320040"/>
          </a:xfrm>
          <a:prstGeom prst="rect">
            <a:avLst/>
          </a:prstGeom>
          <a:noFill/>
        </p:spPr>
        <p:txBody>
          <a:bodyPr wrap="square">
            <a:spAutoFit/>
          </a:bodyPr>
          <a:lstStyle/>
          <a:p>
            <a:pPr algn="l">
              <a:lnSpc>
                <a:spcPts val="2400"/>
              </a:lnSpc>
              <a:spcAft>
                <a:spcPts val="600"/>
              </a:spcAft>
              <a:defRPr sz="2000" b="1">
                <a:solidFill>
                  <a:srgbClr val="CDD6F4"/>
                </a:solidFill>
                <a:latin typeface="Segoe UI"/>
              </a:defRPr>
            </a:pPr>
            <a:r>
              <a:t>Written once, pasted everywhere</a:t>
            </a:r>
          </a:p>
        </p:txBody>
      </p:sp>
      <p:sp>
        <p:nvSpPr>
          <p:cNvPr id="6" name="TextBox 5"/>
          <p:cNvSpPr txBox="1"/>
          <p:nvPr/>
        </p:nvSpPr>
        <p:spPr>
          <a:xfrm>
            <a:off x="1051560" y="1801368"/>
            <a:ext cx="9144000" cy="320040"/>
          </a:xfrm>
          <a:prstGeom prst="rect">
            <a:avLst/>
          </a:prstGeom>
          <a:noFill/>
        </p:spPr>
        <p:txBody>
          <a:bodyPr wrap="square">
            <a:spAutoFit/>
          </a:bodyPr>
          <a:lstStyle/>
          <a:p>
            <a:pPr algn="l">
              <a:lnSpc>
                <a:spcPts val="1800"/>
              </a:lnSpc>
              <a:spcAft>
                <a:spcPts val="450"/>
              </a:spcAft>
              <a:defRPr sz="1500" b="0">
                <a:solidFill>
                  <a:srgbClr val="6C7086"/>
                </a:solidFill>
                <a:latin typeface="Segoe UI"/>
              </a:defRPr>
            </a:pPr>
            <a:r>
              <a:t>No iteration, no improvement loop, no review process</a:t>
            </a:r>
          </a:p>
        </p:txBody>
      </p:sp>
      <p:sp>
        <p:nvSpPr>
          <p:cNvPr id="7" name="Rectangle 6"/>
          <p:cNvSpPr/>
          <p:nvPr/>
        </p:nvSpPr>
        <p:spPr>
          <a:xfrm>
            <a:off x="822960" y="2423160"/>
            <a:ext cx="54864" cy="548640"/>
          </a:xfrm>
          <a:prstGeom prst="rect">
            <a:avLst/>
          </a:prstGeom>
          <a:solidFill>
            <a:srgbClr val="F9E2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395728"/>
            <a:ext cx="3657600" cy="320040"/>
          </a:xfrm>
          <a:prstGeom prst="rect">
            <a:avLst/>
          </a:prstGeom>
          <a:noFill/>
        </p:spPr>
        <p:txBody>
          <a:bodyPr wrap="square">
            <a:spAutoFit/>
          </a:bodyPr>
          <a:lstStyle/>
          <a:p>
            <a:pPr algn="l">
              <a:lnSpc>
                <a:spcPts val="2400"/>
              </a:lnSpc>
              <a:spcAft>
                <a:spcPts val="600"/>
              </a:spcAft>
              <a:defRPr sz="2000" b="1">
                <a:solidFill>
                  <a:srgbClr val="CDD6F4"/>
                </a:solidFill>
                <a:latin typeface="Segoe UI"/>
              </a:defRPr>
            </a:pPr>
            <a:r>
              <a:t>No version control</a:t>
            </a:r>
          </a:p>
        </p:txBody>
      </p:sp>
      <p:sp>
        <p:nvSpPr>
          <p:cNvPr id="9" name="TextBox 8"/>
          <p:cNvSpPr txBox="1"/>
          <p:nvPr/>
        </p:nvSpPr>
        <p:spPr>
          <a:xfrm>
            <a:off x="1051560" y="2715768"/>
            <a:ext cx="9144000" cy="320040"/>
          </a:xfrm>
          <a:prstGeom prst="rect">
            <a:avLst/>
          </a:prstGeom>
          <a:noFill/>
        </p:spPr>
        <p:txBody>
          <a:bodyPr wrap="square">
            <a:spAutoFit/>
          </a:bodyPr>
          <a:lstStyle/>
          <a:p>
            <a:pPr algn="l">
              <a:lnSpc>
                <a:spcPts val="1800"/>
              </a:lnSpc>
              <a:spcAft>
                <a:spcPts val="450"/>
              </a:spcAft>
              <a:defRPr sz="1500" b="0">
                <a:solidFill>
                  <a:srgbClr val="6C7086"/>
                </a:solidFill>
                <a:latin typeface="Segoe UI"/>
              </a:defRPr>
            </a:pPr>
            <a:r>
              <a:t>Can't diff, blame, or revert prompt changes</a:t>
            </a:r>
          </a:p>
        </p:txBody>
      </p:sp>
      <p:sp>
        <p:nvSpPr>
          <p:cNvPr id="10" name="Rectangle 9"/>
          <p:cNvSpPr/>
          <p:nvPr/>
        </p:nvSpPr>
        <p:spPr>
          <a:xfrm>
            <a:off x="822960" y="3337560"/>
            <a:ext cx="54864" cy="548640"/>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310128"/>
            <a:ext cx="3657600" cy="320040"/>
          </a:xfrm>
          <a:prstGeom prst="rect">
            <a:avLst/>
          </a:prstGeom>
          <a:noFill/>
        </p:spPr>
        <p:txBody>
          <a:bodyPr wrap="square">
            <a:spAutoFit/>
          </a:bodyPr>
          <a:lstStyle/>
          <a:p>
            <a:pPr algn="l">
              <a:lnSpc>
                <a:spcPts val="2400"/>
              </a:lnSpc>
              <a:spcAft>
                <a:spcPts val="600"/>
              </a:spcAft>
              <a:defRPr sz="2000" b="1">
                <a:solidFill>
                  <a:srgbClr val="CDD6F4"/>
                </a:solidFill>
                <a:latin typeface="Segoe UI"/>
              </a:defRPr>
            </a:pPr>
            <a:r>
              <a:t>No reuse</a:t>
            </a:r>
          </a:p>
        </p:txBody>
      </p:sp>
      <p:sp>
        <p:nvSpPr>
          <p:cNvPr id="12" name="TextBox 11"/>
          <p:cNvSpPr txBox="1"/>
          <p:nvPr/>
        </p:nvSpPr>
        <p:spPr>
          <a:xfrm>
            <a:off x="1051560" y="3630168"/>
            <a:ext cx="9144000" cy="320040"/>
          </a:xfrm>
          <a:prstGeom prst="rect">
            <a:avLst/>
          </a:prstGeom>
          <a:noFill/>
        </p:spPr>
        <p:txBody>
          <a:bodyPr wrap="square">
            <a:spAutoFit/>
          </a:bodyPr>
          <a:lstStyle/>
          <a:p>
            <a:pPr algn="l">
              <a:lnSpc>
                <a:spcPts val="1800"/>
              </a:lnSpc>
              <a:spcAft>
                <a:spcPts val="450"/>
              </a:spcAft>
              <a:defRPr sz="1500" b="0">
                <a:solidFill>
                  <a:srgbClr val="6C7086"/>
                </a:solidFill>
                <a:latin typeface="Segoe UI"/>
              </a:defRPr>
            </a:pPr>
            <a:r>
              <a:t>Every engineer reinvents persona, guardrails, output format</a:t>
            </a:r>
          </a:p>
        </p:txBody>
      </p:sp>
      <p:sp>
        <p:nvSpPr>
          <p:cNvPr id="13" name="Rectangle 12"/>
          <p:cNvSpPr/>
          <p:nvPr/>
        </p:nvSpPr>
        <p:spPr>
          <a:xfrm>
            <a:off x="822960" y="4251960"/>
            <a:ext cx="54864" cy="54864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4224528"/>
            <a:ext cx="3657600" cy="320040"/>
          </a:xfrm>
          <a:prstGeom prst="rect">
            <a:avLst/>
          </a:prstGeom>
          <a:noFill/>
        </p:spPr>
        <p:txBody>
          <a:bodyPr wrap="square">
            <a:spAutoFit/>
          </a:bodyPr>
          <a:lstStyle/>
          <a:p>
            <a:pPr algn="l">
              <a:lnSpc>
                <a:spcPts val="2400"/>
              </a:lnSpc>
              <a:spcAft>
                <a:spcPts val="600"/>
              </a:spcAft>
              <a:defRPr sz="2000" b="1">
                <a:solidFill>
                  <a:srgbClr val="CDD6F4"/>
                </a:solidFill>
                <a:latin typeface="Segoe UI"/>
              </a:defRPr>
            </a:pPr>
            <a:r>
              <a:t>No testing</a:t>
            </a:r>
          </a:p>
        </p:txBody>
      </p:sp>
      <p:sp>
        <p:nvSpPr>
          <p:cNvPr id="15" name="TextBox 14"/>
          <p:cNvSpPr txBox="1"/>
          <p:nvPr/>
        </p:nvSpPr>
        <p:spPr>
          <a:xfrm>
            <a:off x="1051560" y="4544568"/>
            <a:ext cx="9144000" cy="320040"/>
          </a:xfrm>
          <a:prstGeom prst="rect">
            <a:avLst/>
          </a:prstGeom>
          <a:noFill/>
        </p:spPr>
        <p:txBody>
          <a:bodyPr wrap="square">
            <a:spAutoFit/>
          </a:bodyPr>
          <a:lstStyle/>
          <a:p>
            <a:pPr algn="l">
              <a:lnSpc>
                <a:spcPts val="1800"/>
              </a:lnSpc>
              <a:spcAft>
                <a:spcPts val="450"/>
              </a:spcAft>
              <a:defRPr sz="1500" b="0">
                <a:solidFill>
                  <a:srgbClr val="6C7086"/>
                </a:solidFill>
                <a:latin typeface="Segoe UI"/>
              </a:defRPr>
            </a:pPr>
            <a:r>
              <a:t>No way to verify quality or catch regressions</a:t>
            </a:r>
          </a:p>
        </p:txBody>
      </p:sp>
      <p:sp>
        <p:nvSpPr>
          <p:cNvPr id="16" name="Rectangle 15"/>
          <p:cNvSpPr/>
          <p:nvPr/>
        </p:nvSpPr>
        <p:spPr>
          <a:xfrm>
            <a:off x="822960" y="5166360"/>
            <a:ext cx="54864" cy="548640"/>
          </a:xfrm>
          <a:prstGeom prst="rect">
            <a:avLst/>
          </a:prstGeom>
          <a:solidFill>
            <a:srgbClr val="F38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5138928"/>
            <a:ext cx="3657600" cy="320040"/>
          </a:xfrm>
          <a:prstGeom prst="rect">
            <a:avLst/>
          </a:prstGeom>
          <a:noFill/>
        </p:spPr>
        <p:txBody>
          <a:bodyPr wrap="square">
            <a:spAutoFit/>
          </a:bodyPr>
          <a:lstStyle/>
          <a:p>
            <a:pPr algn="l">
              <a:lnSpc>
                <a:spcPts val="2400"/>
              </a:lnSpc>
              <a:spcAft>
                <a:spcPts val="600"/>
              </a:spcAft>
              <a:defRPr sz="2000" b="1">
                <a:solidFill>
                  <a:srgbClr val="CDD6F4"/>
                </a:solidFill>
                <a:latin typeface="Segoe UI"/>
              </a:defRPr>
            </a:pPr>
            <a:r>
              <a:t>Inconsistent outputs</a:t>
            </a:r>
          </a:p>
        </p:txBody>
      </p:sp>
      <p:sp>
        <p:nvSpPr>
          <p:cNvPr id="18" name="TextBox 17"/>
          <p:cNvSpPr txBox="1"/>
          <p:nvPr/>
        </p:nvSpPr>
        <p:spPr>
          <a:xfrm>
            <a:off x="1051560" y="5458968"/>
            <a:ext cx="9144000" cy="320040"/>
          </a:xfrm>
          <a:prstGeom prst="rect">
            <a:avLst/>
          </a:prstGeom>
          <a:noFill/>
        </p:spPr>
        <p:txBody>
          <a:bodyPr wrap="square">
            <a:spAutoFit/>
          </a:bodyPr>
          <a:lstStyle/>
          <a:p>
            <a:pPr algn="l">
              <a:lnSpc>
                <a:spcPts val="1800"/>
              </a:lnSpc>
              <a:spcAft>
                <a:spcPts val="450"/>
              </a:spcAft>
              <a:defRPr sz="1500" b="0">
                <a:solidFill>
                  <a:srgbClr val="6C7086"/>
                </a:solidFill>
                <a:latin typeface="Segoe UI"/>
              </a:defRPr>
            </a:pPr>
            <a:r>
              <a:t>Same task → wildly different results across the team</a:t>
            </a:r>
          </a:p>
        </p:txBody>
      </p:sp>
      <p:sp>
        <p:nvSpPr>
          <p:cNvPr id="19" name="TextBox 18"/>
          <p:cNvSpPr txBox="1"/>
          <p:nvPr/>
        </p:nvSpPr>
        <p:spPr>
          <a:xfrm>
            <a:off x="11155680" y="6492240"/>
            <a:ext cx="914400" cy="274320"/>
          </a:xfrm>
          <a:prstGeom prst="rect">
            <a:avLst/>
          </a:prstGeom>
          <a:noFill/>
        </p:spPr>
        <p:txBody>
          <a:bodyPr wrap="square">
            <a:spAutoFit/>
          </a:bodyPr>
          <a:lstStyle/>
          <a:p>
            <a:pPr algn="r">
              <a:lnSpc>
                <a:spcPts val="1200"/>
              </a:lnSpc>
              <a:spcAft>
                <a:spcPts val="300"/>
              </a:spcAft>
              <a:defRPr sz="1000" b="0">
                <a:solidFill>
                  <a:srgbClr val="6C7086"/>
                </a:solidFill>
                <a:latin typeface="Segoe UI"/>
              </a:defRPr>
            </a:pPr>
            <a:r>
              <a:t>2 / 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594360"/>
          </a:xfrm>
          <a:prstGeom prst="rect">
            <a:avLst/>
          </a:prstGeom>
          <a:noFill/>
        </p:spPr>
        <p:txBody>
          <a:bodyPr wrap="square">
            <a:spAutoFit/>
          </a:bodyPr>
          <a:lstStyle/>
          <a:p>
            <a:pPr algn="l">
              <a:lnSpc>
                <a:spcPts val="3840"/>
              </a:lnSpc>
              <a:spcAft>
                <a:spcPts val="960"/>
              </a:spcAft>
              <a:defRPr sz="3200" b="1">
                <a:solidFill>
                  <a:srgbClr val="CDD6F4"/>
                </a:solidFill>
                <a:latin typeface="Segoe UI"/>
              </a:defRPr>
            </a:pPr>
            <a:r>
              <a:t>The Fix: Treat Prompts as Code</a:t>
            </a:r>
          </a:p>
        </p:txBody>
      </p:sp>
      <p:sp>
        <p:nvSpPr>
          <p:cNvPr id="4" name="Rounded Rectangle 3"/>
          <p:cNvSpPr/>
          <p:nvPr/>
        </p:nvSpPr>
        <p:spPr>
          <a:xfrm>
            <a:off x="860907" y="1828800"/>
            <a:ext cx="2377440" cy="22860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0907" y="1828800"/>
            <a:ext cx="2377440"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3787" y="2103120"/>
            <a:ext cx="2011680" cy="457200"/>
          </a:xfrm>
          <a:prstGeom prst="rect">
            <a:avLst/>
          </a:prstGeom>
          <a:noFill/>
        </p:spPr>
        <p:txBody>
          <a:bodyPr wrap="square">
            <a:spAutoFit/>
          </a:bodyPr>
          <a:lstStyle/>
          <a:p>
            <a:pPr algn="ctr">
              <a:lnSpc>
                <a:spcPts val="2400"/>
              </a:lnSpc>
              <a:spcAft>
                <a:spcPts val="600"/>
              </a:spcAft>
              <a:defRPr sz="2000" b="1">
                <a:solidFill>
                  <a:srgbClr val="89B4FA"/>
                </a:solidFill>
                <a:latin typeface="Segoe UI"/>
              </a:defRPr>
            </a:pPr>
            <a:r>
              <a:t>Modular</a:t>
            </a:r>
          </a:p>
        </p:txBody>
      </p:sp>
      <p:sp>
        <p:nvSpPr>
          <p:cNvPr id="7" name="TextBox 6"/>
          <p:cNvSpPr txBox="1"/>
          <p:nvPr/>
        </p:nvSpPr>
        <p:spPr>
          <a:xfrm>
            <a:off x="1043787" y="2743200"/>
            <a:ext cx="2011680" cy="1097280"/>
          </a:xfrm>
          <a:prstGeom prst="rect">
            <a:avLst/>
          </a:prstGeom>
          <a:noFill/>
        </p:spPr>
        <p:txBody>
          <a:bodyPr wrap="square">
            <a:spAutoFit/>
          </a:bodyPr>
          <a:lstStyle/>
          <a:p>
            <a:pPr algn="ctr">
              <a:lnSpc>
                <a:spcPts val="1800"/>
              </a:lnSpc>
              <a:spcAft>
                <a:spcPts val="450"/>
              </a:spcAft>
              <a:defRPr sz="1500" b="0">
                <a:solidFill>
                  <a:srgbClr val="CDD6F4"/>
                </a:solidFill>
                <a:latin typeface="Segoe UI"/>
              </a:defRPr>
            </a:pPr>
            <a:r>
              <a:t>Compose from reusable</a:t>
            </a:r>
            <a:br/>
            <a:r>
              <a:t>building blocks</a:t>
            </a:r>
          </a:p>
        </p:txBody>
      </p:sp>
      <p:sp>
        <p:nvSpPr>
          <p:cNvPr id="8" name="Rounded Rectangle 7"/>
          <p:cNvSpPr/>
          <p:nvPr/>
        </p:nvSpPr>
        <p:spPr>
          <a:xfrm>
            <a:off x="3558387" y="1828800"/>
            <a:ext cx="2377440" cy="22860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558387" y="1828800"/>
            <a:ext cx="2377440" cy="54864"/>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1267" y="2103120"/>
            <a:ext cx="2011680" cy="457200"/>
          </a:xfrm>
          <a:prstGeom prst="rect">
            <a:avLst/>
          </a:prstGeom>
          <a:noFill/>
        </p:spPr>
        <p:txBody>
          <a:bodyPr wrap="square">
            <a:spAutoFit/>
          </a:bodyPr>
          <a:lstStyle/>
          <a:p>
            <a:pPr algn="ctr">
              <a:lnSpc>
                <a:spcPts val="2400"/>
              </a:lnSpc>
              <a:spcAft>
                <a:spcPts val="600"/>
              </a:spcAft>
              <a:defRPr sz="2000" b="1">
                <a:solidFill>
                  <a:srgbClr val="A6E3A1"/>
                </a:solidFill>
                <a:latin typeface="Segoe UI"/>
              </a:defRPr>
            </a:pPr>
            <a:r>
              <a:t>Version-</a:t>
            </a:r>
            <a:br/>
            <a:r>
              <a:t>Controlled</a:t>
            </a:r>
          </a:p>
        </p:txBody>
      </p:sp>
      <p:sp>
        <p:nvSpPr>
          <p:cNvPr id="11" name="TextBox 10"/>
          <p:cNvSpPr txBox="1"/>
          <p:nvPr/>
        </p:nvSpPr>
        <p:spPr>
          <a:xfrm>
            <a:off x="3741267" y="2743200"/>
            <a:ext cx="2011680" cy="1097280"/>
          </a:xfrm>
          <a:prstGeom prst="rect">
            <a:avLst/>
          </a:prstGeom>
          <a:noFill/>
        </p:spPr>
        <p:txBody>
          <a:bodyPr wrap="square">
            <a:spAutoFit/>
          </a:bodyPr>
          <a:lstStyle/>
          <a:p>
            <a:pPr algn="ctr">
              <a:lnSpc>
                <a:spcPts val="1800"/>
              </a:lnSpc>
              <a:spcAft>
                <a:spcPts val="450"/>
              </a:spcAft>
              <a:defRPr sz="1500" b="0">
                <a:solidFill>
                  <a:srgbClr val="CDD6F4"/>
                </a:solidFill>
                <a:latin typeface="Segoe UI"/>
              </a:defRPr>
            </a:pPr>
            <a:r>
              <a:t>Track changes in Git</a:t>
            </a:r>
            <a:br/>
            <a:r>
              <a:t>like any code</a:t>
            </a:r>
          </a:p>
        </p:txBody>
      </p:sp>
      <p:sp>
        <p:nvSpPr>
          <p:cNvPr id="12" name="Rounded Rectangle 11"/>
          <p:cNvSpPr/>
          <p:nvPr/>
        </p:nvSpPr>
        <p:spPr>
          <a:xfrm>
            <a:off x="6255867" y="1828800"/>
            <a:ext cx="2377440" cy="22860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55867" y="1828800"/>
            <a:ext cx="2377440" cy="54864"/>
          </a:xfrm>
          <a:prstGeom prst="rect">
            <a:avLst/>
          </a:prstGeom>
          <a:solidFill>
            <a:srgbClr val="F9E2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8747" y="2103120"/>
            <a:ext cx="2011680" cy="457200"/>
          </a:xfrm>
          <a:prstGeom prst="rect">
            <a:avLst/>
          </a:prstGeom>
          <a:noFill/>
        </p:spPr>
        <p:txBody>
          <a:bodyPr wrap="square">
            <a:spAutoFit/>
          </a:bodyPr>
          <a:lstStyle/>
          <a:p>
            <a:pPr algn="ctr">
              <a:lnSpc>
                <a:spcPts val="2400"/>
              </a:lnSpc>
              <a:spcAft>
                <a:spcPts val="600"/>
              </a:spcAft>
              <a:defRPr sz="2000" b="1">
                <a:solidFill>
                  <a:srgbClr val="F9E2AF"/>
                </a:solidFill>
                <a:latin typeface="Segoe UI"/>
              </a:defRPr>
            </a:pPr>
            <a:r>
              <a:t>Testable</a:t>
            </a:r>
          </a:p>
        </p:txBody>
      </p:sp>
      <p:sp>
        <p:nvSpPr>
          <p:cNvPr id="15" name="TextBox 14"/>
          <p:cNvSpPr txBox="1"/>
          <p:nvPr/>
        </p:nvSpPr>
        <p:spPr>
          <a:xfrm>
            <a:off x="6438747" y="2743200"/>
            <a:ext cx="2011680" cy="1097280"/>
          </a:xfrm>
          <a:prstGeom prst="rect">
            <a:avLst/>
          </a:prstGeom>
          <a:noFill/>
        </p:spPr>
        <p:txBody>
          <a:bodyPr wrap="square">
            <a:spAutoFit/>
          </a:bodyPr>
          <a:lstStyle/>
          <a:p>
            <a:pPr algn="ctr">
              <a:lnSpc>
                <a:spcPts val="1800"/>
              </a:lnSpc>
              <a:spcAft>
                <a:spcPts val="450"/>
              </a:spcAft>
              <a:defRPr sz="1500" b="0">
                <a:solidFill>
                  <a:srgbClr val="CDD6F4"/>
                </a:solidFill>
                <a:latin typeface="Segoe UI"/>
              </a:defRPr>
            </a:pPr>
            <a:r>
              <a:t>Reference-compare</a:t>
            </a:r>
            <a:br/>
            <a:r>
              <a:t>against known-good</a:t>
            </a:r>
          </a:p>
        </p:txBody>
      </p:sp>
      <p:sp>
        <p:nvSpPr>
          <p:cNvPr id="16" name="Rounded Rectangle 15"/>
          <p:cNvSpPr/>
          <p:nvPr/>
        </p:nvSpPr>
        <p:spPr>
          <a:xfrm>
            <a:off x="8953347" y="1828800"/>
            <a:ext cx="2377440" cy="22860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953347" y="1828800"/>
            <a:ext cx="2377440" cy="54864"/>
          </a:xfrm>
          <a:prstGeom prst="rect">
            <a:avLst/>
          </a:prstGeom>
          <a:solidFill>
            <a:srgbClr val="FAB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36227" y="2103120"/>
            <a:ext cx="2011680" cy="457200"/>
          </a:xfrm>
          <a:prstGeom prst="rect">
            <a:avLst/>
          </a:prstGeom>
          <a:noFill/>
        </p:spPr>
        <p:txBody>
          <a:bodyPr wrap="square">
            <a:spAutoFit/>
          </a:bodyPr>
          <a:lstStyle/>
          <a:p>
            <a:pPr algn="ctr">
              <a:lnSpc>
                <a:spcPts val="2400"/>
              </a:lnSpc>
              <a:spcAft>
                <a:spcPts val="600"/>
              </a:spcAft>
              <a:defRPr sz="2000" b="1">
                <a:solidFill>
                  <a:srgbClr val="FAB387"/>
                </a:solidFill>
                <a:latin typeface="Segoe UI"/>
              </a:defRPr>
            </a:pPr>
            <a:r>
              <a:t>Extensible</a:t>
            </a:r>
          </a:p>
        </p:txBody>
      </p:sp>
      <p:sp>
        <p:nvSpPr>
          <p:cNvPr id="19" name="TextBox 18"/>
          <p:cNvSpPr txBox="1"/>
          <p:nvPr/>
        </p:nvSpPr>
        <p:spPr>
          <a:xfrm>
            <a:off x="9136227" y="2743200"/>
            <a:ext cx="2011680" cy="1097280"/>
          </a:xfrm>
          <a:prstGeom prst="rect">
            <a:avLst/>
          </a:prstGeom>
          <a:noFill/>
        </p:spPr>
        <p:txBody>
          <a:bodyPr wrap="square">
            <a:spAutoFit/>
          </a:bodyPr>
          <a:lstStyle/>
          <a:p>
            <a:pPr algn="ctr">
              <a:lnSpc>
                <a:spcPts val="1800"/>
              </a:lnSpc>
              <a:spcAft>
                <a:spcPts val="450"/>
              </a:spcAft>
              <a:defRPr sz="1500" b="0">
                <a:solidFill>
                  <a:srgbClr val="CDD6F4"/>
                </a:solidFill>
                <a:latin typeface="Segoe UI"/>
              </a:defRPr>
            </a:pPr>
            <a:r>
              <a:t>Add your own</a:t>
            </a:r>
            <a:br/>
            <a:r>
              <a:t>components via PR</a:t>
            </a:r>
          </a:p>
        </p:txBody>
      </p:sp>
      <p:sp>
        <p:nvSpPr>
          <p:cNvPr id="20" name="TextBox 19"/>
          <p:cNvSpPr txBox="1"/>
          <p:nvPr/>
        </p:nvSpPr>
        <p:spPr>
          <a:xfrm>
            <a:off x="1371600" y="4754880"/>
            <a:ext cx="9144000" cy="731520"/>
          </a:xfrm>
          <a:prstGeom prst="rect">
            <a:avLst/>
          </a:prstGeom>
          <a:noFill/>
        </p:spPr>
        <p:txBody>
          <a:bodyPr wrap="square">
            <a:spAutoFit/>
          </a:bodyPr>
          <a:lstStyle/>
          <a:p>
            <a:pPr algn="ctr">
              <a:lnSpc>
                <a:spcPts val="1920"/>
              </a:lnSpc>
              <a:spcAft>
                <a:spcPts val="480"/>
              </a:spcAft>
              <a:defRPr sz="1600" b="0">
                <a:solidFill>
                  <a:srgbClr val="6C7086"/>
                </a:solidFill>
                <a:latin typeface="Segoe UI"/>
              </a:defRPr>
            </a:pPr>
            <a:r>
              <a:t>PromptKit applies the same engineering discipline you use for software</a:t>
            </a:r>
            <a:br/>
            <a:r>
              <a:t>to the prompts that build it.</a:t>
            </a:r>
          </a:p>
        </p:txBody>
      </p:sp>
      <p:sp>
        <p:nvSpPr>
          <p:cNvPr id="21" name="TextBox 20"/>
          <p:cNvSpPr txBox="1"/>
          <p:nvPr/>
        </p:nvSpPr>
        <p:spPr>
          <a:xfrm>
            <a:off x="11155680" y="6492240"/>
            <a:ext cx="914400" cy="274320"/>
          </a:xfrm>
          <a:prstGeom prst="rect">
            <a:avLst/>
          </a:prstGeom>
          <a:noFill/>
        </p:spPr>
        <p:txBody>
          <a:bodyPr wrap="square">
            <a:spAutoFit/>
          </a:bodyPr>
          <a:lstStyle/>
          <a:p>
            <a:pPr algn="r">
              <a:lnSpc>
                <a:spcPts val="1200"/>
              </a:lnSpc>
              <a:spcAft>
                <a:spcPts val="300"/>
              </a:spcAft>
              <a:defRPr sz="1000" b="0">
                <a:solidFill>
                  <a:srgbClr val="6C7086"/>
                </a:solidFill>
                <a:latin typeface="Segoe UI"/>
              </a:defRPr>
            </a:pPr>
            <a:r>
              <a:t>3 / 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594360"/>
          </a:xfrm>
          <a:prstGeom prst="rect">
            <a:avLst/>
          </a:prstGeom>
          <a:noFill/>
        </p:spPr>
        <p:txBody>
          <a:bodyPr wrap="square">
            <a:spAutoFit/>
          </a:bodyPr>
          <a:lstStyle/>
          <a:p>
            <a:pPr algn="l">
              <a:lnSpc>
                <a:spcPts val="3840"/>
              </a:lnSpc>
              <a:spcAft>
                <a:spcPts val="960"/>
              </a:spcAft>
              <a:defRPr sz="3200" b="1">
                <a:solidFill>
                  <a:srgbClr val="CDD6F4"/>
                </a:solidFill>
                <a:latin typeface="Segoe UI"/>
              </a:defRPr>
            </a:pPr>
            <a:r>
              <a:t>Architecture: The 5-Layer Composition Stack</a:t>
            </a:r>
          </a:p>
        </p:txBody>
      </p:sp>
      <p:sp>
        <p:nvSpPr>
          <p:cNvPr id="4" name="Rounded Rectangle 3"/>
          <p:cNvSpPr/>
          <p:nvPr/>
        </p:nvSpPr>
        <p:spPr>
          <a:xfrm>
            <a:off x="838047" y="1417320"/>
            <a:ext cx="10515600" cy="77724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38047" y="1417320"/>
            <a:ext cx="64008" cy="777240"/>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647" y="1463040"/>
            <a:ext cx="2011680" cy="365760"/>
          </a:xfrm>
          <a:prstGeom prst="rect">
            <a:avLst/>
          </a:prstGeom>
          <a:noFill/>
        </p:spPr>
        <p:txBody>
          <a:bodyPr wrap="square">
            <a:spAutoFit/>
          </a:bodyPr>
          <a:lstStyle/>
          <a:p>
            <a:pPr algn="l">
              <a:lnSpc>
                <a:spcPts val="2160"/>
              </a:lnSpc>
              <a:spcAft>
                <a:spcPts val="540"/>
              </a:spcAft>
              <a:defRPr sz="1800" b="1">
                <a:solidFill>
                  <a:srgbClr val="89B4FA"/>
                </a:solidFill>
                <a:latin typeface="Segoe UI"/>
              </a:defRPr>
            </a:pPr>
            <a:r>
              <a:t>① Persona</a:t>
            </a:r>
          </a:p>
        </p:txBody>
      </p:sp>
      <p:sp>
        <p:nvSpPr>
          <p:cNvPr id="7" name="TextBox 6"/>
          <p:cNvSpPr txBox="1"/>
          <p:nvPr/>
        </p:nvSpPr>
        <p:spPr>
          <a:xfrm>
            <a:off x="3124047" y="1463040"/>
            <a:ext cx="2743200" cy="365760"/>
          </a:xfrm>
          <a:prstGeom prst="rect">
            <a:avLst/>
          </a:prstGeom>
          <a:noFill/>
        </p:spPr>
        <p:txBody>
          <a:bodyPr wrap="square">
            <a:spAutoFit/>
          </a:bodyPr>
          <a:lstStyle/>
          <a:p>
            <a:pPr algn="l">
              <a:lnSpc>
                <a:spcPts val="1800"/>
              </a:lnSpc>
              <a:spcAft>
                <a:spcPts val="450"/>
              </a:spcAft>
              <a:defRPr sz="1500" b="0">
                <a:solidFill>
                  <a:srgbClr val="CDD6F4"/>
                </a:solidFill>
                <a:latin typeface="Segoe UI"/>
              </a:defRPr>
            </a:pPr>
            <a:r>
              <a:t>Who the LLM becomes</a:t>
            </a:r>
          </a:p>
        </p:txBody>
      </p:sp>
      <p:sp>
        <p:nvSpPr>
          <p:cNvPr id="8" name="TextBox 7"/>
          <p:cNvSpPr txBox="1"/>
          <p:nvPr/>
        </p:nvSpPr>
        <p:spPr>
          <a:xfrm>
            <a:off x="3124047" y="1801368"/>
            <a:ext cx="8046720" cy="365760"/>
          </a:xfrm>
          <a:prstGeom prst="rect">
            <a:avLst/>
          </a:prstGeom>
          <a:noFill/>
        </p:spPr>
        <p:txBody>
          <a:bodyPr wrap="square">
            <a:spAutoFit/>
          </a:bodyPr>
          <a:lstStyle/>
          <a:p>
            <a:pPr algn="l">
              <a:lnSpc>
                <a:spcPts val="1439"/>
              </a:lnSpc>
              <a:spcAft>
                <a:spcPts val="359"/>
              </a:spcAft>
              <a:defRPr sz="1200" b="0">
                <a:solidFill>
                  <a:srgbClr val="6C7086"/>
                </a:solidFill>
                <a:latin typeface="Segoe UI"/>
              </a:defRPr>
            </a:pPr>
            <a:r>
              <a:t>systems-engineer, security-auditor …</a:t>
            </a:r>
          </a:p>
        </p:txBody>
      </p:sp>
      <p:sp>
        <p:nvSpPr>
          <p:cNvPr id="9" name="Rounded Rectangle 8"/>
          <p:cNvSpPr/>
          <p:nvPr/>
        </p:nvSpPr>
        <p:spPr>
          <a:xfrm>
            <a:off x="1112367" y="2377440"/>
            <a:ext cx="9966960" cy="77724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12367" y="2377440"/>
            <a:ext cx="64008" cy="77724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40967" y="2423160"/>
            <a:ext cx="2011680" cy="365760"/>
          </a:xfrm>
          <a:prstGeom prst="rect">
            <a:avLst/>
          </a:prstGeom>
          <a:noFill/>
        </p:spPr>
        <p:txBody>
          <a:bodyPr wrap="square">
            <a:spAutoFit/>
          </a:bodyPr>
          <a:lstStyle/>
          <a:p>
            <a:pPr algn="l">
              <a:lnSpc>
                <a:spcPts val="2160"/>
              </a:lnSpc>
              <a:spcAft>
                <a:spcPts val="540"/>
              </a:spcAft>
              <a:defRPr sz="1800" b="1">
                <a:solidFill>
                  <a:srgbClr val="A6E3A1"/>
                </a:solidFill>
                <a:latin typeface="Segoe UI"/>
              </a:defRPr>
            </a:pPr>
            <a:r>
              <a:t>② Protocols</a:t>
            </a:r>
          </a:p>
        </p:txBody>
      </p:sp>
      <p:sp>
        <p:nvSpPr>
          <p:cNvPr id="12" name="TextBox 11"/>
          <p:cNvSpPr txBox="1"/>
          <p:nvPr/>
        </p:nvSpPr>
        <p:spPr>
          <a:xfrm>
            <a:off x="3398367" y="2423160"/>
            <a:ext cx="2743200" cy="365760"/>
          </a:xfrm>
          <a:prstGeom prst="rect">
            <a:avLst/>
          </a:prstGeom>
          <a:noFill/>
        </p:spPr>
        <p:txBody>
          <a:bodyPr wrap="square">
            <a:spAutoFit/>
          </a:bodyPr>
          <a:lstStyle/>
          <a:p>
            <a:pPr algn="l">
              <a:lnSpc>
                <a:spcPts val="1800"/>
              </a:lnSpc>
              <a:spcAft>
                <a:spcPts val="450"/>
              </a:spcAft>
              <a:defRPr sz="1500" b="0">
                <a:solidFill>
                  <a:srgbClr val="CDD6F4"/>
                </a:solidFill>
                <a:latin typeface="Segoe UI"/>
              </a:defRPr>
            </a:pPr>
            <a:r>
              <a:t>How it reasons + guardrails</a:t>
            </a:r>
          </a:p>
        </p:txBody>
      </p:sp>
      <p:sp>
        <p:nvSpPr>
          <p:cNvPr id="13" name="TextBox 12"/>
          <p:cNvSpPr txBox="1"/>
          <p:nvPr/>
        </p:nvSpPr>
        <p:spPr>
          <a:xfrm>
            <a:off x="3398367" y="2761488"/>
            <a:ext cx="7498080" cy="365760"/>
          </a:xfrm>
          <a:prstGeom prst="rect">
            <a:avLst/>
          </a:prstGeom>
          <a:noFill/>
        </p:spPr>
        <p:txBody>
          <a:bodyPr wrap="square">
            <a:spAutoFit/>
          </a:bodyPr>
          <a:lstStyle/>
          <a:p>
            <a:pPr algn="l">
              <a:lnSpc>
                <a:spcPts val="1439"/>
              </a:lnSpc>
              <a:spcAft>
                <a:spcPts val="359"/>
              </a:spcAft>
              <a:defRPr sz="1200" b="0">
                <a:solidFill>
                  <a:srgbClr val="6C7086"/>
                </a:solidFill>
                <a:latin typeface="Segoe UI"/>
              </a:defRPr>
            </a:pPr>
            <a:r>
              <a:t>anti-hallucination, root-cause-analysis …</a:t>
            </a:r>
          </a:p>
        </p:txBody>
      </p:sp>
      <p:sp>
        <p:nvSpPr>
          <p:cNvPr id="14" name="Rounded Rectangle 13"/>
          <p:cNvSpPr/>
          <p:nvPr/>
        </p:nvSpPr>
        <p:spPr>
          <a:xfrm>
            <a:off x="1386687" y="3337560"/>
            <a:ext cx="9418320" cy="77724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386687" y="3337560"/>
            <a:ext cx="64008" cy="777240"/>
          </a:xfrm>
          <a:prstGeom prst="rect">
            <a:avLst/>
          </a:prstGeom>
          <a:solidFill>
            <a:srgbClr val="F9E2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615287" y="3383280"/>
            <a:ext cx="2011680" cy="365760"/>
          </a:xfrm>
          <a:prstGeom prst="rect">
            <a:avLst/>
          </a:prstGeom>
          <a:noFill/>
        </p:spPr>
        <p:txBody>
          <a:bodyPr wrap="square">
            <a:spAutoFit/>
          </a:bodyPr>
          <a:lstStyle/>
          <a:p>
            <a:pPr algn="l">
              <a:lnSpc>
                <a:spcPts val="2160"/>
              </a:lnSpc>
              <a:spcAft>
                <a:spcPts val="540"/>
              </a:spcAft>
              <a:defRPr sz="1800" b="1">
                <a:solidFill>
                  <a:srgbClr val="F9E2AF"/>
                </a:solidFill>
                <a:latin typeface="Segoe UI"/>
              </a:defRPr>
            </a:pPr>
            <a:r>
              <a:t>③ Format</a:t>
            </a:r>
          </a:p>
        </p:txBody>
      </p:sp>
      <p:sp>
        <p:nvSpPr>
          <p:cNvPr id="17" name="TextBox 16"/>
          <p:cNvSpPr txBox="1"/>
          <p:nvPr/>
        </p:nvSpPr>
        <p:spPr>
          <a:xfrm>
            <a:off x="3672687" y="3383280"/>
            <a:ext cx="2743200" cy="365760"/>
          </a:xfrm>
          <a:prstGeom prst="rect">
            <a:avLst/>
          </a:prstGeom>
          <a:noFill/>
        </p:spPr>
        <p:txBody>
          <a:bodyPr wrap="square">
            <a:spAutoFit/>
          </a:bodyPr>
          <a:lstStyle/>
          <a:p>
            <a:pPr algn="l">
              <a:lnSpc>
                <a:spcPts val="1800"/>
              </a:lnSpc>
              <a:spcAft>
                <a:spcPts val="450"/>
              </a:spcAft>
              <a:defRPr sz="1500" b="0">
                <a:solidFill>
                  <a:srgbClr val="CDD6F4"/>
                </a:solidFill>
                <a:latin typeface="Segoe UI"/>
              </a:defRPr>
            </a:pPr>
            <a:r>
              <a:t>Output structure &amp; rules</a:t>
            </a:r>
          </a:p>
        </p:txBody>
      </p:sp>
      <p:sp>
        <p:nvSpPr>
          <p:cNvPr id="18" name="TextBox 17"/>
          <p:cNvSpPr txBox="1"/>
          <p:nvPr/>
        </p:nvSpPr>
        <p:spPr>
          <a:xfrm>
            <a:off x="3672687" y="3721608"/>
            <a:ext cx="6949440" cy="365760"/>
          </a:xfrm>
          <a:prstGeom prst="rect">
            <a:avLst/>
          </a:prstGeom>
          <a:noFill/>
        </p:spPr>
        <p:txBody>
          <a:bodyPr wrap="square">
            <a:spAutoFit/>
          </a:bodyPr>
          <a:lstStyle/>
          <a:p>
            <a:pPr algn="l">
              <a:lnSpc>
                <a:spcPts val="1439"/>
              </a:lnSpc>
              <a:spcAft>
                <a:spcPts val="359"/>
              </a:spcAft>
              <a:defRPr sz="1200" b="0">
                <a:solidFill>
                  <a:srgbClr val="6C7086"/>
                </a:solidFill>
                <a:latin typeface="Segoe UI"/>
              </a:defRPr>
            </a:pPr>
            <a:r>
              <a:t>investigation-report, design-doc …</a:t>
            </a:r>
          </a:p>
        </p:txBody>
      </p:sp>
      <p:sp>
        <p:nvSpPr>
          <p:cNvPr id="19" name="Rounded Rectangle 18"/>
          <p:cNvSpPr/>
          <p:nvPr/>
        </p:nvSpPr>
        <p:spPr>
          <a:xfrm>
            <a:off x="1661007" y="4297680"/>
            <a:ext cx="8869680" cy="77724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661007" y="4297680"/>
            <a:ext cx="64008" cy="777240"/>
          </a:xfrm>
          <a:prstGeom prst="rect">
            <a:avLst/>
          </a:prstGeom>
          <a:solidFill>
            <a:srgbClr val="FAB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889607" y="4343400"/>
            <a:ext cx="2011680" cy="365760"/>
          </a:xfrm>
          <a:prstGeom prst="rect">
            <a:avLst/>
          </a:prstGeom>
          <a:noFill/>
        </p:spPr>
        <p:txBody>
          <a:bodyPr wrap="square">
            <a:spAutoFit/>
          </a:bodyPr>
          <a:lstStyle/>
          <a:p>
            <a:pPr algn="l">
              <a:lnSpc>
                <a:spcPts val="2160"/>
              </a:lnSpc>
              <a:spcAft>
                <a:spcPts val="540"/>
              </a:spcAft>
              <a:defRPr sz="1800" b="1">
                <a:solidFill>
                  <a:srgbClr val="FAB387"/>
                </a:solidFill>
                <a:latin typeface="Segoe UI"/>
              </a:defRPr>
            </a:pPr>
            <a:r>
              <a:t>④ Taxonomy</a:t>
            </a:r>
          </a:p>
        </p:txBody>
      </p:sp>
      <p:sp>
        <p:nvSpPr>
          <p:cNvPr id="22" name="TextBox 21"/>
          <p:cNvSpPr txBox="1"/>
          <p:nvPr/>
        </p:nvSpPr>
        <p:spPr>
          <a:xfrm>
            <a:off x="3947007" y="4343400"/>
            <a:ext cx="2743200" cy="365760"/>
          </a:xfrm>
          <a:prstGeom prst="rect">
            <a:avLst/>
          </a:prstGeom>
          <a:noFill/>
        </p:spPr>
        <p:txBody>
          <a:bodyPr wrap="square">
            <a:spAutoFit/>
          </a:bodyPr>
          <a:lstStyle/>
          <a:p>
            <a:pPr algn="l">
              <a:lnSpc>
                <a:spcPts val="1800"/>
              </a:lnSpc>
              <a:spcAft>
                <a:spcPts val="450"/>
              </a:spcAft>
              <a:defRPr sz="1500" b="0">
                <a:solidFill>
                  <a:srgbClr val="CDD6F4"/>
                </a:solidFill>
                <a:latin typeface="Segoe UI"/>
              </a:defRPr>
            </a:pPr>
            <a:r>
              <a:t>Domain classification (opt.)</a:t>
            </a:r>
          </a:p>
        </p:txBody>
      </p:sp>
      <p:sp>
        <p:nvSpPr>
          <p:cNvPr id="23" name="TextBox 22"/>
          <p:cNvSpPr txBox="1"/>
          <p:nvPr/>
        </p:nvSpPr>
        <p:spPr>
          <a:xfrm>
            <a:off x="3947007" y="4681728"/>
            <a:ext cx="6400800" cy="365760"/>
          </a:xfrm>
          <a:prstGeom prst="rect">
            <a:avLst/>
          </a:prstGeom>
          <a:noFill/>
        </p:spPr>
        <p:txBody>
          <a:bodyPr wrap="square">
            <a:spAutoFit/>
          </a:bodyPr>
          <a:lstStyle/>
          <a:p>
            <a:pPr algn="l">
              <a:lnSpc>
                <a:spcPts val="1439"/>
              </a:lnSpc>
              <a:spcAft>
                <a:spcPts val="359"/>
              </a:spcAft>
              <a:defRPr sz="1200" b="0">
                <a:solidFill>
                  <a:srgbClr val="6C7086"/>
                </a:solidFill>
                <a:latin typeface="Segoe UI"/>
              </a:defRPr>
            </a:pPr>
            <a:r>
              <a:t>severity tiers, risk categories</a:t>
            </a:r>
          </a:p>
        </p:txBody>
      </p:sp>
      <p:sp>
        <p:nvSpPr>
          <p:cNvPr id="24" name="Rounded Rectangle 23"/>
          <p:cNvSpPr/>
          <p:nvPr/>
        </p:nvSpPr>
        <p:spPr>
          <a:xfrm>
            <a:off x="1935327" y="5257800"/>
            <a:ext cx="8321040" cy="77724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935327" y="5257800"/>
            <a:ext cx="64008" cy="777240"/>
          </a:xfrm>
          <a:prstGeom prst="rect">
            <a:avLst/>
          </a:prstGeom>
          <a:solidFill>
            <a:srgbClr val="F38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63927" y="5303520"/>
            <a:ext cx="2011680" cy="365760"/>
          </a:xfrm>
          <a:prstGeom prst="rect">
            <a:avLst/>
          </a:prstGeom>
          <a:noFill/>
        </p:spPr>
        <p:txBody>
          <a:bodyPr wrap="square">
            <a:spAutoFit/>
          </a:bodyPr>
          <a:lstStyle/>
          <a:p>
            <a:pPr algn="l">
              <a:lnSpc>
                <a:spcPts val="2160"/>
              </a:lnSpc>
              <a:spcAft>
                <a:spcPts val="540"/>
              </a:spcAft>
              <a:defRPr sz="1800" b="1">
                <a:solidFill>
                  <a:srgbClr val="F38BA8"/>
                </a:solidFill>
                <a:latin typeface="Segoe UI"/>
              </a:defRPr>
            </a:pPr>
            <a:r>
              <a:t>⑤ Template</a:t>
            </a:r>
          </a:p>
        </p:txBody>
      </p:sp>
      <p:sp>
        <p:nvSpPr>
          <p:cNvPr id="27" name="TextBox 26"/>
          <p:cNvSpPr txBox="1"/>
          <p:nvPr/>
        </p:nvSpPr>
        <p:spPr>
          <a:xfrm>
            <a:off x="4221327" y="5303520"/>
            <a:ext cx="2743200" cy="365760"/>
          </a:xfrm>
          <a:prstGeom prst="rect">
            <a:avLst/>
          </a:prstGeom>
          <a:noFill/>
        </p:spPr>
        <p:txBody>
          <a:bodyPr wrap="square">
            <a:spAutoFit/>
          </a:bodyPr>
          <a:lstStyle/>
          <a:p>
            <a:pPr algn="l">
              <a:lnSpc>
                <a:spcPts val="1800"/>
              </a:lnSpc>
              <a:spcAft>
                <a:spcPts val="450"/>
              </a:spcAft>
              <a:defRPr sz="1500" b="0">
                <a:solidFill>
                  <a:srgbClr val="CDD6F4"/>
                </a:solidFill>
                <a:latin typeface="Segoe UI"/>
              </a:defRPr>
            </a:pPr>
            <a:r>
              <a:t>The task with {{params}}</a:t>
            </a:r>
          </a:p>
        </p:txBody>
      </p:sp>
      <p:sp>
        <p:nvSpPr>
          <p:cNvPr id="28" name="TextBox 27"/>
          <p:cNvSpPr txBox="1"/>
          <p:nvPr/>
        </p:nvSpPr>
        <p:spPr>
          <a:xfrm>
            <a:off x="4221327" y="5641848"/>
            <a:ext cx="5852160" cy="365760"/>
          </a:xfrm>
          <a:prstGeom prst="rect">
            <a:avLst/>
          </a:prstGeom>
          <a:noFill/>
        </p:spPr>
        <p:txBody>
          <a:bodyPr wrap="square">
            <a:spAutoFit/>
          </a:bodyPr>
          <a:lstStyle/>
          <a:p>
            <a:pPr algn="l">
              <a:lnSpc>
                <a:spcPts val="1439"/>
              </a:lnSpc>
              <a:spcAft>
                <a:spcPts val="359"/>
              </a:spcAft>
              <a:defRPr sz="1200" b="0">
                <a:solidFill>
                  <a:srgbClr val="6C7086"/>
                </a:solidFill>
                <a:latin typeface="Segoe UI"/>
              </a:defRPr>
            </a:pPr>
            <a:r>
              <a:t>investigate-bug, review-code …</a:t>
            </a:r>
          </a:p>
        </p:txBody>
      </p:sp>
      <p:sp>
        <p:nvSpPr>
          <p:cNvPr id="29" name="TextBox 28"/>
          <p:cNvSpPr txBox="1"/>
          <p:nvPr/>
        </p:nvSpPr>
        <p:spPr>
          <a:xfrm>
            <a:off x="914400" y="6309360"/>
            <a:ext cx="10058400" cy="365760"/>
          </a:xfrm>
          <a:prstGeom prst="rect">
            <a:avLst/>
          </a:prstGeom>
          <a:noFill/>
        </p:spPr>
        <p:txBody>
          <a:bodyPr wrap="square">
            <a:spAutoFit/>
          </a:bodyPr>
          <a:lstStyle/>
          <a:p>
            <a:pPr algn="ctr">
              <a:lnSpc>
                <a:spcPts val="1560"/>
              </a:lnSpc>
              <a:spcAft>
                <a:spcPts val="390"/>
              </a:spcAft>
              <a:defRPr sz="1300" b="0">
                <a:solidFill>
                  <a:srgbClr val="6C7086"/>
                </a:solidFill>
                <a:latin typeface="Segoe UI"/>
              </a:defRPr>
            </a:pPr>
            <a:r>
              <a:t>Templates declare which components to compose via YAML frontmatter  →  the bootstrap engine snaps them together</a:t>
            </a:r>
          </a:p>
        </p:txBody>
      </p:sp>
      <p:sp>
        <p:nvSpPr>
          <p:cNvPr id="30" name="TextBox 29"/>
          <p:cNvSpPr txBox="1"/>
          <p:nvPr/>
        </p:nvSpPr>
        <p:spPr>
          <a:xfrm>
            <a:off x="11155680" y="6492240"/>
            <a:ext cx="914400" cy="274320"/>
          </a:xfrm>
          <a:prstGeom prst="rect">
            <a:avLst/>
          </a:prstGeom>
          <a:noFill/>
        </p:spPr>
        <p:txBody>
          <a:bodyPr wrap="square">
            <a:spAutoFit/>
          </a:bodyPr>
          <a:lstStyle/>
          <a:p>
            <a:pPr algn="r">
              <a:lnSpc>
                <a:spcPts val="1200"/>
              </a:lnSpc>
              <a:spcAft>
                <a:spcPts val="300"/>
              </a:spcAft>
              <a:defRPr sz="1000" b="0">
                <a:solidFill>
                  <a:srgbClr val="6C7086"/>
                </a:solidFill>
                <a:latin typeface="Segoe UI"/>
              </a:defRPr>
            </a:pPr>
            <a:r>
              <a:t>4 / 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594360"/>
          </a:xfrm>
          <a:prstGeom prst="rect">
            <a:avLst/>
          </a:prstGeom>
          <a:noFill/>
        </p:spPr>
        <p:txBody>
          <a:bodyPr wrap="square">
            <a:spAutoFit/>
          </a:bodyPr>
          <a:lstStyle/>
          <a:p>
            <a:pPr algn="l">
              <a:lnSpc>
                <a:spcPts val="3840"/>
              </a:lnSpc>
              <a:spcAft>
                <a:spcPts val="960"/>
              </a:spcAft>
              <a:defRPr sz="3200" b="1">
                <a:solidFill>
                  <a:srgbClr val="CDD6F4"/>
                </a:solidFill>
                <a:latin typeface="Segoe UI"/>
              </a:defRPr>
            </a:pPr>
            <a:r>
              <a:t>Deep Dive: Personas</a:t>
            </a:r>
          </a:p>
        </p:txBody>
      </p:sp>
      <p:sp>
        <p:nvSpPr>
          <p:cNvPr id="4" name="TextBox 3"/>
          <p:cNvSpPr txBox="1"/>
          <p:nvPr/>
        </p:nvSpPr>
        <p:spPr>
          <a:xfrm>
            <a:off x="731520" y="868680"/>
            <a:ext cx="10058400" cy="411480"/>
          </a:xfrm>
          <a:prstGeom prst="rect">
            <a:avLst/>
          </a:prstGeom>
          <a:noFill/>
        </p:spPr>
        <p:txBody>
          <a:bodyPr wrap="square">
            <a:spAutoFit/>
          </a:bodyPr>
          <a:lstStyle/>
          <a:p>
            <a:pPr algn="l">
              <a:lnSpc>
                <a:spcPts val="1920"/>
              </a:lnSpc>
              <a:spcAft>
                <a:spcPts val="480"/>
              </a:spcAft>
              <a:defRPr sz="1600" b="0">
                <a:solidFill>
                  <a:srgbClr val="6C7086"/>
                </a:solidFill>
                <a:latin typeface="Segoe UI"/>
              </a:defRPr>
            </a:pPr>
            <a:r>
              <a:t>Layer ① — Who the LLM becomes</a:t>
            </a:r>
          </a:p>
        </p:txBody>
      </p:sp>
      <p:sp>
        <p:nvSpPr>
          <p:cNvPr id="5" name="Rounded Rectangle 4"/>
          <p:cNvSpPr/>
          <p:nvPr/>
        </p:nvSpPr>
        <p:spPr>
          <a:xfrm>
            <a:off x="731520" y="1371600"/>
            <a:ext cx="5029200" cy="310896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4663440" cy="2926080"/>
          </a:xfrm>
          <a:prstGeom prst="rect">
            <a:avLst/>
          </a:prstGeom>
          <a:noFill/>
        </p:spPr>
        <p:txBody>
          <a:bodyPr wrap="square">
            <a:spAutoFit/>
          </a:bodyPr>
          <a:lstStyle/>
          <a:p>
            <a:pPr algn="l">
              <a:lnSpc>
                <a:spcPts val="1620"/>
              </a:lnSpc>
              <a:spcAft>
                <a:spcPts val="359"/>
              </a:spcAft>
              <a:defRPr sz="1200" b="0">
                <a:solidFill>
                  <a:srgbClr val="A6E3A1"/>
                </a:solidFill>
                <a:latin typeface="Cascadia Code"/>
              </a:defRPr>
            </a:pPr>
            <a:r>
              <a:t>---</a:t>
            </a:r>
            <a:br/>
            <a:r>
              <a:t>name: systems-engineer</a:t>
            </a:r>
            <a:br/>
            <a:r>
              <a:t>description: &gt;</a:t>
            </a:r>
            <a:br/>
            <a:r>
              <a:t>  Senior systems engineer with deep</a:t>
            </a:r>
            <a:br/>
            <a:r>
              <a:t>  expertise in memory management,</a:t>
            </a:r>
            <a:br/>
            <a:r>
              <a:t>  concurrency, and performance.</a:t>
            </a:r>
            <a:br/>
            <a:r>
              <a:t>domain:</a:t>
            </a:r>
            <a:br/>
            <a:r>
              <a:t>  - systems programming</a:t>
            </a:r>
            <a:br/>
            <a:r>
              <a:t>  - debugging</a:t>
            </a:r>
            <a:br/>
            <a:r>
              <a:t>  - performance analysis</a:t>
            </a:r>
            <a:br/>
            <a:r>
              <a:t>tone: precise, technical, methodical</a:t>
            </a:r>
            <a:br/>
            <a:r>
              <a:t>---</a:t>
            </a:r>
          </a:p>
        </p:txBody>
      </p:sp>
      <p:sp>
        <p:nvSpPr>
          <p:cNvPr id="7" name="TextBox 6"/>
          <p:cNvSpPr txBox="1"/>
          <p:nvPr/>
        </p:nvSpPr>
        <p:spPr>
          <a:xfrm>
            <a:off x="6217920" y="1371600"/>
            <a:ext cx="5029200" cy="320040"/>
          </a:xfrm>
          <a:prstGeom prst="rect">
            <a:avLst/>
          </a:prstGeom>
          <a:noFill/>
        </p:spPr>
        <p:txBody>
          <a:bodyPr wrap="square">
            <a:spAutoFit/>
          </a:bodyPr>
          <a:lstStyle/>
          <a:p>
            <a:pPr algn="l">
              <a:lnSpc>
                <a:spcPts val="2400"/>
              </a:lnSpc>
              <a:spcAft>
                <a:spcPts val="600"/>
              </a:spcAft>
              <a:defRPr sz="2000" b="1">
                <a:solidFill>
                  <a:srgbClr val="89B4FA"/>
                </a:solidFill>
                <a:latin typeface="Segoe UI"/>
              </a:defRPr>
            </a:pPr>
            <a:r>
              <a:t>Behavioral Constraints</a:t>
            </a:r>
          </a:p>
        </p:txBody>
      </p:sp>
      <p:sp>
        <p:nvSpPr>
          <p:cNvPr id="8" name="TextBox 7"/>
          <p:cNvSpPr txBox="1"/>
          <p:nvPr/>
        </p:nvSpPr>
        <p:spPr>
          <a:xfrm>
            <a:off x="6217920" y="1920240"/>
            <a:ext cx="5303520" cy="457200"/>
          </a:xfrm>
          <a:prstGeom prst="rect">
            <a:avLst/>
          </a:prstGeom>
          <a:noFill/>
        </p:spPr>
        <p:txBody>
          <a:bodyPr wrap="square">
            <a:spAutoFit/>
          </a:bodyPr>
          <a:lstStyle/>
          <a:p>
            <a:pPr algn="l">
              <a:lnSpc>
                <a:spcPts val="1560"/>
              </a:lnSpc>
              <a:spcAft>
                <a:spcPts val="390"/>
              </a:spcAft>
              <a:defRPr sz="1300" b="0">
                <a:solidFill>
                  <a:srgbClr val="CDD6F4"/>
                </a:solidFill>
                <a:latin typeface="Segoe UI"/>
              </a:defRPr>
            </a:pPr>
            <a:r>
              <a:t>  •  Reason from first principles — trace causality, never guess</a:t>
            </a:r>
          </a:p>
        </p:txBody>
      </p:sp>
      <p:sp>
        <p:nvSpPr>
          <p:cNvPr id="9" name="TextBox 8"/>
          <p:cNvSpPr txBox="1"/>
          <p:nvPr/>
        </p:nvSpPr>
        <p:spPr>
          <a:xfrm>
            <a:off x="6217920" y="2423160"/>
            <a:ext cx="5303520" cy="457200"/>
          </a:xfrm>
          <a:prstGeom prst="rect">
            <a:avLst/>
          </a:prstGeom>
          <a:noFill/>
        </p:spPr>
        <p:txBody>
          <a:bodyPr wrap="square">
            <a:spAutoFit/>
          </a:bodyPr>
          <a:lstStyle/>
          <a:p>
            <a:pPr algn="l">
              <a:lnSpc>
                <a:spcPts val="1560"/>
              </a:lnSpc>
              <a:spcAft>
                <a:spcPts val="390"/>
              </a:spcAft>
              <a:defRPr sz="1300" b="0">
                <a:solidFill>
                  <a:srgbClr val="CDD6F4"/>
                </a:solidFill>
                <a:latin typeface="Segoe UI"/>
              </a:defRPr>
            </a:pPr>
            <a:r>
              <a:t>  •  Distinguish epistemic states — label KNOWN / INFERRED / ASSUMED</a:t>
            </a:r>
          </a:p>
        </p:txBody>
      </p:sp>
      <p:sp>
        <p:nvSpPr>
          <p:cNvPr id="10" name="TextBox 9"/>
          <p:cNvSpPr txBox="1"/>
          <p:nvPr/>
        </p:nvSpPr>
        <p:spPr>
          <a:xfrm>
            <a:off x="6217920" y="2926080"/>
            <a:ext cx="5303520" cy="457200"/>
          </a:xfrm>
          <a:prstGeom prst="rect">
            <a:avLst/>
          </a:prstGeom>
          <a:noFill/>
        </p:spPr>
        <p:txBody>
          <a:bodyPr wrap="square">
            <a:spAutoFit/>
          </a:bodyPr>
          <a:lstStyle/>
          <a:p>
            <a:pPr algn="l">
              <a:lnSpc>
                <a:spcPts val="1560"/>
              </a:lnSpc>
              <a:spcAft>
                <a:spcPts val="390"/>
              </a:spcAft>
              <a:defRPr sz="1300" b="0">
                <a:solidFill>
                  <a:srgbClr val="CDD6F4"/>
                </a:solidFill>
                <a:latin typeface="Segoe UI"/>
              </a:defRPr>
            </a:pPr>
            <a:r>
              <a:t>  •  Prefer correctness over cleverness</a:t>
            </a:r>
          </a:p>
        </p:txBody>
      </p:sp>
      <p:sp>
        <p:nvSpPr>
          <p:cNvPr id="11" name="TextBox 10"/>
          <p:cNvSpPr txBox="1"/>
          <p:nvPr/>
        </p:nvSpPr>
        <p:spPr>
          <a:xfrm>
            <a:off x="6217920" y="3429000"/>
            <a:ext cx="5303520" cy="457200"/>
          </a:xfrm>
          <a:prstGeom prst="rect">
            <a:avLst/>
          </a:prstGeom>
          <a:noFill/>
        </p:spPr>
        <p:txBody>
          <a:bodyPr wrap="square">
            <a:spAutoFit/>
          </a:bodyPr>
          <a:lstStyle/>
          <a:p>
            <a:pPr algn="l">
              <a:lnSpc>
                <a:spcPts val="1560"/>
              </a:lnSpc>
              <a:spcAft>
                <a:spcPts val="390"/>
              </a:spcAft>
              <a:defRPr sz="1300" b="0">
                <a:solidFill>
                  <a:srgbClr val="CDD6F4"/>
                </a:solidFill>
                <a:latin typeface="Segoe UI"/>
              </a:defRPr>
            </a:pPr>
            <a:r>
              <a:t>  •  Explicit uncertainty — say what's missing</a:t>
            </a:r>
          </a:p>
        </p:txBody>
      </p:sp>
      <p:sp>
        <p:nvSpPr>
          <p:cNvPr id="12" name="TextBox 11"/>
          <p:cNvSpPr txBox="1"/>
          <p:nvPr/>
        </p:nvSpPr>
        <p:spPr>
          <a:xfrm>
            <a:off x="6217920" y="3931920"/>
            <a:ext cx="5303520" cy="457200"/>
          </a:xfrm>
          <a:prstGeom prst="rect">
            <a:avLst/>
          </a:prstGeom>
          <a:noFill/>
        </p:spPr>
        <p:txBody>
          <a:bodyPr wrap="square">
            <a:spAutoFit/>
          </a:bodyPr>
          <a:lstStyle/>
          <a:p>
            <a:pPr algn="l">
              <a:lnSpc>
                <a:spcPts val="1560"/>
              </a:lnSpc>
              <a:spcAft>
                <a:spcPts val="390"/>
              </a:spcAft>
              <a:defRPr sz="1300" b="0">
                <a:solidFill>
                  <a:srgbClr val="CDD6F4"/>
                </a:solidFill>
                <a:latin typeface="Segoe UI"/>
              </a:defRPr>
            </a:pPr>
            <a:r>
              <a:t>  •  No hallucination — refuse to fabricate</a:t>
            </a:r>
          </a:p>
        </p:txBody>
      </p:sp>
      <p:sp>
        <p:nvSpPr>
          <p:cNvPr id="13" name="Rounded Rectangle 12"/>
          <p:cNvSpPr/>
          <p:nvPr/>
        </p:nvSpPr>
        <p:spPr>
          <a:xfrm>
            <a:off x="731520" y="4480560"/>
            <a:ext cx="10698480" cy="210312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572000"/>
            <a:ext cx="10058400" cy="320040"/>
          </a:xfrm>
          <a:prstGeom prst="rect">
            <a:avLst/>
          </a:prstGeom>
          <a:noFill/>
        </p:spPr>
        <p:txBody>
          <a:bodyPr wrap="square">
            <a:spAutoFit/>
          </a:bodyPr>
          <a:lstStyle/>
          <a:p>
            <a:pPr algn="l">
              <a:lnSpc>
                <a:spcPts val="1920"/>
              </a:lnSpc>
              <a:spcAft>
                <a:spcPts val="480"/>
              </a:spcAft>
              <a:defRPr sz="1600" b="1">
                <a:solidFill>
                  <a:srgbClr val="F9E2AF"/>
                </a:solidFill>
                <a:latin typeface="Segoe UI"/>
              </a:defRPr>
            </a:pPr>
            <a:r>
              <a:t>Available Personas</a:t>
            </a:r>
          </a:p>
        </p:txBody>
      </p:sp>
      <p:sp>
        <p:nvSpPr>
          <p:cNvPr id="15" name="TextBox 14"/>
          <p:cNvSpPr txBox="1"/>
          <p:nvPr/>
        </p:nvSpPr>
        <p:spPr>
          <a:xfrm>
            <a:off x="1005840" y="4983480"/>
            <a:ext cx="1645920" cy="320040"/>
          </a:xfrm>
          <a:prstGeom prst="rect">
            <a:avLst/>
          </a:prstGeom>
          <a:noFill/>
        </p:spPr>
        <p:txBody>
          <a:bodyPr wrap="square">
            <a:spAutoFit/>
          </a:bodyPr>
          <a:lstStyle/>
          <a:p>
            <a:pPr algn="l">
              <a:lnSpc>
                <a:spcPts val="1320"/>
              </a:lnSpc>
              <a:spcAft>
                <a:spcPts val="330"/>
              </a:spcAft>
              <a:defRPr sz="1100" b="1">
                <a:solidFill>
                  <a:srgbClr val="89B4FA"/>
                </a:solidFill>
                <a:latin typeface="Cascadia Code"/>
              </a:defRPr>
            </a:pPr>
            <a:r>
              <a:t>systems-engineer</a:t>
            </a:r>
          </a:p>
        </p:txBody>
      </p:sp>
      <p:sp>
        <p:nvSpPr>
          <p:cNvPr id="16" name="TextBox 15"/>
          <p:cNvSpPr txBox="1"/>
          <p:nvPr/>
        </p:nvSpPr>
        <p:spPr>
          <a:xfrm>
            <a:off x="2697480" y="4983480"/>
            <a:ext cx="1828800" cy="320040"/>
          </a:xfrm>
          <a:prstGeom prst="rect">
            <a:avLst/>
          </a:prstGeom>
          <a:noFill/>
        </p:spPr>
        <p:txBody>
          <a:bodyPr wrap="square">
            <a:spAutoFit/>
          </a:bodyPr>
          <a:lstStyle/>
          <a:p>
            <a:pPr algn="l">
              <a:lnSpc>
                <a:spcPts val="1320"/>
              </a:lnSpc>
              <a:spcAft>
                <a:spcPts val="330"/>
              </a:spcAft>
              <a:defRPr sz="1100" b="0">
                <a:solidFill>
                  <a:srgbClr val="6C7086"/>
                </a:solidFill>
                <a:latin typeface="Segoe UI"/>
              </a:defRPr>
            </a:pPr>
            <a:r>
              <a:t>Memory, concurrency, debugging</a:t>
            </a:r>
          </a:p>
        </p:txBody>
      </p:sp>
      <p:sp>
        <p:nvSpPr>
          <p:cNvPr id="17" name="TextBox 16"/>
          <p:cNvSpPr txBox="1"/>
          <p:nvPr/>
        </p:nvSpPr>
        <p:spPr>
          <a:xfrm>
            <a:off x="4572000" y="4983480"/>
            <a:ext cx="1645920" cy="320040"/>
          </a:xfrm>
          <a:prstGeom prst="rect">
            <a:avLst/>
          </a:prstGeom>
          <a:noFill/>
        </p:spPr>
        <p:txBody>
          <a:bodyPr wrap="square">
            <a:spAutoFit/>
          </a:bodyPr>
          <a:lstStyle/>
          <a:p>
            <a:pPr algn="l">
              <a:lnSpc>
                <a:spcPts val="1320"/>
              </a:lnSpc>
              <a:spcAft>
                <a:spcPts val="330"/>
              </a:spcAft>
              <a:defRPr sz="1100" b="1">
                <a:solidFill>
                  <a:srgbClr val="89B4FA"/>
                </a:solidFill>
                <a:latin typeface="Cascadia Code"/>
              </a:defRPr>
            </a:pPr>
            <a:r>
              <a:t>security-auditor</a:t>
            </a:r>
          </a:p>
        </p:txBody>
      </p:sp>
      <p:sp>
        <p:nvSpPr>
          <p:cNvPr id="18" name="TextBox 17"/>
          <p:cNvSpPr txBox="1"/>
          <p:nvPr/>
        </p:nvSpPr>
        <p:spPr>
          <a:xfrm>
            <a:off x="6263640" y="4983480"/>
            <a:ext cx="1828800" cy="320040"/>
          </a:xfrm>
          <a:prstGeom prst="rect">
            <a:avLst/>
          </a:prstGeom>
          <a:noFill/>
        </p:spPr>
        <p:txBody>
          <a:bodyPr wrap="square">
            <a:spAutoFit/>
          </a:bodyPr>
          <a:lstStyle/>
          <a:p>
            <a:pPr algn="l">
              <a:lnSpc>
                <a:spcPts val="1320"/>
              </a:lnSpc>
              <a:spcAft>
                <a:spcPts val="330"/>
              </a:spcAft>
              <a:defRPr sz="1100" b="0">
                <a:solidFill>
                  <a:srgbClr val="6C7086"/>
                </a:solidFill>
                <a:latin typeface="Segoe UI"/>
              </a:defRPr>
            </a:pPr>
            <a:r>
              <a:t>Vulnerability discovery, threat modeling</a:t>
            </a:r>
          </a:p>
        </p:txBody>
      </p:sp>
      <p:sp>
        <p:nvSpPr>
          <p:cNvPr id="19" name="TextBox 18"/>
          <p:cNvSpPr txBox="1"/>
          <p:nvPr/>
        </p:nvSpPr>
        <p:spPr>
          <a:xfrm>
            <a:off x="8138160" y="4983480"/>
            <a:ext cx="1645920" cy="320040"/>
          </a:xfrm>
          <a:prstGeom prst="rect">
            <a:avLst/>
          </a:prstGeom>
          <a:noFill/>
        </p:spPr>
        <p:txBody>
          <a:bodyPr wrap="square">
            <a:spAutoFit/>
          </a:bodyPr>
          <a:lstStyle/>
          <a:p>
            <a:pPr algn="l">
              <a:lnSpc>
                <a:spcPts val="1320"/>
              </a:lnSpc>
              <a:spcAft>
                <a:spcPts val="330"/>
              </a:spcAft>
              <a:defRPr sz="1100" b="1">
                <a:solidFill>
                  <a:srgbClr val="89B4FA"/>
                </a:solidFill>
                <a:latin typeface="Cascadia Code"/>
              </a:defRPr>
            </a:pPr>
            <a:r>
              <a:t>software-architect</a:t>
            </a:r>
          </a:p>
        </p:txBody>
      </p:sp>
      <p:sp>
        <p:nvSpPr>
          <p:cNvPr id="20" name="TextBox 19"/>
          <p:cNvSpPr txBox="1"/>
          <p:nvPr/>
        </p:nvSpPr>
        <p:spPr>
          <a:xfrm>
            <a:off x="9829800" y="4983480"/>
            <a:ext cx="1828800" cy="320040"/>
          </a:xfrm>
          <a:prstGeom prst="rect">
            <a:avLst/>
          </a:prstGeom>
          <a:noFill/>
        </p:spPr>
        <p:txBody>
          <a:bodyPr wrap="square">
            <a:spAutoFit/>
          </a:bodyPr>
          <a:lstStyle/>
          <a:p>
            <a:pPr algn="l">
              <a:lnSpc>
                <a:spcPts val="1320"/>
              </a:lnSpc>
              <a:spcAft>
                <a:spcPts val="330"/>
              </a:spcAft>
              <a:defRPr sz="1100" b="0">
                <a:solidFill>
                  <a:srgbClr val="6C7086"/>
                </a:solidFill>
                <a:latin typeface="Segoe UI"/>
              </a:defRPr>
            </a:pPr>
            <a:r>
              <a:t>System design, API contracts, tradeoffs</a:t>
            </a:r>
          </a:p>
        </p:txBody>
      </p:sp>
      <p:sp>
        <p:nvSpPr>
          <p:cNvPr id="21" name="TextBox 20"/>
          <p:cNvSpPr txBox="1"/>
          <p:nvPr/>
        </p:nvSpPr>
        <p:spPr>
          <a:xfrm>
            <a:off x="1005840" y="5367528"/>
            <a:ext cx="1645920" cy="320040"/>
          </a:xfrm>
          <a:prstGeom prst="rect">
            <a:avLst/>
          </a:prstGeom>
          <a:noFill/>
        </p:spPr>
        <p:txBody>
          <a:bodyPr wrap="square">
            <a:spAutoFit/>
          </a:bodyPr>
          <a:lstStyle/>
          <a:p>
            <a:pPr algn="l">
              <a:lnSpc>
                <a:spcPts val="1320"/>
              </a:lnSpc>
              <a:spcAft>
                <a:spcPts val="330"/>
              </a:spcAft>
              <a:defRPr sz="1100" b="1">
                <a:solidFill>
                  <a:srgbClr val="89B4FA"/>
                </a:solidFill>
                <a:latin typeface="Cascadia Code"/>
              </a:defRPr>
            </a:pPr>
            <a:r>
              <a:t>devops-engineer</a:t>
            </a:r>
          </a:p>
        </p:txBody>
      </p:sp>
      <p:sp>
        <p:nvSpPr>
          <p:cNvPr id="22" name="TextBox 21"/>
          <p:cNvSpPr txBox="1"/>
          <p:nvPr/>
        </p:nvSpPr>
        <p:spPr>
          <a:xfrm>
            <a:off x="2697480" y="5367528"/>
            <a:ext cx="1828800" cy="320040"/>
          </a:xfrm>
          <a:prstGeom prst="rect">
            <a:avLst/>
          </a:prstGeom>
          <a:noFill/>
        </p:spPr>
        <p:txBody>
          <a:bodyPr wrap="square">
            <a:spAutoFit/>
          </a:bodyPr>
          <a:lstStyle/>
          <a:p>
            <a:pPr algn="l">
              <a:lnSpc>
                <a:spcPts val="1320"/>
              </a:lnSpc>
              <a:spcAft>
                <a:spcPts val="330"/>
              </a:spcAft>
              <a:defRPr sz="1100" b="0">
                <a:solidFill>
                  <a:srgbClr val="6C7086"/>
                </a:solidFill>
                <a:latin typeface="Segoe UI"/>
              </a:defRPr>
            </a:pPr>
            <a:r>
              <a:t>CI/CD, release engineering, IaC</a:t>
            </a:r>
          </a:p>
        </p:txBody>
      </p:sp>
      <p:sp>
        <p:nvSpPr>
          <p:cNvPr id="23" name="TextBox 22"/>
          <p:cNvSpPr txBox="1"/>
          <p:nvPr/>
        </p:nvSpPr>
        <p:spPr>
          <a:xfrm>
            <a:off x="4572000" y="5367528"/>
            <a:ext cx="1645920" cy="320040"/>
          </a:xfrm>
          <a:prstGeom prst="rect">
            <a:avLst/>
          </a:prstGeom>
          <a:noFill/>
        </p:spPr>
        <p:txBody>
          <a:bodyPr wrap="square">
            <a:spAutoFit/>
          </a:bodyPr>
          <a:lstStyle/>
          <a:p>
            <a:pPr algn="l">
              <a:lnSpc>
                <a:spcPts val="1320"/>
              </a:lnSpc>
              <a:spcAft>
                <a:spcPts val="330"/>
              </a:spcAft>
              <a:defRPr sz="1100" b="1">
                <a:solidFill>
                  <a:srgbClr val="89B4FA"/>
                </a:solidFill>
                <a:latin typeface="Cascadia Code"/>
              </a:defRPr>
            </a:pPr>
            <a:r>
              <a:t>reverse-engineer</a:t>
            </a:r>
          </a:p>
        </p:txBody>
      </p:sp>
      <p:sp>
        <p:nvSpPr>
          <p:cNvPr id="24" name="TextBox 23"/>
          <p:cNvSpPr txBox="1"/>
          <p:nvPr/>
        </p:nvSpPr>
        <p:spPr>
          <a:xfrm>
            <a:off x="6263640" y="5367528"/>
            <a:ext cx="1828800" cy="320040"/>
          </a:xfrm>
          <a:prstGeom prst="rect">
            <a:avLst/>
          </a:prstGeom>
          <a:noFill/>
        </p:spPr>
        <p:txBody>
          <a:bodyPr wrap="square">
            <a:spAutoFit/>
          </a:bodyPr>
          <a:lstStyle/>
          <a:p>
            <a:pPr algn="l">
              <a:lnSpc>
                <a:spcPts val="1320"/>
              </a:lnSpc>
              <a:spcAft>
                <a:spcPts val="330"/>
              </a:spcAft>
              <a:defRPr sz="1100" b="0">
                <a:solidFill>
                  <a:srgbClr val="6C7086"/>
                </a:solidFill>
                <a:latin typeface="Segoe UI"/>
              </a:defRPr>
            </a:pPr>
            <a:r>
              <a:t>Spec extraction from existing code</a:t>
            </a:r>
          </a:p>
        </p:txBody>
      </p:sp>
      <p:sp>
        <p:nvSpPr>
          <p:cNvPr id="25" name="TextBox 24"/>
          <p:cNvSpPr txBox="1"/>
          <p:nvPr/>
        </p:nvSpPr>
        <p:spPr>
          <a:xfrm>
            <a:off x="8138160" y="5367528"/>
            <a:ext cx="1645920" cy="320040"/>
          </a:xfrm>
          <a:prstGeom prst="rect">
            <a:avLst/>
          </a:prstGeom>
          <a:noFill/>
        </p:spPr>
        <p:txBody>
          <a:bodyPr wrap="square">
            <a:spAutoFit/>
          </a:bodyPr>
          <a:lstStyle/>
          <a:p>
            <a:pPr algn="l">
              <a:lnSpc>
                <a:spcPts val="1320"/>
              </a:lnSpc>
              <a:spcAft>
                <a:spcPts val="330"/>
              </a:spcAft>
              <a:defRPr sz="1100" b="1">
                <a:solidFill>
                  <a:srgbClr val="89B4FA"/>
                </a:solidFill>
                <a:latin typeface="Cascadia Code"/>
              </a:defRPr>
            </a:pPr>
            <a:r>
              <a:t>specification-analyst</a:t>
            </a:r>
          </a:p>
        </p:txBody>
      </p:sp>
      <p:sp>
        <p:nvSpPr>
          <p:cNvPr id="26" name="TextBox 25"/>
          <p:cNvSpPr txBox="1"/>
          <p:nvPr/>
        </p:nvSpPr>
        <p:spPr>
          <a:xfrm>
            <a:off x="9829800" y="5367528"/>
            <a:ext cx="1828800" cy="320040"/>
          </a:xfrm>
          <a:prstGeom prst="rect">
            <a:avLst/>
          </a:prstGeom>
          <a:noFill/>
        </p:spPr>
        <p:txBody>
          <a:bodyPr wrap="square">
            <a:spAutoFit/>
          </a:bodyPr>
          <a:lstStyle/>
          <a:p>
            <a:pPr algn="l">
              <a:lnSpc>
                <a:spcPts val="1320"/>
              </a:lnSpc>
              <a:spcAft>
                <a:spcPts val="330"/>
              </a:spcAft>
              <a:defRPr sz="1100" b="0">
                <a:solidFill>
                  <a:srgbClr val="6C7086"/>
                </a:solidFill>
                <a:latin typeface="Segoe UI"/>
              </a:defRPr>
            </a:pPr>
            <a:r>
              <a:t>Specification drift, traceability</a:t>
            </a:r>
          </a:p>
        </p:txBody>
      </p:sp>
      <p:sp>
        <p:nvSpPr>
          <p:cNvPr id="27" name="TextBox 26"/>
          <p:cNvSpPr txBox="1"/>
          <p:nvPr/>
        </p:nvSpPr>
        <p:spPr>
          <a:xfrm>
            <a:off x="1005840" y="5751576"/>
            <a:ext cx="1645920" cy="320040"/>
          </a:xfrm>
          <a:prstGeom prst="rect">
            <a:avLst/>
          </a:prstGeom>
          <a:noFill/>
        </p:spPr>
        <p:txBody>
          <a:bodyPr wrap="square">
            <a:spAutoFit/>
          </a:bodyPr>
          <a:lstStyle/>
          <a:p>
            <a:pPr algn="l">
              <a:lnSpc>
                <a:spcPts val="1320"/>
              </a:lnSpc>
              <a:spcAft>
                <a:spcPts val="330"/>
              </a:spcAft>
              <a:defRPr sz="1100" b="1">
                <a:solidFill>
                  <a:srgbClr val="89B4FA"/>
                </a:solidFill>
                <a:latin typeface="Cascadia Code"/>
              </a:defRPr>
            </a:pPr>
            <a:r>
              <a:t>workflow-arbiter</a:t>
            </a:r>
          </a:p>
        </p:txBody>
      </p:sp>
      <p:sp>
        <p:nvSpPr>
          <p:cNvPr id="28" name="TextBox 27"/>
          <p:cNvSpPr txBox="1"/>
          <p:nvPr/>
        </p:nvSpPr>
        <p:spPr>
          <a:xfrm>
            <a:off x="2697480" y="5751576"/>
            <a:ext cx="1828800" cy="320040"/>
          </a:xfrm>
          <a:prstGeom prst="rect">
            <a:avLst/>
          </a:prstGeom>
          <a:noFill/>
        </p:spPr>
        <p:txBody>
          <a:bodyPr wrap="square">
            <a:spAutoFit/>
          </a:bodyPr>
          <a:lstStyle/>
          <a:p>
            <a:pPr algn="l">
              <a:lnSpc>
                <a:spcPts val="1320"/>
              </a:lnSpc>
              <a:spcAft>
                <a:spcPts val="330"/>
              </a:spcAft>
              <a:defRPr sz="1100" b="0">
                <a:solidFill>
                  <a:srgbClr val="6C7086"/>
                </a:solidFill>
                <a:latin typeface="Segoe UI"/>
              </a:defRPr>
            </a:pPr>
            <a:r>
              <a:t>Multi-agent workflow orchestration</a:t>
            </a:r>
          </a:p>
        </p:txBody>
      </p:sp>
      <p:sp>
        <p:nvSpPr>
          <p:cNvPr id="29" name="TextBox 28"/>
          <p:cNvSpPr txBox="1"/>
          <p:nvPr/>
        </p:nvSpPr>
        <p:spPr>
          <a:xfrm>
            <a:off x="4572000" y="5751576"/>
            <a:ext cx="1645920" cy="320040"/>
          </a:xfrm>
          <a:prstGeom prst="rect">
            <a:avLst/>
          </a:prstGeom>
          <a:noFill/>
        </p:spPr>
        <p:txBody>
          <a:bodyPr wrap="square">
            <a:spAutoFit/>
          </a:bodyPr>
          <a:lstStyle/>
          <a:p>
            <a:pPr algn="l">
              <a:lnSpc>
                <a:spcPts val="1320"/>
              </a:lnSpc>
              <a:spcAft>
                <a:spcPts val="330"/>
              </a:spcAft>
              <a:defRPr sz="1100" b="1">
                <a:solidFill>
                  <a:srgbClr val="89B4FA"/>
                </a:solidFill>
                <a:latin typeface="Cascadia Code"/>
              </a:defRPr>
            </a:pPr>
            <a:r>
              <a:t>implementation-engineer</a:t>
            </a:r>
          </a:p>
        </p:txBody>
      </p:sp>
      <p:sp>
        <p:nvSpPr>
          <p:cNvPr id="30" name="TextBox 29"/>
          <p:cNvSpPr txBox="1"/>
          <p:nvPr/>
        </p:nvSpPr>
        <p:spPr>
          <a:xfrm>
            <a:off x="6263640" y="5751576"/>
            <a:ext cx="1828800" cy="320040"/>
          </a:xfrm>
          <a:prstGeom prst="rect">
            <a:avLst/>
          </a:prstGeom>
          <a:noFill/>
        </p:spPr>
        <p:txBody>
          <a:bodyPr wrap="square">
            <a:spAutoFit/>
          </a:bodyPr>
          <a:lstStyle/>
          <a:p>
            <a:pPr algn="l">
              <a:lnSpc>
                <a:spcPts val="1320"/>
              </a:lnSpc>
              <a:spcAft>
                <a:spcPts val="330"/>
              </a:spcAft>
              <a:defRPr sz="1100" b="0">
                <a:solidFill>
                  <a:srgbClr val="6C7086"/>
                </a:solidFill>
                <a:latin typeface="Segoe UI"/>
              </a:defRPr>
            </a:pPr>
            <a:r>
              <a:t>Implementation from specs</a:t>
            </a:r>
          </a:p>
        </p:txBody>
      </p:sp>
      <p:sp>
        <p:nvSpPr>
          <p:cNvPr id="31" name="TextBox 30"/>
          <p:cNvSpPr txBox="1"/>
          <p:nvPr/>
        </p:nvSpPr>
        <p:spPr>
          <a:xfrm>
            <a:off x="8138160" y="5751576"/>
            <a:ext cx="1645920" cy="320040"/>
          </a:xfrm>
          <a:prstGeom prst="rect">
            <a:avLst/>
          </a:prstGeom>
          <a:noFill/>
        </p:spPr>
        <p:txBody>
          <a:bodyPr wrap="square">
            <a:spAutoFit/>
          </a:bodyPr>
          <a:lstStyle/>
          <a:p>
            <a:pPr algn="l">
              <a:lnSpc>
                <a:spcPts val="1320"/>
              </a:lnSpc>
              <a:spcAft>
                <a:spcPts val="330"/>
              </a:spcAft>
              <a:defRPr sz="1100" b="1">
                <a:solidFill>
                  <a:srgbClr val="89B4FA"/>
                </a:solidFill>
                <a:latin typeface="Cascadia Code"/>
              </a:defRPr>
            </a:pPr>
            <a:r>
              <a:t>test-engineer</a:t>
            </a:r>
          </a:p>
        </p:txBody>
      </p:sp>
      <p:sp>
        <p:nvSpPr>
          <p:cNvPr id="32" name="TextBox 31"/>
          <p:cNvSpPr txBox="1"/>
          <p:nvPr/>
        </p:nvSpPr>
        <p:spPr>
          <a:xfrm>
            <a:off x="9829800" y="5751576"/>
            <a:ext cx="1828800" cy="320040"/>
          </a:xfrm>
          <a:prstGeom prst="rect">
            <a:avLst/>
          </a:prstGeom>
          <a:noFill/>
        </p:spPr>
        <p:txBody>
          <a:bodyPr wrap="square">
            <a:spAutoFit/>
          </a:bodyPr>
          <a:lstStyle/>
          <a:p>
            <a:pPr algn="l">
              <a:lnSpc>
                <a:spcPts val="1320"/>
              </a:lnSpc>
              <a:spcAft>
                <a:spcPts val="330"/>
              </a:spcAft>
              <a:defRPr sz="1100" b="0">
                <a:solidFill>
                  <a:srgbClr val="6C7086"/>
                </a:solidFill>
                <a:latin typeface="Segoe UI"/>
              </a:defRPr>
            </a:pPr>
            <a:r>
              <a:t>Test authoring from specs</a:t>
            </a:r>
          </a:p>
        </p:txBody>
      </p:sp>
      <p:sp>
        <p:nvSpPr>
          <p:cNvPr id="33" name="TextBox 32"/>
          <p:cNvSpPr txBox="1"/>
          <p:nvPr/>
        </p:nvSpPr>
        <p:spPr>
          <a:xfrm>
            <a:off x="1005840" y="6135624"/>
            <a:ext cx="1645920" cy="320040"/>
          </a:xfrm>
          <a:prstGeom prst="rect">
            <a:avLst/>
          </a:prstGeom>
          <a:noFill/>
        </p:spPr>
        <p:txBody>
          <a:bodyPr wrap="square">
            <a:spAutoFit/>
          </a:bodyPr>
          <a:lstStyle/>
          <a:p>
            <a:pPr algn="l">
              <a:lnSpc>
                <a:spcPts val="1320"/>
              </a:lnSpc>
              <a:spcAft>
                <a:spcPts val="330"/>
              </a:spcAft>
              <a:defRPr sz="1100" b="1">
                <a:solidFill>
                  <a:srgbClr val="89B4FA"/>
                </a:solidFill>
                <a:latin typeface="Cascadia Code"/>
              </a:defRPr>
            </a:pPr>
            <a:r>
              <a:t>promptkit-contributor</a:t>
            </a:r>
          </a:p>
        </p:txBody>
      </p:sp>
      <p:sp>
        <p:nvSpPr>
          <p:cNvPr id="34" name="TextBox 33"/>
          <p:cNvSpPr txBox="1"/>
          <p:nvPr/>
        </p:nvSpPr>
        <p:spPr>
          <a:xfrm>
            <a:off x="2697480" y="6135624"/>
            <a:ext cx="1828800" cy="320040"/>
          </a:xfrm>
          <a:prstGeom prst="rect">
            <a:avLst/>
          </a:prstGeom>
          <a:noFill/>
        </p:spPr>
        <p:txBody>
          <a:bodyPr wrap="square">
            <a:spAutoFit/>
          </a:bodyPr>
          <a:lstStyle/>
          <a:p>
            <a:pPr algn="l">
              <a:lnSpc>
                <a:spcPts val="1320"/>
              </a:lnSpc>
              <a:spcAft>
                <a:spcPts val="330"/>
              </a:spcAft>
              <a:defRPr sz="1100" b="0">
                <a:solidFill>
                  <a:srgbClr val="6C7086"/>
                </a:solidFill>
                <a:latin typeface="Segoe UI"/>
              </a:defRPr>
            </a:pPr>
            <a:r>
              <a:t>Library architecture, conventions</a:t>
            </a:r>
          </a:p>
        </p:txBody>
      </p:sp>
      <p:sp>
        <p:nvSpPr>
          <p:cNvPr id="35" name="TextBox 34"/>
          <p:cNvSpPr txBox="1"/>
          <p:nvPr/>
        </p:nvSpPr>
        <p:spPr>
          <a:xfrm>
            <a:off x="11155680" y="6492240"/>
            <a:ext cx="914400" cy="274320"/>
          </a:xfrm>
          <a:prstGeom prst="rect">
            <a:avLst/>
          </a:prstGeom>
          <a:noFill/>
        </p:spPr>
        <p:txBody>
          <a:bodyPr wrap="square">
            <a:spAutoFit/>
          </a:bodyPr>
          <a:lstStyle/>
          <a:p>
            <a:pPr algn="r">
              <a:lnSpc>
                <a:spcPts val="1200"/>
              </a:lnSpc>
              <a:spcAft>
                <a:spcPts val="300"/>
              </a:spcAft>
              <a:defRPr sz="1000" b="0">
                <a:solidFill>
                  <a:srgbClr val="6C7086"/>
                </a:solidFill>
                <a:latin typeface="Segoe UI"/>
              </a:defRPr>
            </a:pPr>
            <a:r>
              <a:t>5 / 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594360"/>
          </a:xfrm>
          <a:prstGeom prst="rect">
            <a:avLst/>
          </a:prstGeom>
          <a:noFill/>
        </p:spPr>
        <p:txBody>
          <a:bodyPr wrap="square">
            <a:spAutoFit/>
          </a:bodyPr>
          <a:lstStyle/>
          <a:p>
            <a:pPr algn="l">
              <a:lnSpc>
                <a:spcPts val="3840"/>
              </a:lnSpc>
              <a:spcAft>
                <a:spcPts val="960"/>
              </a:spcAft>
              <a:defRPr sz="3200" b="1">
                <a:solidFill>
                  <a:srgbClr val="CDD6F4"/>
                </a:solidFill>
                <a:latin typeface="Segoe UI"/>
              </a:defRPr>
            </a:pPr>
            <a:r>
              <a:t>Deep Dive: Protocols</a:t>
            </a:r>
          </a:p>
        </p:txBody>
      </p:sp>
      <p:sp>
        <p:nvSpPr>
          <p:cNvPr id="4" name="TextBox 3"/>
          <p:cNvSpPr txBox="1"/>
          <p:nvPr/>
        </p:nvSpPr>
        <p:spPr>
          <a:xfrm>
            <a:off x="731520" y="868680"/>
            <a:ext cx="10058400" cy="411480"/>
          </a:xfrm>
          <a:prstGeom prst="rect">
            <a:avLst/>
          </a:prstGeom>
          <a:noFill/>
        </p:spPr>
        <p:txBody>
          <a:bodyPr wrap="square">
            <a:spAutoFit/>
          </a:bodyPr>
          <a:lstStyle/>
          <a:p>
            <a:pPr algn="l">
              <a:lnSpc>
                <a:spcPts val="1920"/>
              </a:lnSpc>
              <a:spcAft>
                <a:spcPts val="480"/>
              </a:spcAft>
              <a:defRPr sz="1600" b="0">
                <a:solidFill>
                  <a:srgbClr val="6C7086"/>
                </a:solidFill>
                <a:latin typeface="Segoe UI"/>
              </a:defRPr>
            </a:pPr>
            <a:r>
              <a:t>Layer ② — How the LLM reasons</a:t>
            </a:r>
          </a:p>
        </p:txBody>
      </p:sp>
      <p:sp>
        <p:nvSpPr>
          <p:cNvPr id="5" name="Rounded Rectangle 4"/>
          <p:cNvSpPr/>
          <p:nvPr/>
        </p:nvSpPr>
        <p:spPr>
          <a:xfrm>
            <a:off x="700887" y="1371600"/>
            <a:ext cx="3383280" cy="50292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00887" y="1371600"/>
            <a:ext cx="3383280"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047" y="1508760"/>
            <a:ext cx="3108960" cy="320040"/>
          </a:xfrm>
          <a:prstGeom prst="rect">
            <a:avLst/>
          </a:prstGeom>
          <a:noFill/>
        </p:spPr>
        <p:txBody>
          <a:bodyPr wrap="square">
            <a:spAutoFit/>
          </a:bodyPr>
          <a:lstStyle/>
          <a:p>
            <a:pPr algn="ctr">
              <a:lnSpc>
                <a:spcPts val="2640"/>
              </a:lnSpc>
              <a:spcAft>
                <a:spcPts val="660"/>
              </a:spcAft>
              <a:defRPr sz="2200" b="1">
                <a:solidFill>
                  <a:srgbClr val="89B4FA"/>
                </a:solidFill>
                <a:latin typeface="Segoe UI"/>
              </a:defRPr>
            </a:pPr>
            <a:r>
              <a:t>Guardrails (3)</a:t>
            </a:r>
          </a:p>
        </p:txBody>
      </p:sp>
      <p:sp>
        <p:nvSpPr>
          <p:cNvPr id="8" name="TextBox 7"/>
          <p:cNvSpPr txBox="1"/>
          <p:nvPr/>
        </p:nvSpPr>
        <p:spPr>
          <a:xfrm>
            <a:off x="838047" y="1874520"/>
            <a:ext cx="3108960" cy="274320"/>
          </a:xfrm>
          <a:prstGeom prst="rect">
            <a:avLst/>
          </a:prstGeom>
          <a:noFill/>
        </p:spPr>
        <p:txBody>
          <a:bodyPr wrap="square">
            <a:spAutoFit/>
          </a:bodyPr>
          <a:lstStyle/>
          <a:p>
            <a:pPr algn="ctr">
              <a:lnSpc>
                <a:spcPts val="1320"/>
              </a:lnSpc>
              <a:spcAft>
                <a:spcPts val="330"/>
              </a:spcAft>
              <a:defRPr sz="1100" b="0">
                <a:solidFill>
                  <a:srgbClr val="6C7086"/>
                </a:solidFill>
                <a:latin typeface="Segoe UI"/>
              </a:defRPr>
            </a:pPr>
            <a:r>
              <a:t>Cross-cutting, apply to all tasks</a:t>
            </a:r>
          </a:p>
        </p:txBody>
      </p:sp>
      <p:sp>
        <p:nvSpPr>
          <p:cNvPr id="9" name="Rounded Rectangle 8"/>
          <p:cNvSpPr/>
          <p:nvPr/>
        </p:nvSpPr>
        <p:spPr>
          <a:xfrm>
            <a:off x="810615" y="2331720"/>
            <a:ext cx="3163824" cy="86868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9487" y="2377440"/>
            <a:ext cx="2926080" cy="274320"/>
          </a:xfrm>
          <a:prstGeom prst="rect">
            <a:avLst/>
          </a:prstGeom>
          <a:noFill/>
        </p:spPr>
        <p:txBody>
          <a:bodyPr wrap="square">
            <a:spAutoFit/>
          </a:bodyPr>
          <a:lstStyle/>
          <a:p>
            <a:pPr algn="l">
              <a:lnSpc>
                <a:spcPts val="1320"/>
              </a:lnSpc>
              <a:spcAft>
                <a:spcPts val="330"/>
              </a:spcAft>
              <a:defRPr sz="1100" b="1">
                <a:solidFill>
                  <a:srgbClr val="89B4FA"/>
                </a:solidFill>
                <a:latin typeface="Cascadia Code"/>
              </a:defRPr>
            </a:pPr>
            <a:r>
              <a:t>anti-hallucination</a:t>
            </a:r>
          </a:p>
        </p:txBody>
      </p:sp>
      <p:sp>
        <p:nvSpPr>
          <p:cNvPr id="11" name="TextBox 10"/>
          <p:cNvSpPr txBox="1"/>
          <p:nvPr/>
        </p:nvSpPr>
        <p:spPr>
          <a:xfrm>
            <a:off x="929487" y="2679192"/>
            <a:ext cx="2926080" cy="502920"/>
          </a:xfrm>
          <a:prstGeom prst="rect">
            <a:avLst/>
          </a:prstGeom>
          <a:noFill/>
        </p:spPr>
        <p:txBody>
          <a:bodyPr wrap="square">
            <a:spAutoFit/>
          </a:bodyPr>
          <a:lstStyle/>
          <a:p>
            <a:pPr algn="l">
              <a:lnSpc>
                <a:spcPts val="1200"/>
              </a:lnSpc>
              <a:spcAft>
                <a:spcPts val="300"/>
              </a:spcAft>
              <a:defRPr sz="1000" b="0">
                <a:solidFill>
                  <a:srgbClr val="CDD6F4"/>
                </a:solidFill>
                <a:latin typeface="Segoe UI"/>
              </a:defRPr>
            </a:pPr>
            <a:r>
              <a:t>Epistemic labeling, refusal</a:t>
            </a:r>
            <a:br/>
            <a:r>
              <a:t>to fabricate, source attribution</a:t>
            </a:r>
          </a:p>
        </p:txBody>
      </p:sp>
      <p:sp>
        <p:nvSpPr>
          <p:cNvPr id="12" name="Rounded Rectangle 11"/>
          <p:cNvSpPr/>
          <p:nvPr/>
        </p:nvSpPr>
        <p:spPr>
          <a:xfrm>
            <a:off x="810615" y="3291840"/>
            <a:ext cx="3163824" cy="86868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9487" y="3337560"/>
            <a:ext cx="2926080" cy="274320"/>
          </a:xfrm>
          <a:prstGeom prst="rect">
            <a:avLst/>
          </a:prstGeom>
          <a:noFill/>
        </p:spPr>
        <p:txBody>
          <a:bodyPr wrap="square">
            <a:spAutoFit/>
          </a:bodyPr>
          <a:lstStyle/>
          <a:p>
            <a:pPr algn="l">
              <a:lnSpc>
                <a:spcPts val="1320"/>
              </a:lnSpc>
              <a:spcAft>
                <a:spcPts val="330"/>
              </a:spcAft>
              <a:defRPr sz="1100" b="1">
                <a:solidFill>
                  <a:srgbClr val="89B4FA"/>
                </a:solidFill>
                <a:latin typeface="Cascadia Code"/>
              </a:defRPr>
            </a:pPr>
            <a:r>
              <a:t>self-verification</a:t>
            </a:r>
          </a:p>
        </p:txBody>
      </p:sp>
      <p:sp>
        <p:nvSpPr>
          <p:cNvPr id="14" name="TextBox 13"/>
          <p:cNvSpPr txBox="1"/>
          <p:nvPr/>
        </p:nvSpPr>
        <p:spPr>
          <a:xfrm>
            <a:off x="929487" y="3639312"/>
            <a:ext cx="2926080" cy="502920"/>
          </a:xfrm>
          <a:prstGeom prst="rect">
            <a:avLst/>
          </a:prstGeom>
          <a:noFill/>
        </p:spPr>
        <p:txBody>
          <a:bodyPr wrap="square">
            <a:spAutoFit/>
          </a:bodyPr>
          <a:lstStyle/>
          <a:p>
            <a:pPr algn="l">
              <a:lnSpc>
                <a:spcPts val="1200"/>
              </a:lnSpc>
              <a:spcAft>
                <a:spcPts val="300"/>
              </a:spcAft>
              <a:defRPr sz="1000" b="0">
                <a:solidFill>
                  <a:srgbClr val="CDD6F4"/>
                </a:solidFill>
                <a:latin typeface="Segoe UI"/>
              </a:defRPr>
            </a:pPr>
            <a:r>
              <a:t>LLM verifies its own output</a:t>
            </a:r>
            <a:br/>
            <a:r>
              <a:t>before finalizing</a:t>
            </a:r>
          </a:p>
        </p:txBody>
      </p:sp>
      <p:sp>
        <p:nvSpPr>
          <p:cNvPr id="15" name="Rounded Rectangle 14"/>
          <p:cNvSpPr/>
          <p:nvPr/>
        </p:nvSpPr>
        <p:spPr>
          <a:xfrm>
            <a:off x="810615" y="4251960"/>
            <a:ext cx="3163824" cy="86868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9487" y="4297680"/>
            <a:ext cx="2926080" cy="274320"/>
          </a:xfrm>
          <a:prstGeom prst="rect">
            <a:avLst/>
          </a:prstGeom>
          <a:noFill/>
        </p:spPr>
        <p:txBody>
          <a:bodyPr wrap="square">
            <a:spAutoFit/>
          </a:bodyPr>
          <a:lstStyle/>
          <a:p>
            <a:pPr algn="l">
              <a:lnSpc>
                <a:spcPts val="1320"/>
              </a:lnSpc>
              <a:spcAft>
                <a:spcPts val="330"/>
              </a:spcAft>
              <a:defRPr sz="1100" b="1">
                <a:solidFill>
                  <a:srgbClr val="89B4FA"/>
                </a:solidFill>
                <a:latin typeface="Cascadia Code"/>
              </a:defRPr>
            </a:pPr>
            <a:r>
              <a:t>operational-constraints</a:t>
            </a:r>
          </a:p>
        </p:txBody>
      </p:sp>
      <p:sp>
        <p:nvSpPr>
          <p:cNvPr id="17" name="TextBox 16"/>
          <p:cNvSpPr txBox="1"/>
          <p:nvPr/>
        </p:nvSpPr>
        <p:spPr>
          <a:xfrm>
            <a:off x="929487" y="4599432"/>
            <a:ext cx="2926080" cy="502920"/>
          </a:xfrm>
          <a:prstGeom prst="rect">
            <a:avLst/>
          </a:prstGeom>
          <a:noFill/>
        </p:spPr>
        <p:txBody>
          <a:bodyPr wrap="square">
            <a:spAutoFit/>
          </a:bodyPr>
          <a:lstStyle/>
          <a:p>
            <a:pPr algn="l">
              <a:lnSpc>
                <a:spcPts val="1200"/>
              </a:lnSpc>
              <a:spcAft>
                <a:spcPts val="300"/>
              </a:spcAft>
              <a:defRPr sz="1000" b="0">
                <a:solidFill>
                  <a:srgbClr val="CDD6F4"/>
                </a:solidFill>
                <a:latin typeface="Segoe UI"/>
              </a:defRPr>
            </a:pPr>
            <a:r>
              <a:t>Scoping, tool usage,</a:t>
            </a:r>
            <a:br/>
            <a:r>
              <a:t>reproducibility</a:t>
            </a:r>
          </a:p>
        </p:txBody>
      </p:sp>
      <p:sp>
        <p:nvSpPr>
          <p:cNvPr id="18" name="Rounded Rectangle 17"/>
          <p:cNvSpPr/>
          <p:nvPr/>
        </p:nvSpPr>
        <p:spPr>
          <a:xfrm>
            <a:off x="4404207" y="1371600"/>
            <a:ext cx="3383280" cy="50292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04207" y="1371600"/>
            <a:ext cx="3383280" cy="54864"/>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41367" y="1508760"/>
            <a:ext cx="3108960" cy="320040"/>
          </a:xfrm>
          <a:prstGeom prst="rect">
            <a:avLst/>
          </a:prstGeom>
          <a:noFill/>
        </p:spPr>
        <p:txBody>
          <a:bodyPr wrap="square">
            <a:spAutoFit/>
          </a:bodyPr>
          <a:lstStyle/>
          <a:p>
            <a:pPr algn="ctr">
              <a:lnSpc>
                <a:spcPts val="2640"/>
              </a:lnSpc>
              <a:spcAft>
                <a:spcPts val="660"/>
              </a:spcAft>
              <a:defRPr sz="2200" b="1">
                <a:solidFill>
                  <a:srgbClr val="A6E3A1"/>
                </a:solidFill>
                <a:latin typeface="Segoe UI"/>
              </a:defRPr>
            </a:pPr>
            <a:r>
              <a:t>Analysis (4)</a:t>
            </a:r>
          </a:p>
        </p:txBody>
      </p:sp>
      <p:sp>
        <p:nvSpPr>
          <p:cNvPr id="21" name="TextBox 20"/>
          <p:cNvSpPr txBox="1"/>
          <p:nvPr/>
        </p:nvSpPr>
        <p:spPr>
          <a:xfrm>
            <a:off x="4541367" y="1874520"/>
            <a:ext cx="3108960" cy="274320"/>
          </a:xfrm>
          <a:prstGeom prst="rect">
            <a:avLst/>
          </a:prstGeom>
          <a:noFill/>
        </p:spPr>
        <p:txBody>
          <a:bodyPr wrap="square">
            <a:spAutoFit/>
          </a:bodyPr>
          <a:lstStyle/>
          <a:p>
            <a:pPr algn="ctr">
              <a:lnSpc>
                <a:spcPts val="1320"/>
              </a:lnSpc>
              <a:spcAft>
                <a:spcPts val="330"/>
              </a:spcAft>
              <a:defRPr sz="1100" b="0">
                <a:solidFill>
                  <a:srgbClr val="6C7086"/>
                </a:solidFill>
                <a:latin typeface="Segoe UI"/>
              </a:defRPr>
            </a:pPr>
            <a:r>
              <a:t>Domain/language-specific checks</a:t>
            </a:r>
          </a:p>
        </p:txBody>
      </p:sp>
      <p:sp>
        <p:nvSpPr>
          <p:cNvPr id="22" name="Rounded Rectangle 21"/>
          <p:cNvSpPr/>
          <p:nvPr/>
        </p:nvSpPr>
        <p:spPr>
          <a:xfrm>
            <a:off x="4513935" y="2331720"/>
            <a:ext cx="3163824" cy="86868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32807" y="2377440"/>
            <a:ext cx="2926080" cy="274320"/>
          </a:xfrm>
          <a:prstGeom prst="rect">
            <a:avLst/>
          </a:prstGeom>
          <a:noFill/>
        </p:spPr>
        <p:txBody>
          <a:bodyPr wrap="square">
            <a:spAutoFit/>
          </a:bodyPr>
          <a:lstStyle/>
          <a:p>
            <a:pPr algn="l">
              <a:lnSpc>
                <a:spcPts val="1320"/>
              </a:lnSpc>
              <a:spcAft>
                <a:spcPts val="330"/>
              </a:spcAft>
              <a:defRPr sz="1100" b="1">
                <a:solidFill>
                  <a:srgbClr val="A6E3A1"/>
                </a:solidFill>
                <a:latin typeface="Cascadia Code"/>
              </a:defRPr>
            </a:pPr>
            <a:r>
              <a:t>memory-safety-c</a:t>
            </a:r>
          </a:p>
        </p:txBody>
      </p:sp>
      <p:sp>
        <p:nvSpPr>
          <p:cNvPr id="24" name="TextBox 23"/>
          <p:cNvSpPr txBox="1"/>
          <p:nvPr/>
        </p:nvSpPr>
        <p:spPr>
          <a:xfrm>
            <a:off x="4632807" y="2679192"/>
            <a:ext cx="2926080" cy="502920"/>
          </a:xfrm>
          <a:prstGeom prst="rect">
            <a:avLst/>
          </a:prstGeom>
          <a:noFill/>
        </p:spPr>
        <p:txBody>
          <a:bodyPr wrap="square">
            <a:spAutoFit/>
          </a:bodyPr>
          <a:lstStyle/>
          <a:p>
            <a:pPr algn="l">
              <a:lnSpc>
                <a:spcPts val="1200"/>
              </a:lnSpc>
              <a:spcAft>
                <a:spcPts val="300"/>
              </a:spcAft>
              <a:defRPr sz="1000" b="0">
                <a:solidFill>
                  <a:srgbClr val="CDD6F4"/>
                </a:solidFill>
                <a:latin typeface="Segoe UI"/>
              </a:defRPr>
            </a:pPr>
            <a:r>
              <a:t>Allocation, pointers, buffers</a:t>
            </a:r>
          </a:p>
        </p:txBody>
      </p:sp>
      <p:sp>
        <p:nvSpPr>
          <p:cNvPr id="25" name="Rounded Rectangle 24"/>
          <p:cNvSpPr/>
          <p:nvPr/>
        </p:nvSpPr>
        <p:spPr>
          <a:xfrm>
            <a:off x="4513935" y="3291840"/>
            <a:ext cx="3163824" cy="86868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32807" y="3337560"/>
            <a:ext cx="2926080" cy="274320"/>
          </a:xfrm>
          <a:prstGeom prst="rect">
            <a:avLst/>
          </a:prstGeom>
          <a:noFill/>
        </p:spPr>
        <p:txBody>
          <a:bodyPr wrap="square">
            <a:spAutoFit/>
          </a:bodyPr>
          <a:lstStyle/>
          <a:p>
            <a:pPr algn="l">
              <a:lnSpc>
                <a:spcPts val="1320"/>
              </a:lnSpc>
              <a:spcAft>
                <a:spcPts val="330"/>
              </a:spcAft>
              <a:defRPr sz="1100" b="1">
                <a:solidFill>
                  <a:srgbClr val="A6E3A1"/>
                </a:solidFill>
                <a:latin typeface="Cascadia Code"/>
              </a:defRPr>
            </a:pPr>
            <a:r>
              <a:t>memory-safety-rust</a:t>
            </a:r>
          </a:p>
        </p:txBody>
      </p:sp>
      <p:sp>
        <p:nvSpPr>
          <p:cNvPr id="27" name="TextBox 26"/>
          <p:cNvSpPr txBox="1"/>
          <p:nvPr/>
        </p:nvSpPr>
        <p:spPr>
          <a:xfrm>
            <a:off x="4632807" y="3639312"/>
            <a:ext cx="2926080" cy="502920"/>
          </a:xfrm>
          <a:prstGeom prst="rect">
            <a:avLst/>
          </a:prstGeom>
          <a:noFill/>
        </p:spPr>
        <p:txBody>
          <a:bodyPr wrap="square">
            <a:spAutoFit/>
          </a:bodyPr>
          <a:lstStyle/>
          <a:p>
            <a:pPr algn="l">
              <a:lnSpc>
                <a:spcPts val="1200"/>
              </a:lnSpc>
              <a:spcAft>
                <a:spcPts val="300"/>
              </a:spcAft>
              <a:defRPr sz="1000" b="0">
                <a:solidFill>
                  <a:srgbClr val="CDD6F4"/>
                </a:solidFill>
                <a:latin typeface="Segoe UI"/>
              </a:defRPr>
            </a:pPr>
            <a:r>
              <a:t>unsafe blocks, FFI, interior mut</a:t>
            </a:r>
          </a:p>
        </p:txBody>
      </p:sp>
      <p:sp>
        <p:nvSpPr>
          <p:cNvPr id="28" name="Rounded Rectangle 27"/>
          <p:cNvSpPr/>
          <p:nvPr/>
        </p:nvSpPr>
        <p:spPr>
          <a:xfrm>
            <a:off x="4513935" y="4251960"/>
            <a:ext cx="3163824" cy="86868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32807" y="4297680"/>
            <a:ext cx="2926080" cy="274320"/>
          </a:xfrm>
          <a:prstGeom prst="rect">
            <a:avLst/>
          </a:prstGeom>
          <a:noFill/>
        </p:spPr>
        <p:txBody>
          <a:bodyPr wrap="square">
            <a:spAutoFit/>
          </a:bodyPr>
          <a:lstStyle/>
          <a:p>
            <a:pPr algn="l">
              <a:lnSpc>
                <a:spcPts val="1320"/>
              </a:lnSpc>
              <a:spcAft>
                <a:spcPts val="330"/>
              </a:spcAft>
              <a:defRPr sz="1100" b="1">
                <a:solidFill>
                  <a:srgbClr val="A6E3A1"/>
                </a:solidFill>
                <a:latin typeface="Cascadia Code"/>
              </a:defRPr>
            </a:pPr>
            <a:r>
              <a:t>thread-safety</a:t>
            </a:r>
          </a:p>
        </p:txBody>
      </p:sp>
      <p:sp>
        <p:nvSpPr>
          <p:cNvPr id="30" name="TextBox 29"/>
          <p:cNvSpPr txBox="1"/>
          <p:nvPr/>
        </p:nvSpPr>
        <p:spPr>
          <a:xfrm>
            <a:off x="4632807" y="4599432"/>
            <a:ext cx="2926080" cy="502920"/>
          </a:xfrm>
          <a:prstGeom prst="rect">
            <a:avLst/>
          </a:prstGeom>
          <a:noFill/>
        </p:spPr>
        <p:txBody>
          <a:bodyPr wrap="square">
            <a:spAutoFit/>
          </a:bodyPr>
          <a:lstStyle/>
          <a:p>
            <a:pPr algn="l">
              <a:lnSpc>
                <a:spcPts val="1200"/>
              </a:lnSpc>
              <a:spcAft>
                <a:spcPts val="300"/>
              </a:spcAft>
              <a:defRPr sz="1000" b="0">
                <a:solidFill>
                  <a:srgbClr val="CDD6F4"/>
                </a:solidFill>
                <a:latin typeface="Segoe UI"/>
              </a:defRPr>
            </a:pPr>
            <a:r>
              <a:t>Races, deadlocks, atomics</a:t>
            </a:r>
          </a:p>
        </p:txBody>
      </p:sp>
      <p:sp>
        <p:nvSpPr>
          <p:cNvPr id="31" name="Rounded Rectangle 30"/>
          <p:cNvSpPr/>
          <p:nvPr/>
        </p:nvSpPr>
        <p:spPr>
          <a:xfrm>
            <a:off x="4513935" y="5212080"/>
            <a:ext cx="3163824" cy="86868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32807" y="5257800"/>
            <a:ext cx="2926080" cy="274320"/>
          </a:xfrm>
          <a:prstGeom prst="rect">
            <a:avLst/>
          </a:prstGeom>
          <a:noFill/>
        </p:spPr>
        <p:txBody>
          <a:bodyPr wrap="square">
            <a:spAutoFit/>
          </a:bodyPr>
          <a:lstStyle/>
          <a:p>
            <a:pPr algn="l">
              <a:lnSpc>
                <a:spcPts val="1320"/>
              </a:lnSpc>
              <a:spcAft>
                <a:spcPts val="330"/>
              </a:spcAft>
              <a:defRPr sz="1100" b="1">
                <a:solidFill>
                  <a:srgbClr val="A6E3A1"/>
                </a:solidFill>
                <a:latin typeface="Cascadia Code"/>
              </a:defRPr>
            </a:pPr>
            <a:r>
              <a:t>security-vulnerability</a:t>
            </a:r>
          </a:p>
        </p:txBody>
      </p:sp>
      <p:sp>
        <p:nvSpPr>
          <p:cNvPr id="33" name="TextBox 32"/>
          <p:cNvSpPr txBox="1"/>
          <p:nvPr/>
        </p:nvSpPr>
        <p:spPr>
          <a:xfrm>
            <a:off x="4632807" y="5559552"/>
            <a:ext cx="2926080" cy="502920"/>
          </a:xfrm>
          <a:prstGeom prst="rect">
            <a:avLst/>
          </a:prstGeom>
          <a:noFill/>
        </p:spPr>
        <p:txBody>
          <a:bodyPr wrap="square">
            <a:spAutoFit/>
          </a:bodyPr>
          <a:lstStyle/>
          <a:p>
            <a:pPr algn="l">
              <a:lnSpc>
                <a:spcPts val="1200"/>
              </a:lnSpc>
              <a:spcAft>
                <a:spcPts val="300"/>
              </a:spcAft>
              <a:defRPr sz="1000" b="0">
                <a:solidFill>
                  <a:srgbClr val="CDD6F4"/>
                </a:solidFill>
                <a:latin typeface="Segoe UI"/>
              </a:defRPr>
            </a:pPr>
            <a:r>
              <a:t>Trust boundaries, auth, crypto</a:t>
            </a:r>
          </a:p>
        </p:txBody>
      </p:sp>
      <p:sp>
        <p:nvSpPr>
          <p:cNvPr id="34" name="Rounded Rectangle 33"/>
          <p:cNvSpPr/>
          <p:nvPr/>
        </p:nvSpPr>
        <p:spPr>
          <a:xfrm>
            <a:off x="8107527" y="1371600"/>
            <a:ext cx="3383280" cy="50292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07527" y="1371600"/>
            <a:ext cx="3383280" cy="54864"/>
          </a:xfrm>
          <a:prstGeom prst="rect">
            <a:avLst/>
          </a:prstGeom>
          <a:solidFill>
            <a:srgbClr val="F9E2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44687" y="1508760"/>
            <a:ext cx="3108960" cy="320040"/>
          </a:xfrm>
          <a:prstGeom prst="rect">
            <a:avLst/>
          </a:prstGeom>
          <a:noFill/>
        </p:spPr>
        <p:txBody>
          <a:bodyPr wrap="square">
            <a:spAutoFit/>
          </a:bodyPr>
          <a:lstStyle/>
          <a:p>
            <a:pPr algn="ctr">
              <a:lnSpc>
                <a:spcPts val="2640"/>
              </a:lnSpc>
              <a:spcAft>
                <a:spcPts val="660"/>
              </a:spcAft>
              <a:defRPr sz="2200" b="1">
                <a:solidFill>
                  <a:srgbClr val="F9E2AF"/>
                </a:solidFill>
                <a:latin typeface="Segoe UI"/>
              </a:defRPr>
            </a:pPr>
            <a:r>
              <a:t>Reasoning (13)</a:t>
            </a:r>
          </a:p>
        </p:txBody>
      </p:sp>
      <p:sp>
        <p:nvSpPr>
          <p:cNvPr id="37" name="TextBox 36"/>
          <p:cNvSpPr txBox="1"/>
          <p:nvPr/>
        </p:nvSpPr>
        <p:spPr>
          <a:xfrm>
            <a:off x="8244687" y="1874520"/>
            <a:ext cx="3108960" cy="274320"/>
          </a:xfrm>
          <a:prstGeom prst="rect">
            <a:avLst/>
          </a:prstGeom>
          <a:noFill/>
        </p:spPr>
        <p:txBody>
          <a:bodyPr wrap="square">
            <a:spAutoFit/>
          </a:bodyPr>
          <a:lstStyle/>
          <a:p>
            <a:pPr algn="ctr">
              <a:lnSpc>
                <a:spcPts val="1320"/>
              </a:lnSpc>
              <a:spcAft>
                <a:spcPts val="330"/>
              </a:spcAft>
              <a:defRPr sz="1100" b="0">
                <a:solidFill>
                  <a:srgbClr val="6C7086"/>
                </a:solidFill>
                <a:latin typeface="Segoe UI"/>
              </a:defRPr>
            </a:pPr>
            <a:r>
              <a:t>Systematic approaches</a:t>
            </a:r>
          </a:p>
        </p:txBody>
      </p:sp>
      <p:sp>
        <p:nvSpPr>
          <p:cNvPr id="38" name="Rounded Rectangle 37"/>
          <p:cNvSpPr/>
          <p:nvPr/>
        </p:nvSpPr>
        <p:spPr>
          <a:xfrm>
            <a:off x="8217255" y="2331720"/>
            <a:ext cx="3163824" cy="86868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6127" y="2377440"/>
            <a:ext cx="2926080" cy="274320"/>
          </a:xfrm>
          <a:prstGeom prst="rect">
            <a:avLst/>
          </a:prstGeom>
          <a:noFill/>
        </p:spPr>
        <p:txBody>
          <a:bodyPr wrap="square">
            <a:spAutoFit/>
          </a:bodyPr>
          <a:lstStyle/>
          <a:p>
            <a:pPr algn="l">
              <a:lnSpc>
                <a:spcPts val="1320"/>
              </a:lnSpc>
              <a:spcAft>
                <a:spcPts val="330"/>
              </a:spcAft>
              <a:defRPr sz="1100" b="1">
                <a:solidFill>
                  <a:srgbClr val="F9E2AF"/>
                </a:solidFill>
                <a:latin typeface="Cascadia Code"/>
              </a:defRPr>
            </a:pPr>
            <a:r>
              <a:t>root-cause-analysis</a:t>
            </a:r>
          </a:p>
        </p:txBody>
      </p:sp>
      <p:sp>
        <p:nvSpPr>
          <p:cNvPr id="40" name="TextBox 39"/>
          <p:cNvSpPr txBox="1"/>
          <p:nvPr/>
        </p:nvSpPr>
        <p:spPr>
          <a:xfrm>
            <a:off x="8336127" y="2679192"/>
            <a:ext cx="2926080" cy="502920"/>
          </a:xfrm>
          <a:prstGeom prst="rect">
            <a:avLst/>
          </a:prstGeom>
          <a:noFill/>
        </p:spPr>
        <p:txBody>
          <a:bodyPr wrap="square">
            <a:spAutoFit/>
          </a:bodyPr>
          <a:lstStyle/>
          <a:p>
            <a:pPr algn="l">
              <a:lnSpc>
                <a:spcPts val="1200"/>
              </a:lnSpc>
              <a:spcAft>
                <a:spcPts val="300"/>
              </a:spcAft>
              <a:defRPr sz="1000" b="0">
                <a:solidFill>
                  <a:srgbClr val="CDD6F4"/>
                </a:solidFill>
                <a:latin typeface="Segoe UI"/>
              </a:defRPr>
            </a:pPr>
            <a:r>
              <a:t>Hypothesis → evidence →</a:t>
            </a:r>
            <a:br/>
            <a:r>
              <a:t>elimination → root cause</a:t>
            </a:r>
          </a:p>
        </p:txBody>
      </p:sp>
      <p:sp>
        <p:nvSpPr>
          <p:cNvPr id="41" name="Rounded Rectangle 40"/>
          <p:cNvSpPr/>
          <p:nvPr/>
        </p:nvSpPr>
        <p:spPr>
          <a:xfrm>
            <a:off x="8217255" y="3291840"/>
            <a:ext cx="3163824" cy="86868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36127" y="3337560"/>
            <a:ext cx="2926080" cy="274320"/>
          </a:xfrm>
          <a:prstGeom prst="rect">
            <a:avLst/>
          </a:prstGeom>
          <a:noFill/>
        </p:spPr>
        <p:txBody>
          <a:bodyPr wrap="square">
            <a:spAutoFit/>
          </a:bodyPr>
          <a:lstStyle/>
          <a:p>
            <a:pPr algn="l">
              <a:lnSpc>
                <a:spcPts val="1320"/>
              </a:lnSpc>
              <a:spcAft>
                <a:spcPts val="330"/>
              </a:spcAft>
              <a:defRPr sz="1100" b="1">
                <a:solidFill>
                  <a:srgbClr val="F9E2AF"/>
                </a:solidFill>
                <a:latin typeface="Cascadia Code"/>
              </a:defRPr>
            </a:pPr>
            <a:r>
              <a:t>traceability-audit</a:t>
            </a:r>
          </a:p>
        </p:txBody>
      </p:sp>
      <p:sp>
        <p:nvSpPr>
          <p:cNvPr id="43" name="TextBox 42"/>
          <p:cNvSpPr txBox="1"/>
          <p:nvPr/>
        </p:nvSpPr>
        <p:spPr>
          <a:xfrm>
            <a:off x="8336127" y="3639312"/>
            <a:ext cx="2926080" cy="502920"/>
          </a:xfrm>
          <a:prstGeom prst="rect">
            <a:avLst/>
          </a:prstGeom>
          <a:noFill/>
        </p:spPr>
        <p:txBody>
          <a:bodyPr wrap="square">
            <a:spAutoFit/>
          </a:bodyPr>
          <a:lstStyle/>
          <a:p>
            <a:pPr algn="l">
              <a:lnSpc>
                <a:spcPts val="1200"/>
              </a:lnSpc>
              <a:spcAft>
                <a:spcPts val="300"/>
              </a:spcAft>
              <a:defRPr sz="1000" b="0">
                <a:solidFill>
                  <a:srgbClr val="CDD6F4"/>
                </a:solidFill>
                <a:latin typeface="Segoe UI"/>
              </a:defRPr>
            </a:pPr>
            <a:r>
              <a:t>Cross-document requirement</a:t>
            </a:r>
            <a:br/>
            <a:r>
              <a:t>traceability (D1–D7)</a:t>
            </a:r>
          </a:p>
        </p:txBody>
      </p:sp>
      <p:sp>
        <p:nvSpPr>
          <p:cNvPr id="44" name="Rounded Rectangle 43"/>
          <p:cNvSpPr/>
          <p:nvPr/>
        </p:nvSpPr>
        <p:spPr>
          <a:xfrm>
            <a:off x="8217255" y="4251960"/>
            <a:ext cx="3163824" cy="86868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6127" y="4297680"/>
            <a:ext cx="2926080" cy="274320"/>
          </a:xfrm>
          <a:prstGeom prst="rect">
            <a:avLst/>
          </a:prstGeom>
          <a:noFill/>
        </p:spPr>
        <p:txBody>
          <a:bodyPr wrap="square">
            <a:spAutoFit/>
          </a:bodyPr>
          <a:lstStyle/>
          <a:p>
            <a:pPr algn="l">
              <a:lnSpc>
                <a:spcPts val="1320"/>
              </a:lnSpc>
              <a:spcAft>
                <a:spcPts val="330"/>
              </a:spcAft>
              <a:defRPr sz="1100" b="1">
                <a:solidFill>
                  <a:srgbClr val="F9E2AF"/>
                </a:solidFill>
                <a:latin typeface="Cascadia Code"/>
              </a:defRPr>
            </a:pPr>
            <a:r>
              <a:t>code-compliance-audit</a:t>
            </a:r>
          </a:p>
        </p:txBody>
      </p:sp>
      <p:sp>
        <p:nvSpPr>
          <p:cNvPr id="46" name="TextBox 45"/>
          <p:cNvSpPr txBox="1"/>
          <p:nvPr/>
        </p:nvSpPr>
        <p:spPr>
          <a:xfrm>
            <a:off x="8336127" y="4599432"/>
            <a:ext cx="2926080" cy="502920"/>
          </a:xfrm>
          <a:prstGeom prst="rect">
            <a:avLst/>
          </a:prstGeom>
          <a:noFill/>
        </p:spPr>
        <p:txBody>
          <a:bodyPr wrap="square">
            <a:spAutoFit/>
          </a:bodyPr>
          <a:lstStyle/>
          <a:p>
            <a:pPr algn="l">
              <a:lnSpc>
                <a:spcPts val="1200"/>
              </a:lnSpc>
              <a:spcAft>
                <a:spcPts val="300"/>
              </a:spcAft>
              <a:defRPr sz="1000" b="0">
                <a:solidFill>
                  <a:srgbClr val="CDD6F4"/>
                </a:solidFill>
                <a:latin typeface="Segoe UI"/>
              </a:defRPr>
            </a:pPr>
            <a:r>
              <a:t>Code vs specification</a:t>
            </a:r>
            <a:br/>
            <a:r>
              <a:t>compliance (D8–D10)</a:t>
            </a:r>
          </a:p>
        </p:txBody>
      </p:sp>
      <p:sp>
        <p:nvSpPr>
          <p:cNvPr id="47" name="TextBox 46"/>
          <p:cNvSpPr txBox="1"/>
          <p:nvPr/>
        </p:nvSpPr>
        <p:spPr>
          <a:xfrm>
            <a:off x="8217255" y="5303520"/>
            <a:ext cx="3163824" cy="274320"/>
          </a:xfrm>
          <a:prstGeom prst="rect">
            <a:avLst/>
          </a:prstGeom>
          <a:noFill/>
        </p:spPr>
        <p:txBody>
          <a:bodyPr wrap="square">
            <a:spAutoFit/>
          </a:bodyPr>
          <a:lstStyle/>
          <a:p>
            <a:pPr algn="ctr">
              <a:lnSpc>
                <a:spcPts val="1320"/>
              </a:lnSpc>
              <a:spcAft>
                <a:spcPts val="330"/>
              </a:spcAft>
              <a:defRPr sz="1100" b="0">
                <a:solidFill>
                  <a:srgbClr val="6C7086"/>
                </a:solidFill>
                <a:latin typeface="Segoe UI"/>
              </a:defRPr>
            </a:pPr>
            <a:r>
              <a:t>… plus 10 more</a:t>
            </a:r>
          </a:p>
        </p:txBody>
      </p:sp>
      <p:sp>
        <p:nvSpPr>
          <p:cNvPr id="48" name="TextBox 47"/>
          <p:cNvSpPr txBox="1"/>
          <p:nvPr/>
        </p:nvSpPr>
        <p:spPr>
          <a:xfrm>
            <a:off x="11155680" y="6492240"/>
            <a:ext cx="914400" cy="274320"/>
          </a:xfrm>
          <a:prstGeom prst="rect">
            <a:avLst/>
          </a:prstGeom>
          <a:noFill/>
        </p:spPr>
        <p:txBody>
          <a:bodyPr wrap="square">
            <a:spAutoFit/>
          </a:bodyPr>
          <a:lstStyle/>
          <a:p>
            <a:pPr algn="r">
              <a:lnSpc>
                <a:spcPts val="1200"/>
              </a:lnSpc>
              <a:spcAft>
                <a:spcPts val="300"/>
              </a:spcAft>
              <a:defRPr sz="1000" b="0">
                <a:solidFill>
                  <a:srgbClr val="6C7086"/>
                </a:solidFill>
                <a:latin typeface="Segoe UI"/>
              </a:defRPr>
            </a:pPr>
            <a:r>
              <a:t>6 / 17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594360"/>
          </a:xfrm>
          <a:prstGeom prst="rect">
            <a:avLst/>
          </a:prstGeom>
          <a:noFill/>
        </p:spPr>
        <p:txBody>
          <a:bodyPr wrap="square">
            <a:spAutoFit/>
          </a:bodyPr>
          <a:lstStyle/>
          <a:p>
            <a:pPr algn="l">
              <a:lnSpc>
                <a:spcPts val="3840"/>
              </a:lnSpc>
              <a:spcAft>
                <a:spcPts val="960"/>
              </a:spcAft>
              <a:defRPr sz="3200" b="1">
                <a:solidFill>
                  <a:srgbClr val="CDD6F4"/>
                </a:solidFill>
                <a:latin typeface="Segoe UI"/>
              </a:defRPr>
            </a:pPr>
            <a:r>
              <a:t>Spotlight: Anti-Hallucination Protocol</a:t>
            </a:r>
          </a:p>
        </p:txBody>
      </p:sp>
      <p:sp>
        <p:nvSpPr>
          <p:cNvPr id="4" name="TextBox 3"/>
          <p:cNvSpPr txBox="1"/>
          <p:nvPr/>
        </p:nvSpPr>
        <p:spPr>
          <a:xfrm>
            <a:off x="731520" y="868680"/>
            <a:ext cx="10058400" cy="411480"/>
          </a:xfrm>
          <a:prstGeom prst="rect">
            <a:avLst/>
          </a:prstGeom>
          <a:noFill/>
        </p:spPr>
        <p:txBody>
          <a:bodyPr wrap="square">
            <a:spAutoFit/>
          </a:bodyPr>
          <a:lstStyle/>
          <a:p>
            <a:pPr algn="l">
              <a:lnSpc>
                <a:spcPts val="1920"/>
              </a:lnSpc>
              <a:spcAft>
                <a:spcPts val="480"/>
              </a:spcAft>
              <a:defRPr sz="1600" b="0">
                <a:solidFill>
                  <a:srgbClr val="6C7086"/>
                </a:solidFill>
                <a:latin typeface="Segoe UI"/>
              </a:defRPr>
            </a:pPr>
            <a:r>
              <a:t>The most important guardrail — prevents fabrication</a:t>
            </a:r>
          </a:p>
        </p:txBody>
      </p:sp>
      <p:sp>
        <p:nvSpPr>
          <p:cNvPr id="5" name="Rectangle 4"/>
          <p:cNvSpPr/>
          <p:nvPr/>
        </p:nvSpPr>
        <p:spPr>
          <a:xfrm>
            <a:off x="731520" y="1371600"/>
            <a:ext cx="54864" cy="777240"/>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353312"/>
            <a:ext cx="2743200" cy="274320"/>
          </a:xfrm>
          <a:prstGeom prst="rect">
            <a:avLst/>
          </a:prstGeom>
          <a:noFill/>
        </p:spPr>
        <p:txBody>
          <a:bodyPr wrap="square">
            <a:spAutoFit/>
          </a:bodyPr>
          <a:lstStyle/>
          <a:p>
            <a:pPr algn="l">
              <a:lnSpc>
                <a:spcPts val="2160"/>
              </a:lnSpc>
              <a:spcAft>
                <a:spcPts val="540"/>
              </a:spcAft>
              <a:defRPr sz="1800" b="1">
                <a:solidFill>
                  <a:srgbClr val="89B4FA"/>
                </a:solidFill>
                <a:latin typeface="Segoe UI"/>
              </a:defRPr>
            </a:pPr>
            <a:r>
              <a:t>Epistemic Labeling</a:t>
            </a:r>
          </a:p>
        </p:txBody>
      </p:sp>
      <p:sp>
        <p:nvSpPr>
          <p:cNvPr id="7" name="TextBox 6"/>
          <p:cNvSpPr txBox="1"/>
          <p:nvPr/>
        </p:nvSpPr>
        <p:spPr>
          <a:xfrm>
            <a:off x="3657600" y="1389888"/>
            <a:ext cx="7772400" cy="777240"/>
          </a:xfrm>
          <a:prstGeom prst="rect">
            <a:avLst/>
          </a:prstGeom>
          <a:noFill/>
        </p:spPr>
        <p:txBody>
          <a:bodyPr wrap="square">
            <a:spAutoFit/>
          </a:bodyPr>
          <a:lstStyle/>
          <a:p>
            <a:pPr algn="l">
              <a:lnSpc>
                <a:spcPts val="1679"/>
              </a:lnSpc>
              <a:spcAft>
                <a:spcPts val="359"/>
              </a:spcAft>
              <a:defRPr sz="1200" b="0">
                <a:solidFill>
                  <a:srgbClr val="CDD6F4"/>
                </a:solidFill>
                <a:latin typeface="Segoe UI"/>
              </a:defRPr>
            </a:pPr>
            <a:r>
              <a:t>Every claim tagged: KNOWN (directly stated), INFERRED (reasoned with explicit chain), or ASSUMED (flagged with justification).</a:t>
            </a:r>
            <a:br/>
            <a:r>
              <a:t>If ASSUMED &gt; ~30% → stop and request more context.</a:t>
            </a:r>
          </a:p>
        </p:txBody>
      </p:sp>
      <p:sp>
        <p:nvSpPr>
          <p:cNvPr id="8" name="Rectangle 7"/>
          <p:cNvSpPr/>
          <p:nvPr/>
        </p:nvSpPr>
        <p:spPr>
          <a:xfrm>
            <a:off x="731520" y="2395728"/>
            <a:ext cx="54864" cy="777240"/>
          </a:xfrm>
          <a:prstGeom prst="rect">
            <a:avLst/>
          </a:prstGeom>
          <a:solidFill>
            <a:srgbClr val="FAB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377440"/>
            <a:ext cx="2743200" cy="274320"/>
          </a:xfrm>
          <a:prstGeom prst="rect">
            <a:avLst/>
          </a:prstGeom>
          <a:noFill/>
        </p:spPr>
        <p:txBody>
          <a:bodyPr wrap="square">
            <a:spAutoFit/>
          </a:bodyPr>
          <a:lstStyle/>
          <a:p>
            <a:pPr algn="l">
              <a:lnSpc>
                <a:spcPts val="2160"/>
              </a:lnSpc>
              <a:spcAft>
                <a:spcPts val="540"/>
              </a:spcAft>
              <a:defRPr sz="1800" b="1">
                <a:solidFill>
                  <a:srgbClr val="FAB387"/>
                </a:solidFill>
                <a:latin typeface="Segoe UI"/>
              </a:defRPr>
            </a:pPr>
            <a:r>
              <a:t>Refusal to Fabricate</a:t>
            </a:r>
          </a:p>
        </p:txBody>
      </p:sp>
      <p:sp>
        <p:nvSpPr>
          <p:cNvPr id="10" name="TextBox 9"/>
          <p:cNvSpPr txBox="1"/>
          <p:nvPr/>
        </p:nvSpPr>
        <p:spPr>
          <a:xfrm>
            <a:off x="3657600" y="2414016"/>
            <a:ext cx="7772400" cy="777240"/>
          </a:xfrm>
          <a:prstGeom prst="rect">
            <a:avLst/>
          </a:prstGeom>
          <a:noFill/>
        </p:spPr>
        <p:txBody>
          <a:bodyPr wrap="square">
            <a:spAutoFit/>
          </a:bodyPr>
          <a:lstStyle/>
          <a:p>
            <a:pPr algn="l">
              <a:lnSpc>
                <a:spcPts val="1679"/>
              </a:lnSpc>
              <a:spcAft>
                <a:spcPts val="359"/>
              </a:spcAft>
              <a:defRPr sz="1200" b="0">
                <a:solidFill>
                  <a:srgbClr val="CDD6F4"/>
                </a:solidFill>
                <a:latin typeface="Segoe UI"/>
              </a:defRPr>
            </a:pPr>
            <a:r>
              <a:t>Do NOT invent function names, API signatures, config values, file paths, or version numbers.</a:t>
            </a:r>
            <a:br/>
            <a:r>
              <a:t>Use [UNKNOWN: &lt;what is missing&gt;] as placeholder.</a:t>
            </a:r>
          </a:p>
        </p:txBody>
      </p:sp>
      <p:sp>
        <p:nvSpPr>
          <p:cNvPr id="11" name="Rectangle 10"/>
          <p:cNvSpPr/>
          <p:nvPr/>
        </p:nvSpPr>
        <p:spPr>
          <a:xfrm>
            <a:off x="731520" y="3419856"/>
            <a:ext cx="54864" cy="777240"/>
          </a:xfrm>
          <a:prstGeom prst="rect">
            <a:avLst/>
          </a:prstGeom>
          <a:solidFill>
            <a:srgbClr val="F9E2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401568"/>
            <a:ext cx="2743200" cy="274320"/>
          </a:xfrm>
          <a:prstGeom prst="rect">
            <a:avLst/>
          </a:prstGeom>
          <a:noFill/>
        </p:spPr>
        <p:txBody>
          <a:bodyPr wrap="square">
            <a:spAutoFit/>
          </a:bodyPr>
          <a:lstStyle/>
          <a:p>
            <a:pPr algn="l">
              <a:lnSpc>
                <a:spcPts val="2160"/>
              </a:lnSpc>
              <a:spcAft>
                <a:spcPts val="540"/>
              </a:spcAft>
              <a:defRPr sz="1800" b="1">
                <a:solidFill>
                  <a:srgbClr val="F9E2AF"/>
                </a:solidFill>
                <a:latin typeface="Segoe UI"/>
              </a:defRPr>
            </a:pPr>
            <a:r>
              <a:t>Uncertainty Disclosure</a:t>
            </a:r>
          </a:p>
        </p:txBody>
      </p:sp>
      <p:sp>
        <p:nvSpPr>
          <p:cNvPr id="13" name="TextBox 12"/>
          <p:cNvSpPr txBox="1"/>
          <p:nvPr/>
        </p:nvSpPr>
        <p:spPr>
          <a:xfrm>
            <a:off x="3657600" y="3438144"/>
            <a:ext cx="7772400" cy="777240"/>
          </a:xfrm>
          <a:prstGeom prst="rect">
            <a:avLst/>
          </a:prstGeom>
          <a:noFill/>
        </p:spPr>
        <p:txBody>
          <a:bodyPr wrap="square">
            <a:spAutoFit/>
          </a:bodyPr>
          <a:lstStyle/>
          <a:p>
            <a:pPr algn="l">
              <a:lnSpc>
                <a:spcPts val="1679"/>
              </a:lnSpc>
              <a:spcAft>
                <a:spcPts val="359"/>
              </a:spcAft>
              <a:defRPr sz="1200" b="0">
                <a:solidFill>
                  <a:srgbClr val="CDD6F4"/>
                </a:solidFill>
                <a:latin typeface="Segoe UI"/>
              </a:defRPr>
            </a:pPr>
            <a:r>
              <a:t>Enumerate multiple interpretations rather than choosing silently. State: "Low confidence — depends on [assumption]. Verify by [action]."</a:t>
            </a:r>
          </a:p>
        </p:txBody>
      </p:sp>
      <p:sp>
        <p:nvSpPr>
          <p:cNvPr id="14" name="Rectangle 13"/>
          <p:cNvSpPr/>
          <p:nvPr/>
        </p:nvSpPr>
        <p:spPr>
          <a:xfrm>
            <a:off x="731520" y="4443984"/>
            <a:ext cx="54864" cy="77724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425696"/>
            <a:ext cx="2743200" cy="274320"/>
          </a:xfrm>
          <a:prstGeom prst="rect">
            <a:avLst/>
          </a:prstGeom>
          <a:noFill/>
        </p:spPr>
        <p:txBody>
          <a:bodyPr wrap="square">
            <a:spAutoFit/>
          </a:bodyPr>
          <a:lstStyle/>
          <a:p>
            <a:pPr algn="l">
              <a:lnSpc>
                <a:spcPts val="2160"/>
              </a:lnSpc>
              <a:spcAft>
                <a:spcPts val="540"/>
              </a:spcAft>
              <a:defRPr sz="1800" b="1">
                <a:solidFill>
                  <a:srgbClr val="A6E3A1"/>
                </a:solidFill>
                <a:latin typeface="Segoe UI"/>
              </a:defRPr>
            </a:pPr>
            <a:r>
              <a:t>Source Attribution</a:t>
            </a:r>
          </a:p>
        </p:txBody>
      </p:sp>
      <p:sp>
        <p:nvSpPr>
          <p:cNvPr id="16" name="TextBox 15"/>
          <p:cNvSpPr txBox="1"/>
          <p:nvPr/>
        </p:nvSpPr>
        <p:spPr>
          <a:xfrm>
            <a:off x="3657600" y="4462272"/>
            <a:ext cx="7772400" cy="777240"/>
          </a:xfrm>
          <a:prstGeom prst="rect">
            <a:avLst/>
          </a:prstGeom>
          <a:noFill/>
        </p:spPr>
        <p:txBody>
          <a:bodyPr wrap="square">
            <a:spAutoFit/>
          </a:bodyPr>
          <a:lstStyle/>
          <a:p>
            <a:pPr algn="l">
              <a:lnSpc>
                <a:spcPts val="1679"/>
              </a:lnSpc>
              <a:spcAft>
                <a:spcPts val="359"/>
              </a:spcAft>
              <a:defRPr sz="1200" b="0">
                <a:solidFill>
                  <a:srgbClr val="CDD6F4"/>
                </a:solidFill>
                <a:latin typeface="Segoe UI"/>
              </a:defRPr>
            </a:pPr>
            <a:r>
              <a:t>Indicate provenance: "per requirements doc §3.2" or "line 42 of auth.c".</a:t>
            </a:r>
            <a:br/>
            <a:r>
              <a:t>Do NOT cite sources not provided.</a:t>
            </a:r>
          </a:p>
        </p:txBody>
      </p:sp>
      <p:sp>
        <p:nvSpPr>
          <p:cNvPr id="17" name="Rectangle 16"/>
          <p:cNvSpPr/>
          <p:nvPr/>
        </p:nvSpPr>
        <p:spPr>
          <a:xfrm>
            <a:off x="731520" y="5468112"/>
            <a:ext cx="54864" cy="777240"/>
          </a:xfrm>
          <a:prstGeom prst="rect">
            <a:avLst/>
          </a:prstGeom>
          <a:solidFill>
            <a:srgbClr val="F38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449824"/>
            <a:ext cx="2743200" cy="274320"/>
          </a:xfrm>
          <a:prstGeom prst="rect">
            <a:avLst/>
          </a:prstGeom>
          <a:noFill/>
        </p:spPr>
        <p:txBody>
          <a:bodyPr wrap="square">
            <a:spAutoFit/>
          </a:bodyPr>
          <a:lstStyle/>
          <a:p>
            <a:pPr algn="l">
              <a:lnSpc>
                <a:spcPts val="2160"/>
              </a:lnSpc>
              <a:spcAft>
                <a:spcPts val="540"/>
              </a:spcAft>
              <a:defRPr sz="1800" b="1">
                <a:solidFill>
                  <a:srgbClr val="F38BA8"/>
                </a:solidFill>
                <a:latin typeface="Segoe UI"/>
              </a:defRPr>
            </a:pPr>
            <a:r>
              <a:t>Scope Boundaries</a:t>
            </a:r>
          </a:p>
        </p:txBody>
      </p:sp>
      <p:sp>
        <p:nvSpPr>
          <p:cNvPr id="19" name="TextBox 18"/>
          <p:cNvSpPr txBox="1"/>
          <p:nvPr/>
        </p:nvSpPr>
        <p:spPr>
          <a:xfrm>
            <a:off x="3657600" y="5486400"/>
            <a:ext cx="7772400" cy="777240"/>
          </a:xfrm>
          <a:prstGeom prst="rect">
            <a:avLst/>
          </a:prstGeom>
          <a:noFill/>
        </p:spPr>
        <p:txBody>
          <a:bodyPr wrap="square">
            <a:spAutoFit/>
          </a:bodyPr>
          <a:lstStyle/>
          <a:p>
            <a:pPr algn="l">
              <a:lnSpc>
                <a:spcPts val="1679"/>
              </a:lnSpc>
              <a:spcAft>
                <a:spcPts val="359"/>
              </a:spcAft>
              <a:defRPr sz="1200" b="0">
                <a:solidFill>
                  <a:srgbClr val="CDD6F4"/>
                </a:solidFill>
                <a:latin typeface="Segoe UI"/>
              </a:defRPr>
            </a:pPr>
            <a:r>
              <a:t>If question falls outside provided context, say so explicitly.</a:t>
            </a:r>
            <a:br/>
            <a:r>
              <a:t>List what additional information is needed.</a:t>
            </a:r>
          </a:p>
        </p:txBody>
      </p:sp>
      <p:sp>
        <p:nvSpPr>
          <p:cNvPr id="20" name="TextBox 19"/>
          <p:cNvSpPr txBox="1"/>
          <p:nvPr/>
        </p:nvSpPr>
        <p:spPr>
          <a:xfrm>
            <a:off x="11155680" y="6492240"/>
            <a:ext cx="914400" cy="274320"/>
          </a:xfrm>
          <a:prstGeom prst="rect">
            <a:avLst/>
          </a:prstGeom>
          <a:noFill/>
        </p:spPr>
        <p:txBody>
          <a:bodyPr wrap="square">
            <a:spAutoFit/>
          </a:bodyPr>
          <a:lstStyle/>
          <a:p>
            <a:pPr algn="r">
              <a:lnSpc>
                <a:spcPts val="1200"/>
              </a:lnSpc>
              <a:spcAft>
                <a:spcPts val="300"/>
              </a:spcAft>
              <a:defRPr sz="1000" b="0">
                <a:solidFill>
                  <a:srgbClr val="6C7086"/>
                </a:solidFill>
                <a:latin typeface="Segoe UI"/>
              </a:defRPr>
            </a:pPr>
            <a:r>
              <a:t>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594360"/>
          </a:xfrm>
          <a:prstGeom prst="rect">
            <a:avLst/>
          </a:prstGeom>
          <a:noFill/>
        </p:spPr>
        <p:txBody>
          <a:bodyPr wrap="square">
            <a:spAutoFit/>
          </a:bodyPr>
          <a:lstStyle/>
          <a:p>
            <a:pPr algn="l">
              <a:lnSpc>
                <a:spcPts val="3840"/>
              </a:lnSpc>
              <a:spcAft>
                <a:spcPts val="960"/>
              </a:spcAft>
              <a:defRPr sz="3200" b="1">
                <a:solidFill>
                  <a:srgbClr val="CDD6F4"/>
                </a:solidFill>
                <a:latin typeface="Segoe UI"/>
              </a:defRPr>
            </a:pPr>
            <a:r>
              <a:t>Spotlight: Root Cause Analysis Protocol</a:t>
            </a:r>
          </a:p>
        </p:txBody>
      </p:sp>
      <p:sp>
        <p:nvSpPr>
          <p:cNvPr id="4" name="TextBox 3"/>
          <p:cNvSpPr txBox="1"/>
          <p:nvPr/>
        </p:nvSpPr>
        <p:spPr>
          <a:xfrm>
            <a:off x="731520" y="868680"/>
            <a:ext cx="10058400" cy="411480"/>
          </a:xfrm>
          <a:prstGeom prst="rect">
            <a:avLst/>
          </a:prstGeom>
          <a:noFill/>
        </p:spPr>
        <p:txBody>
          <a:bodyPr wrap="square">
            <a:spAutoFit/>
          </a:bodyPr>
          <a:lstStyle/>
          <a:p>
            <a:pPr algn="l">
              <a:lnSpc>
                <a:spcPts val="1920"/>
              </a:lnSpc>
              <a:spcAft>
                <a:spcPts val="480"/>
              </a:spcAft>
              <a:defRPr sz="1600" b="0">
                <a:solidFill>
                  <a:srgbClr val="6C7086"/>
                </a:solidFill>
                <a:latin typeface="Segoe UI"/>
              </a:defRPr>
            </a:pPr>
            <a:r>
              <a:t>5-phase structured reasoning methodology</a:t>
            </a:r>
          </a:p>
        </p:txBody>
      </p:sp>
      <p:sp>
        <p:nvSpPr>
          <p:cNvPr id="5" name="Rounded Rectangle 4"/>
          <p:cNvSpPr/>
          <p:nvPr/>
        </p:nvSpPr>
        <p:spPr>
          <a:xfrm>
            <a:off x="746607" y="1554480"/>
            <a:ext cx="1920240" cy="32004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6607" y="1554480"/>
            <a:ext cx="1920240"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047" y="1737360"/>
            <a:ext cx="1737360" cy="228600"/>
          </a:xfrm>
          <a:prstGeom prst="rect">
            <a:avLst/>
          </a:prstGeom>
          <a:noFill/>
        </p:spPr>
        <p:txBody>
          <a:bodyPr wrap="square">
            <a:spAutoFit/>
          </a:bodyPr>
          <a:lstStyle/>
          <a:p>
            <a:pPr algn="ctr">
              <a:lnSpc>
                <a:spcPts val="1320"/>
              </a:lnSpc>
              <a:spcAft>
                <a:spcPts val="330"/>
              </a:spcAft>
              <a:defRPr sz="1100" b="0">
                <a:solidFill>
                  <a:srgbClr val="6C7086"/>
                </a:solidFill>
                <a:latin typeface="Segoe UI"/>
              </a:defRPr>
            </a:pPr>
            <a:r>
              <a:t>Phase 1</a:t>
            </a:r>
          </a:p>
        </p:txBody>
      </p:sp>
      <p:sp>
        <p:nvSpPr>
          <p:cNvPr id="8" name="TextBox 7"/>
          <p:cNvSpPr txBox="1"/>
          <p:nvPr/>
        </p:nvSpPr>
        <p:spPr>
          <a:xfrm>
            <a:off x="838047" y="2011680"/>
            <a:ext cx="1737360" cy="640080"/>
          </a:xfrm>
          <a:prstGeom prst="rect">
            <a:avLst/>
          </a:prstGeom>
          <a:noFill/>
        </p:spPr>
        <p:txBody>
          <a:bodyPr wrap="square">
            <a:spAutoFit/>
          </a:bodyPr>
          <a:lstStyle/>
          <a:p>
            <a:pPr algn="ctr">
              <a:lnSpc>
                <a:spcPts val="1920"/>
              </a:lnSpc>
              <a:spcAft>
                <a:spcPts val="480"/>
              </a:spcAft>
              <a:defRPr sz="1600" b="1">
                <a:solidFill>
                  <a:srgbClr val="89B4FA"/>
                </a:solidFill>
                <a:latin typeface="Segoe UI"/>
              </a:defRPr>
            </a:pPr>
            <a:r>
              <a:t>Symptom</a:t>
            </a:r>
            <a:br/>
            <a:r>
              <a:t>Characterization</a:t>
            </a:r>
          </a:p>
        </p:txBody>
      </p:sp>
      <p:sp>
        <p:nvSpPr>
          <p:cNvPr id="9" name="TextBox 8"/>
          <p:cNvSpPr txBox="1"/>
          <p:nvPr/>
        </p:nvSpPr>
        <p:spPr>
          <a:xfrm>
            <a:off x="838047" y="2926080"/>
            <a:ext cx="1737360" cy="1463040"/>
          </a:xfrm>
          <a:prstGeom prst="rect">
            <a:avLst/>
          </a:prstGeom>
          <a:noFill/>
        </p:spPr>
        <p:txBody>
          <a:bodyPr wrap="square">
            <a:spAutoFit/>
          </a:bodyPr>
          <a:lstStyle/>
          <a:p>
            <a:pPr algn="ctr">
              <a:lnSpc>
                <a:spcPts val="1539"/>
              </a:lnSpc>
              <a:spcAft>
                <a:spcPts val="330"/>
              </a:spcAft>
              <a:defRPr sz="1100" b="0">
                <a:solidFill>
                  <a:srgbClr val="CDD6F4"/>
                </a:solidFill>
                <a:latin typeface="Segoe UI"/>
              </a:defRPr>
            </a:pPr>
            <a:r>
              <a:t>Observed vs expected, timeline,</a:t>
            </a:r>
            <a:br/>
            <a:r>
              <a:t>blast radius, deterministic?</a:t>
            </a:r>
          </a:p>
        </p:txBody>
      </p:sp>
      <p:sp>
        <p:nvSpPr>
          <p:cNvPr id="10" name="TextBox 9"/>
          <p:cNvSpPr txBox="1"/>
          <p:nvPr/>
        </p:nvSpPr>
        <p:spPr>
          <a:xfrm>
            <a:off x="2685135" y="2834640"/>
            <a:ext cx="274320" cy="365760"/>
          </a:xfrm>
          <a:prstGeom prst="rect">
            <a:avLst/>
          </a:prstGeom>
          <a:noFill/>
        </p:spPr>
        <p:txBody>
          <a:bodyPr wrap="square">
            <a:spAutoFit/>
          </a:bodyPr>
          <a:lstStyle/>
          <a:p>
            <a:pPr algn="ctr">
              <a:lnSpc>
                <a:spcPts val="2879"/>
              </a:lnSpc>
              <a:spcAft>
                <a:spcPts val="719"/>
              </a:spcAft>
              <a:defRPr sz="2400" b="0">
                <a:solidFill>
                  <a:srgbClr val="6C7086"/>
                </a:solidFill>
                <a:latin typeface="Segoe UI"/>
              </a:defRPr>
            </a:pPr>
            <a:r>
              <a:t>→</a:t>
            </a:r>
          </a:p>
        </p:txBody>
      </p:sp>
      <p:sp>
        <p:nvSpPr>
          <p:cNvPr id="11" name="Rounded Rectangle 10"/>
          <p:cNvSpPr/>
          <p:nvPr/>
        </p:nvSpPr>
        <p:spPr>
          <a:xfrm>
            <a:off x="2941167" y="1554480"/>
            <a:ext cx="1920240" cy="32004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41167" y="1554480"/>
            <a:ext cx="1920240" cy="54864"/>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32607" y="1737360"/>
            <a:ext cx="1737360" cy="228600"/>
          </a:xfrm>
          <a:prstGeom prst="rect">
            <a:avLst/>
          </a:prstGeom>
          <a:noFill/>
        </p:spPr>
        <p:txBody>
          <a:bodyPr wrap="square">
            <a:spAutoFit/>
          </a:bodyPr>
          <a:lstStyle/>
          <a:p>
            <a:pPr algn="ctr">
              <a:lnSpc>
                <a:spcPts val="1320"/>
              </a:lnSpc>
              <a:spcAft>
                <a:spcPts val="330"/>
              </a:spcAft>
              <a:defRPr sz="1100" b="0">
                <a:solidFill>
                  <a:srgbClr val="6C7086"/>
                </a:solidFill>
                <a:latin typeface="Segoe UI"/>
              </a:defRPr>
            </a:pPr>
            <a:r>
              <a:t>Phase 2</a:t>
            </a:r>
          </a:p>
        </p:txBody>
      </p:sp>
      <p:sp>
        <p:nvSpPr>
          <p:cNvPr id="14" name="TextBox 13"/>
          <p:cNvSpPr txBox="1"/>
          <p:nvPr/>
        </p:nvSpPr>
        <p:spPr>
          <a:xfrm>
            <a:off x="3032607" y="2011680"/>
            <a:ext cx="1737360" cy="640080"/>
          </a:xfrm>
          <a:prstGeom prst="rect">
            <a:avLst/>
          </a:prstGeom>
          <a:noFill/>
        </p:spPr>
        <p:txBody>
          <a:bodyPr wrap="square">
            <a:spAutoFit/>
          </a:bodyPr>
          <a:lstStyle/>
          <a:p>
            <a:pPr algn="ctr">
              <a:lnSpc>
                <a:spcPts val="1920"/>
              </a:lnSpc>
              <a:spcAft>
                <a:spcPts val="480"/>
              </a:spcAft>
              <a:defRPr sz="1600" b="1">
                <a:solidFill>
                  <a:srgbClr val="A6E3A1"/>
                </a:solidFill>
                <a:latin typeface="Segoe UI"/>
              </a:defRPr>
            </a:pPr>
            <a:r>
              <a:t>Hypothesis</a:t>
            </a:r>
            <a:br/>
            <a:r>
              <a:t>Generation</a:t>
            </a:r>
          </a:p>
        </p:txBody>
      </p:sp>
      <p:sp>
        <p:nvSpPr>
          <p:cNvPr id="15" name="TextBox 14"/>
          <p:cNvSpPr txBox="1"/>
          <p:nvPr/>
        </p:nvSpPr>
        <p:spPr>
          <a:xfrm>
            <a:off x="3032607" y="2926080"/>
            <a:ext cx="1737360" cy="1463040"/>
          </a:xfrm>
          <a:prstGeom prst="rect">
            <a:avLst/>
          </a:prstGeom>
          <a:noFill/>
        </p:spPr>
        <p:txBody>
          <a:bodyPr wrap="square">
            <a:spAutoFit/>
          </a:bodyPr>
          <a:lstStyle/>
          <a:p>
            <a:pPr algn="ctr">
              <a:lnSpc>
                <a:spcPts val="1539"/>
              </a:lnSpc>
              <a:spcAft>
                <a:spcPts val="330"/>
              </a:spcAft>
              <a:defRPr sz="1100" b="0">
                <a:solidFill>
                  <a:srgbClr val="CDD6F4"/>
                </a:solidFill>
                <a:latin typeface="Segoe UI"/>
              </a:defRPr>
            </a:pPr>
            <a:r>
              <a:t>≥3 ranked hypotheses before</a:t>
            </a:r>
            <a:br/>
            <a:r>
              <a:t>investigating any. Include 1 non-obvious.</a:t>
            </a:r>
          </a:p>
        </p:txBody>
      </p:sp>
      <p:sp>
        <p:nvSpPr>
          <p:cNvPr id="16" name="TextBox 15"/>
          <p:cNvSpPr txBox="1"/>
          <p:nvPr/>
        </p:nvSpPr>
        <p:spPr>
          <a:xfrm>
            <a:off x="4879695" y="2834640"/>
            <a:ext cx="274320" cy="365760"/>
          </a:xfrm>
          <a:prstGeom prst="rect">
            <a:avLst/>
          </a:prstGeom>
          <a:noFill/>
        </p:spPr>
        <p:txBody>
          <a:bodyPr wrap="square">
            <a:spAutoFit/>
          </a:bodyPr>
          <a:lstStyle/>
          <a:p>
            <a:pPr algn="ctr">
              <a:lnSpc>
                <a:spcPts val="2879"/>
              </a:lnSpc>
              <a:spcAft>
                <a:spcPts val="719"/>
              </a:spcAft>
              <a:defRPr sz="2400" b="0">
                <a:solidFill>
                  <a:srgbClr val="6C7086"/>
                </a:solidFill>
                <a:latin typeface="Segoe UI"/>
              </a:defRPr>
            </a:pPr>
            <a:r>
              <a:t>→</a:t>
            </a:r>
          </a:p>
        </p:txBody>
      </p:sp>
      <p:sp>
        <p:nvSpPr>
          <p:cNvPr id="17" name="Rounded Rectangle 16"/>
          <p:cNvSpPr/>
          <p:nvPr/>
        </p:nvSpPr>
        <p:spPr>
          <a:xfrm>
            <a:off x="5135727" y="1554480"/>
            <a:ext cx="1920240" cy="32004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35727" y="1554480"/>
            <a:ext cx="1920240" cy="54864"/>
          </a:xfrm>
          <a:prstGeom prst="rect">
            <a:avLst/>
          </a:prstGeom>
          <a:solidFill>
            <a:srgbClr val="F9E2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27167" y="1737360"/>
            <a:ext cx="1737360" cy="228600"/>
          </a:xfrm>
          <a:prstGeom prst="rect">
            <a:avLst/>
          </a:prstGeom>
          <a:noFill/>
        </p:spPr>
        <p:txBody>
          <a:bodyPr wrap="square">
            <a:spAutoFit/>
          </a:bodyPr>
          <a:lstStyle/>
          <a:p>
            <a:pPr algn="ctr">
              <a:lnSpc>
                <a:spcPts val="1320"/>
              </a:lnSpc>
              <a:spcAft>
                <a:spcPts val="330"/>
              </a:spcAft>
              <a:defRPr sz="1100" b="0">
                <a:solidFill>
                  <a:srgbClr val="6C7086"/>
                </a:solidFill>
                <a:latin typeface="Segoe UI"/>
              </a:defRPr>
            </a:pPr>
            <a:r>
              <a:t>Phase 3</a:t>
            </a:r>
          </a:p>
        </p:txBody>
      </p:sp>
      <p:sp>
        <p:nvSpPr>
          <p:cNvPr id="20" name="TextBox 19"/>
          <p:cNvSpPr txBox="1"/>
          <p:nvPr/>
        </p:nvSpPr>
        <p:spPr>
          <a:xfrm>
            <a:off x="5227167" y="2011680"/>
            <a:ext cx="1737360" cy="640080"/>
          </a:xfrm>
          <a:prstGeom prst="rect">
            <a:avLst/>
          </a:prstGeom>
          <a:noFill/>
        </p:spPr>
        <p:txBody>
          <a:bodyPr wrap="square">
            <a:spAutoFit/>
          </a:bodyPr>
          <a:lstStyle/>
          <a:p>
            <a:pPr algn="ctr">
              <a:lnSpc>
                <a:spcPts val="1920"/>
              </a:lnSpc>
              <a:spcAft>
                <a:spcPts val="480"/>
              </a:spcAft>
              <a:defRPr sz="1600" b="1">
                <a:solidFill>
                  <a:srgbClr val="F9E2AF"/>
                </a:solidFill>
                <a:latin typeface="Segoe UI"/>
              </a:defRPr>
            </a:pPr>
            <a:r>
              <a:t>Evidence &amp;</a:t>
            </a:r>
            <a:br/>
            <a:r>
              <a:t>Elimination</a:t>
            </a:r>
          </a:p>
        </p:txBody>
      </p:sp>
      <p:sp>
        <p:nvSpPr>
          <p:cNvPr id="21" name="TextBox 20"/>
          <p:cNvSpPr txBox="1"/>
          <p:nvPr/>
        </p:nvSpPr>
        <p:spPr>
          <a:xfrm>
            <a:off x="5227167" y="2926080"/>
            <a:ext cx="1737360" cy="1463040"/>
          </a:xfrm>
          <a:prstGeom prst="rect">
            <a:avLst/>
          </a:prstGeom>
          <a:noFill/>
        </p:spPr>
        <p:txBody>
          <a:bodyPr wrap="square">
            <a:spAutoFit/>
          </a:bodyPr>
          <a:lstStyle/>
          <a:p>
            <a:pPr algn="ctr">
              <a:lnSpc>
                <a:spcPts val="1539"/>
              </a:lnSpc>
              <a:spcAft>
                <a:spcPts val="330"/>
              </a:spcAft>
              <a:defRPr sz="1100" b="0">
                <a:solidFill>
                  <a:srgbClr val="CDD6F4"/>
                </a:solidFill>
                <a:latin typeface="Segoe UI"/>
              </a:defRPr>
            </a:pPr>
            <a:r>
              <a:t>Minimal investigation per hypothesis.</a:t>
            </a:r>
            <a:br/>
            <a:r>
              <a:t>CONFIRMED / ELIMINATED / INCONCLUSIVE</a:t>
            </a:r>
          </a:p>
        </p:txBody>
      </p:sp>
      <p:sp>
        <p:nvSpPr>
          <p:cNvPr id="22" name="TextBox 21"/>
          <p:cNvSpPr txBox="1"/>
          <p:nvPr/>
        </p:nvSpPr>
        <p:spPr>
          <a:xfrm>
            <a:off x="7074255" y="2834640"/>
            <a:ext cx="274320" cy="365760"/>
          </a:xfrm>
          <a:prstGeom prst="rect">
            <a:avLst/>
          </a:prstGeom>
          <a:noFill/>
        </p:spPr>
        <p:txBody>
          <a:bodyPr wrap="square">
            <a:spAutoFit/>
          </a:bodyPr>
          <a:lstStyle/>
          <a:p>
            <a:pPr algn="ctr">
              <a:lnSpc>
                <a:spcPts val="2879"/>
              </a:lnSpc>
              <a:spcAft>
                <a:spcPts val="719"/>
              </a:spcAft>
              <a:defRPr sz="2400" b="0">
                <a:solidFill>
                  <a:srgbClr val="6C7086"/>
                </a:solidFill>
                <a:latin typeface="Segoe UI"/>
              </a:defRPr>
            </a:pPr>
            <a:r>
              <a:t>→</a:t>
            </a:r>
          </a:p>
        </p:txBody>
      </p:sp>
      <p:sp>
        <p:nvSpPr>
          <p:cNvPr id="23" name="Rounded Rectangle 22"/>
          <p:cNvSpPr/>
          <p:nvPr/>
        </p:nvSpPr>
        <p:spPr>
          <a:xfrm>
            <a:off x="7330287" y="1554480"/>
            <a:ext cx="1920240" cy="32004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30287" y="1554480"/>
            <a:ext cx="1920240" cy="54864"/>
          </a:xfrm>
          <a:prstGeom prst="rect">
            <a:avLst/>
          </a:prstGeom>
          <a:solidFill>
            <a:srgbClr val="FAB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21727" y="1737360"/>
            <a:ext cx="1737360" cy="228600"/>
          </a:xfrm>
          <a:prstGeom prst="rect">
            <a:avLst/>
          </a:prstGeom>
          <a:noFill/>
        </p:spPr>
        <p:txBody>
          <a:bodyPr wrap="square">
            <a:spAutoFit/>
          </a:bodyPr>
          <a:lstStyle/>
          <a:p>
            <a:pPr algn="ctr">
              <a:lnSpc>
                <a:spcPts val="1320"/>
              </a:lnSpc>
              <a:spcAft>
                <a:spcPts val="330"/>
              </a:spcAft>
              <a:defRPr sz="1100" b="0">
                <a:solidFill>
                  <a:srgbClr val="6C7086"/>
                </a:solidFill>
                <a:latin typeface="Segoe UI"/>
              </a:defRPr>
            </a:pPr>
            <a:r>
              <a:t>Phase 4</a:t>
            </a:r>
          </a:p>
        </p:txBody>
      </p:sp>
      <p:sp>
        <p:nvSpPr>
          <p:cNvPr id="26" name="TextBox 25"/>
          <p:cNvSpPr txBox="1"/>
          <p:nvPr/>
        </p:nvSpPr>
        <p:spPr>
          <a:xfrm>
            <a:off x="7421727" y="2011680"/>
            <a:ext cx="1737360" cy="640080"/>
          </a:xfrm>
          <a:prstGeom prst="rect">
            <a:avLst/>
          </a:prstGeom>
          <a:noFill/>
        </p:spPr>
        <p:txBody>
          <a:bodyPr wrap="square">
            <a:spAutoFit/>
          </a:bodyPr>
          <a:lstStyle/>
          <a:p>
            <a:pPr algn="ctr">
              <a:lnSpc>
                <a:spcPts val="1920"/>
              </a:lnSpc>
              <a:spcAft>
                <a:spcPts val="480"/>
              </a:spcAft>
              <a:defRPr sz="1600" b="1">
                <a:solidFill>
                  <a:srgbClr val="FAB387"/>
                </a:solidFill>
                <a:latin typeface="Segoe UI"/>
              </a:defRPr>
            </a:pPr>
            <a:r>
              <a:t>Root Cause</a:t>
            </a:r>
            <a:br/>
            <a:r>
              <a:t>Identification</a:t>
            </a:r>
          </a:p>
        </p:txBody>
      </p:sp>
      <p:sp>
        <p:nvSpPr>
          <p:cNvPr id="27" name="TextBox 26"/>
          <p:cNvSpPr txBox="1"/>
          <p:nvPr/>
        </p:nvSpPr>
        <p:spPr>
          <a:xfrm>
            <a:off x="7421727" y="2926080"/>
            <a:ext cx="1737360" cy="1463040"/>
          </a:xfrm>
          <a:prstGeom prst="rect">
            <a:avLst/>
          </a:prstGeom>
          <a:noFill/>
        </p:spPr>
        <p:txBody>
          <a:bodyPr wrap="square">
            <a:spAutoFit/>
          </a:bodyPr>
          <a:lstStyle/>
          <a:p>
            <a:pPr algn="ctr">
              <a:lnSpc>
                <a:spcPts val="1539"/>
              </a:lnSpc>
              <a:spcAft>
                <a:spcPts val="330"/>
              </a:spcAft>
              <a:defRPr sz="1100" b="0">
                <a:solidFill>
                  <a:srgbClr val="CDD6F4"/>
                </a:solidFill>
                <a:latin typeface="Segoe UI"/>
              </a:defRPr>
            </a:pPr>
            <a:r>
              <a:t>Distinguish root from proximate.</a:t>
            </a:r>
            <a:br/>
            <a:r>
              <a:t>Trace full causal chain.</a:t>
            </a:r>
          </a:p>
        </p:txBody>
      </p:sp>
      <p:sp>
        <p:nvSpPr>
          <p:cNvPr id="28" name="TextBox 27"/>
          <p:cNvSpPr txBox="1"/>
          <p:nvPr/>
        </p:nvSpPr>
        <p:spPr>
          <a:xfrm>
            <a:off x="9268815" y="2834640"/>
            <a:ext cx="274320" cy="365760"/>
          </a:xfrm>
          <a:prstGeom prst="rect">
            <a:avLst/>
          </a:prstGeom>
          <a:noFill/>
        </p:spPr>
        <p:txBody>
          <a:bodyPr wrap="square">
            <a:spAutoFit/>
          </a:bodyPr>
          <a:lstStyle/>
          <a:p>
            <a:pPr algn="ctr">
              <a:lnSpc>
                <a:spcPts val="2879"/>
              </a:lnSpc>
              <a:spcAft>
                <a:spcPts val="719"/>
              </a:spcAft>
              <a:defRPr sz="2400" b="0">
                <a:solidFill>
                  <a:srgbClr val="6C7086"/>
                </a:solidFill>
                <a:latin typeface="Segoe UI"/>
              </a:defRPr>
            </a:pPr>
            <a:r>
              <a:t>→</a:t>
            </a:r>
          </a:p>
        </p:txBody>
      </p:sp>
      <p:sp>
        <p:nvSpPr>
          <p:cNvPr id="29" name="Rounded Rectangle 28"/>
          <p:cNvSpPr/>
          <p:nvPr/>
        </p:nvSpPr>
        <p:spPr>
          <a:xfrm>
            <a:off x="9524847" y="1554480"/>
            <a:ext cx="1920240" cy="32004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24847" y="1554480"/>
            <a:ext cx="1920240" cy="54864"/>
          </a:xfrm>
          <a:prstGeom prst="rect">
            <a:avLst/>
          </a:prstGeom>
          <a:solidFill>
            <a:srgbClr val="F38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16287" y="1737360"/>
            <a:ext cx="1737360" cy="228600"/>
          </a:xfrm>
          <a:prstGeom prst="rect">
            <a:avLst/>
          </a:prstGeom>
          <a:noFill/>
        </p:spPr>
        <p:txBody>
          <a:bodyPr wrap="square">
            <a:spAutoFit/>
          </a:bodyPr>
          <a:lstStyle/>
          <a:p>
            <a:pPr algn="ctr">
              <a:lnSpc>
                <a:spcPts val="1320"/>
              </a:lnSpc>
              <a:spcAft>
                <a:spcPts val="330"/>
              </a:spcAft>
              <a:defRPr sz="1100" b="0">
                <a:solidFill>
                  <a:srgbClr val="6C7086"/>
                </a:solidFill>
                <a:latin typeface="Segoe UI"/>
              </a:defRPr>
            </a:pPr>
            <a:r>
              <a:t>Phase 5</a:t>
            </a:r>
          </a:p>
        </p:txBody>
      </p:sp>
      <p:sp>
        <p:nvSpPr>
          <p:cNvPr id="32" name="TextBox 31"/>
          <p:cNvSpPr txBox="1"/>
          <p:nvPr/>
        </p:nvSpPr>
        <p:spPr>
          <a:xfrm>
            <a:off x="9616287" y="2011680"/>
            <a:ext cx="1737360" cy="640080"/>
          </a:xfrm>
          <a:prstGeom prst="rect">
            <a:avLst/>
          </a:prstGeom>
          <a:noFill/>
        </p:spPr>
        <p:txBody>
          <a:bodyPr wrap="square">
            <a:spAutoFit/>
          </a:bodyPr>
          <a:lstStyle/>
          <a:p>
            <a:pPr algn="ctr">
              <a:lnSpc>
                <a:spcPts val="1920"/>
              </a:lnSpc>
              <a:spcAft>
                <a:spcPts val="480"/>
              </a:spcAft>
              <a:defRPr sz="1600" b="1">
                <a:solidFill>
                  <a:srgbClr val="F38BA8"/>
                </a:solidFill>
                <a:latin typeface="Segoe UI"/>
              </a:defRPr>
            </a:pPr>
            <a:r>
              <a:t>Remediation</a:t>
            </a:r>
          </a:p>
        </p:txBody>
      </p:sp>
      <p:sp>
        <p:nvSpPr>
          <p:cNvPr id="33" name="TextBox 32"/>
          <p:cNvSpPr txBox="1"/>
          <p:nvPr/>
        </p:nvSpPr>
        <p:spPr>
          <a:xfrm>
            <a:off x="9616287" y="2926080"/>
            <a:ext cx="1737360" cy="1463040"/>
          </a:xfrm>
          <a:prstGeom prst="rect">
            <a:avLst/>
          </a:prstGeom>
          <a:noFill/>
        </p:spPr>
        <p:txBody>
          <a:bodyPr wrap="square">
            <a:spAutoFit/>
          </a:bodyPr>
          <a:lstStyle/>
          <a:p>
            <a:pPr algn="ctr">
              <a:lnSpc>
                <a:spcPts val="1539"/>
              </a:lnSpc>
              <a:spcAft>
                <a:spcPts val="330"/>
              </a:spcAft>
              <a:defRPr sz="1100" b="0">
                <a:solidFill>
                  <a:srgbClr val="CDD6F4"/>
                </a:solidFill>
                <a:latin typeface="Segoe UI"/>
              </a:defRPr>
            </a:pPr>
            <a:r>
              <a:t>Fix root, not symptom.</a:t>
            </a:r>
            <a:br/>
            <a:r>
              <a:t>Secondary fixes + risk assessment.</a:t>
            </a:r>
          </a:p>
        </p:txBody>
      </p:sp>
      <p:sp>
        <p:nvSpPr>
          <p:cNvPr id="34" name="Rounded Rectangle 33"/>
          <p:cNvSpPr/>
          <p:nvPr/>
        </p:nvSpPr>
        <p:spPr>
          <a:xfrm>
            <a:off x="1371600" y="5120640"/>
            <a:ext cx="9418320" cy="109728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645920" y="5212080"/>
            <a:ext cx="8869680" cy="914400"/>
          </a:xfrm>
          <a:prstGeom prst="rect">
            <a:avLst/>
          </a:prstGeom>
          <a:noFill/>
        </p:spPr>
        <p:txBody>
          <a:bodyPr wrap="square">
            <a:spAutoFit/>
          </a:bodyPr>
          <a:lstStyle/>
          <a:p>
            <a:pPr algn="ctr">
              <a:lnSpc>
                <a:spcPts val="1820"/>
              </a:lnSpc>
              <a:spcAft>
                <a:spcPts val="390"/>
              </a:spcAft>
              <a:defRPr sz="1300" b="0">
                <a:solidFill>
                  <a:srgbClr val="CDD6F4"/>
                </a:solidFill>
                <a:latin typeface="Segoe UI"/>
              </a:defRPr>
            </a:pPr>
            <a:r>
              <a:t>Key rule: "If we fix only the proximate cause, will the root cause</a:t>
            </a:r>
            <a:br/>
            <a:r>
              <a:t>produce other failures?" → If yes, the fix is incomplete.</a:t>
            </a:r>
            <a:br/>
            <a:br/>
            <a:r>
              <a:t>Example: Proximate = "null deref at line 42" · Root = "init silently fails when config missing"</a:t>
            </a:r>
          </a:p>
        </p:txBody>
      </p:sp>
      <p:sp>
        <p:nvSpPr>
          <p:cNvPr id="36" name="TextBox 35"/>
          <p:cNvSpPr txBox="1"/>
          <p:nvPr/>
        </p:nvSpPr>
        <p:spPr>
          <a:xfrm>
            <a:off x="11155680" y="6492240"/>
            <a:ext cx="914400" cy="274320"/>
          </a:xfrm>
          <a:prstGeom prst="rect">
            <a:avLst/>
          </a:prstGeom>
          <a:noFill/>
        </p:spPr>
        <p:txBody>
          <a:bodyPr wrap="square">
            <a:spAutoFit/>
          </a:bodyPr>
          <a:lstStyle/>
          <a:p>
            <a:pPr algn="r">
              <a:lnSpc>
                <a:spcPts val="1200"/>
              </a:lnSpc>
              <a:spcAft>
                <a:spcPts val="300"/>
              </a:spcAft>
              <a:defRPr sz="1000" b="0">
                <a:solidFill>
                  <a:srgbClr val="6C7086"/>
                </a:solidFill>
                <a:latin typeface="Segoe UI"/>
              </a:defRPr>
            </a:pPr>
            <a:r>
              <a:t>8 / 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594360"/>
          </a:xfrm>
          <a:prstGeom prst="rect">
            <a:avLst/>
          </a:prstGeom>
          <a:noFill/>
        </p:spPr>
        <p:txBody>
          <a:bodyPr wrap="square">
            <a:spAutoFit/>
          </a:bodyPr>
          <a:lstStyle/>
          <a:p>
            <a:pPr algn="l">
              <a:lnSpc>
                <a:spcPts val="3840"/>
              </a:lnSpc>
              <a:spcAft>
                <a:spcPts val="960"/>
              </a:spcAft>
              <a:defRPr sz="3200" b="1">
                <a:solidFill>
                  <a:srgbClr val="CDD6F4"/>
                </a:solidFill>
                <a:latin typeface="Segoe UI"/>
              </a:defRPr>
            </a:pPr>
            <a:r>
              <a:t>Deep Dive: Output Formats</a:t>
            </a:r>
          </a:p>
        </p:txBody>
      </p:sp>
      <p:sp>
        <p:nvSpPr>
          <p:cNvPr id="4" name="TextBox 3"/>
          <p:cNvSpPr txBox="1"/>
          <p:nvPr/>
        </p:nvSpPr>
        <p:spPr>
          <a:xfrm>
            <a:off x="731520" y="868680"/>
            <a:ext cx="10058400" cy="411480"/>
          </a:xfrm>
          <a:prstGeom prst="rect">
            <a:avLst/>
          </a:prstGeom>
          <a:noFill/>
        </p:spPr>
        <p:txBody>
          <a:bodyPr wrap="square">
            <a:spAutoFit/>
          </a:bodyPr>
          <a:lstStyle/>
          <a:p>
            <a:pPr algn="l">
              <a:lnSpc>
                <a:spcPts val="1920"/>
              </a:lnSpc>
              <a:spcAft>
                <a:spcPts val="480"/>
              </a:spcAft>
              <a:defRPr sz="1600" b="0">
                <a:solidFill>
                  <a:srgbClr val="6C7086"/>
                </a:solidFill>
                <a:latin typeface="Segoe UI"/>
              </a:defRPr>
            </a:pPr>
            <a:r>
              <a:t>Layer ③ — 11 structured deliverable types</a:t>
            </a:r>
          </a:p>
        </p:txBody>
      </p:sp>
      <p:sp>
        <p:nvSpPr>
          <p:cNvPr id="5" name="Rounded Rectangle 4"/>
          <p:cNvSpPr/>
          <p:nvPr/>
        </p:nvSpPr>
        <p:spPr>
          <a:xfrm>
            <a:off x="1371600" y="1554480"/>
            <a:ext cx="9418320" cy="411480"/>
          </a:xfrm>
          <a:prstGeom prst="roundRect">
            <a:avLst/>
          </a:prstGeom>
          <a:solidFill>
            <a:srgbClr val="89B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54480" y="1600200"/>
            <a:ext cx="2286000" cy="320040"/>
          </a:xfrm>
          <a:prstGeom prst="rect">
            <a:avLst/>
          </a:prstGeom>
          <a:noFill/>
        </p:spPr>
        <p:txBody>
          <a:bodyPr wrap="square">
            <a:spAutoFit/>
          </a:bodyPr>
          <a:lstStyle/>
          <a:p>
            <a:pPr algn="l">
              <a:lnSpc>
                <a:spcPts val="1680"/>
              </a:lnSpc>
              <a:spcAft>
                <a:spcPts val="420"/>
              </a:spcAft>
              <a:defRPr sz="1400" b="1">
                <a:solidFill>
                  <a:srgbClr val="1E1E2E"/>
                </a:solidFill>
                <a:latin typeface="Segoe UI"/>
              </a:defRPr>
            </a:pPr>
            <a:r>
              <a:t>Format</a:t>
            </a:r>
          </a:p>
        </p:txBody>
      </p:sp>
      <p:sp>
        <p:nvSpPr>
          <p:cNvPr id="7" name="TextBox 6"/>
          <p:cNvSpPr txBox="1"/>
          <p:nvPr/>
        </p:nvSpPr>
        <p:spPr>
          <a:xfrm>
            <a:off x="3931920" y="1600200"/>
            <a:ext cx="4114800" cy="320040"/>
          </a:xfrm>
          <a:prstGeom prst="rect">
            <a:avLst/>
          </a:prstGeom>
          <a:noFill/>
        </p:spPr>
        <p:txBody>
          <a:bodyPr wrap="square">
            <a:spAutoFit/>
          </a:bodyPr>
          <a:lstStyle/>
          <a:p>
            <a:pPr algn="l">
              <a:lnSpc>
                <a:spcPts val="1680"/>
              </a:lnSpc>
              <a:spcAft>
                <a:spcPts val="420"/>
              </a:spcAft>
              <a:defRPr sz="1400" b="1">
                <a:solidFill>
                  <a:srgbClr val="1E1E2E"/>
                </a:solidFill>
                <a:latin typeface="Segoe UI"/>
              </a:defRPr>
            </a:pPr>
            <a:r>
              <a:t>Description</a:t>
            </a:r>
          </a:p>
        </p:txBody>
      </p:sp>
      <p:sp>
        <p:nvSpPr>
          <p:cNvPr id="8" name="TextBox 7"/>
          <p:cNvSpPr txBox="1"/>
          <p:nvPr/>
        </p:nvSpPr>
        <p:spPr>
          <a:xfrm>
            <a:off x="8229600" y="1600200"/>
            <a:ext cx="2286000" cy="320040"/>
          </a:xfrm>
          <a:prstGeom prst="rect">
            <a:avLst/>
          </a:prstGeom>
          <a:noFill/>
        </p:spPr>
        <p:txBody>
          <a:bodyPr wrap="square">
            <a:spAutoFit/>
          </a:bodyPr>
          <a:lstStyle/>
          <a:p>
            <a:pPr algn="l">
              <a:lnSpc>
                <a:spcPts val="1680"/>
              </a:lnSpc>
              <a:spcAft>
                <a:spcPts val="420"/>
              </a:spcAft>
              <a:defRPr sz="1400" b="1">
                <a:solidFill>
                  <a:srgbClr val="1E1E2E"/>
                </a:solidFill>
                <a:latin typeface="Segoe UI"/>
              </a:defRPr>
            </a:pPr>
            <a:r>
              <a:t>Artifact Type</a:t>
            </a:r>
          </a:p>
        </p:txBody>
      </p:sp>
      <p:sp>
        <p:nvSpPr>
          <p:cNvPr id="9" name="Rounded Rectangle 8"/>
          <p:cNvSpPr/>
          <p:nvPr/>
        </p:nvSpPr>
        <p:spPr>
          <a:xfrm>
            <a:off x="1371600" y="2057400"/>
            <a:ext cx="9418320" cy="347472"/>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54480" y="2093976"/>
            <a:ext cx="2286000" cy="274320"/>
          </a:xfrm>
          <a:prstGeom prst="rect">
            <a:avLst/>
          </a:prstGeom>
          <a:noFill/>
        </p:spPr>
        <p:txBody>
          <a:bodyPr wrap="square">
            <a:spAutoFit/>
          </a:bodyPr>
          <a:lstStyle/>
          <a:p>
            <a:pPr algn="l">
              <a:lnSpc>
                <a:spcPts val="1439"/>
              </a:lnSpc>
              <a:spcAft>
                <a:spcPts val="359"/>
              </a:spcAft>
              <a:defRPr sz="1200" b="0">
                <a:solidFill>
                  <a:srgbClr val="89B4FA"/>
                </a:solidFill>
                <a:latin typeface="Cascadia Code"/>
              </a:defRPr>
            </a:pPr>
            <a:r>
              <a:t>requirements-doc</a:t>
            </a:r>
          </a:p>
        </p:txBody>
      </p:sp>
      <p:sp>
        <p:nvSpPr>
          <p:cNvPr id="11" name="TextBox 10"/>
          <p:cNvSpPr txBox="1"/>
          <p:nvPr/>
        </p:nvSpPr>
        <p:spPr>
          <a:xfrm>
            <a:off x="3931920" y="2093976"/>
            <a:ext cx="4114800" cy="274320"/>
          </a:xfrm>
          <a:prstGeom prst="rect">
            <a:avLst/>
          </a:prstGeom>
          <a:noFill/>
        </p:spPr>
        <p:txBody>
          <a:bodyPr wrap="square">
            <a:spAutoFit/>
          </a:bodyPr>
          <a:lstStyle/>
          <a:p>
            <a:pPr algn="l">
              <a:lnSpc>
                <a:spcPts val="1439"/>
              </a:lnSpc>
              <a:spcAft>
                <a:spcPts val="359"/>
              </a:spcAft>
              <a:defRPr sz="1200" b="0">
                <a:solidFill>
                  <a:srgbClr val="CDD6F4"/>
                </a:solidFill>
                <a:latin typeface="Segoe UI"/>
              </a:defRPr>
            </a:pPr>
            <a:r>
              <a:t>Numbered REQ-IDs + acceptance criteria</a:t>
            </a:r>
          </a:p>
        </p:txBody>
      </p:sp>
      <p:sp>
        <p:nvSpPr>
          <p:cNvPr id="12" name="TextBox 11"/>
          <p:cNvSpPr txBox="1"/>
          <p:nvPr/>
        </p:nvSpPr>
        <p:spPr>
          <a:xfrm>
            <a:off x="8229600" y="2093976"/>
            <a:ext cx="2286000" cy="274320"/>
          </a:xfrm>
          <a:prstGeom prst="rect">
            <a:avLst/>
          </a:prstGeom>
          <a:noFill/>
        </p:spPr>
        <p:txBody>
          <a:bodyPr wrap="square">
            <a:spAutoFit/>
          </a:bodyPr>
          <a:lstStyle/>
          <a:p>
            <a:pPr algn="l">
              <a:lnSpc>
                <a:spcPts val="1200"/>
              </a:lnSpc>
              <a:spcAft>
                <a:spcPts val="300"/>
              </a:spcAft>
              <a:defRPr sz="1000" b="0">
                <a:solidFill>
                  <a:srgbClr val="6C7086"/>
                </a:solidFill>
                <a:latin typeface="Cascadia Code"/>
              </a:defRPr>
            </a:pPr>
            <a:r>
              <a:t>requirements-document</a:t>
            </a:r>
          </a:p>
        </p:txBody>
      </p:sp>
      <p:sp>
        <p:nvSpPr>
          <p:cNvPr id="13" name="Rounded Rectangle 12"/>
          <p:cNvSpPr/>
          <p:nvPr/>
        </p:nvSpPr>
        <p:spPr>
          <a:xfrm>
            <a:off x="1371600" y="2441448"/>
            <a:ext cx="9418320" cy="347472"/>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54480" y="2478024"/>
            <a:ext cx="2286000" cy="274320"/>
          </a:xfrm>
          <a:prstGeom prst="rect">
            <a:avLst/>
          </a:prstGeom>
          <a:noFill/>
        </p:spPr>
        <p:txBody>
          <a:bodyPr wrap="square">
            <a:spAutoFit/>
          </a:bodyPr>
          <a:lstStyle/>
          <a:p>
            <a:pPr algn="l">
              <a:lnSpc>
                <a:spcPts val="1439"/>
              </a:lnSpc>
              <a:spcAft>
                <a:spcPts val="359"/>
              </a:spcAft>
              <a:defRPr sz="1200" b="0">
                <a:solidFill>
                  <a:srgbClr val="89B4FA"/>
                </a:solidFill>
                <a:latin typeface="Cascadia Code"/>
              </a:defRPr>
            </a:pPr>
            <a:r>
              <a:t>design-doc</a:t>
            </a:r>
          </a:p>
        </p:txBody>
      </p:sp>
      <p:sp>
        <p:nvSpPr>
          <p:cNvPr id="15" name="TextBox 14"/>
          <p:cNvSpPr txBox="1"/>
          <p:nvPr/>
        </p:nvSpPr>
        <p:spPr>
          <a:xfrm>
            <a:off x="3931920" y="2478024"/>
            <a:ext cx="4114800" cy="274320"/>
          </a:xfrm>
          <a:prstGeom prst="rect">
            <a:avLst/>
          </a:prstGeom>
          <a:noFill/>
        </p:spPr>
        <p:txBody>
          <a:bodyPr wrap="square">
            <a:spAutoFit/>
          </a:bodyPr>
          <a:lstStyle/>
          <a:p>
            <a:pPr algn="l">
              <a:lnSpc>
                <a:spcPts val="1439"/>
              </a:lnSpc>
              <a:spcAft>
                <a:spcPts val="359"/>
              </a:spcAft>
              <a:defRPr sz="1200" b="0">
                <a:solidFill>
                  <a:srgbClr val="CDD6F4"/>
                </a:solidFill>
                <a:latin typeface="Segoe UI"/>
              </a:defRPr>
            </a:pPr>
            <a:r>
              <a:t>Architecture, APIs, tradeoff analysis</a:t>
            </a:r>
          </a:p>
        </p:txBody>
      </p:sp>
      <p:sp>
        <p:nvSpPr>
          <p:cNvPr id="16" name="TextBox 15"/>
          <p:cNvSpPr txBox="1"/>
          <p:nvPr/>
        </p:nvSpPr>
        <p:spPr>
          <a:xfrm>
            <a:off x="8229600" y="2478024"/>
            <a:ext cx="2286000" cy="274320"/>
          </a:xfrm>
          <a:prstGeom prst="rect">
            <a:avLst/>
          </a:prstGeom>
          <a:noFill/>
        </p:spPr>
        <p:txBody>
          <a:bodyPr wrap="square">
            <a:spAutoFit/>
          </a:bodyPr>
          <a:lstStyle/>
          <a:p>
            <a:pPr algn="l">
              <a:lnSpc>
                <a:spcPts val="1200"/>
              </a:lnSpc>
              <a:spcAft>
                <a:spcPts val="300"/>
              </a:spcAft>
              <a:defRPr sz="1000" b="0">
                <a:solidFill>
                  <a:srgbClr val="6C7086"/>
                </a:solidFill>
                <a:latin typeface="Cascadia Code"/>
              </a:defRPr>
            </a:pPr>
            <a:r>
              <a:t>design-document</a:t>
            </a:r>
          </a:p>
        </p:txBody>
      </p:sp>
      <p:sp>
        <p:nvSpPr>
          <p:cNvPr id="17" name="Rounded Rectangle 16"/>
          <p:cNvSpPr/>
          <p:nvPr/>
        </p:nvSpPr>
        <p:spPr>
          <a:xfrm>
            <a:off x="1371600" y="2825496"/>
            <a:ext cx="9418320" cy="347472"/>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54480" y="2862072"/>
            <a:ext cx="2286000" cy="274320"/>
          </a:xfrm>
          <a:prstGeom prst="rect">
            <a:avLst/>
          </a:prstGeom>
          <a:noFill/>
        </p:spPr>
        <p:txBody>
          <a:bodyPr wrap="square">
            <a:spAutoFit/>
          </a:bodyPr>
          <a:lstStyle/>
          <a:p>
            <a:pPr algn="l">
              <a:lnSpc>
                <a:spcPts val="1439"/>
              </a:lnSpc>
              <a:spcAft>
                <a:spcPts val="359"/>
              </a:spcAft>
              <a:defRPr sz="1200" b="0">
                <a:solidFill>
                  <a:srgbClr val="89B4FA"/>
                </a:solidFill>
                <a:latin typeface="Cascadia Code"/>
              </a:defRPr>
            </a:pPr>
            <a:r>
              <a:t>validation-plan</a:t>
            </a:r>
          </a:p>
        </p:txBody>
      </p:sp>
      <p:sp>
        <p:nvSpPr>
          <p:cNvPr id="19" name="TextBox 18"/>
          <p:cNvSpPr txBox="1"/>
          <p:nvPr/>
        </p:nvSpPr>
        <p:spPr>
          <a:xfrm>
            <a:off x="3931920" y="2862072"/>
            <a:ext cx="4114800" cy="274320"/>
          </a:xfrm>
          <a:prstGeom prst="rect">
            <a:avLst/>
          </a:prstGeom>
          <a:noFill/>
        </p:spPr>
        <p:txBody>
          <a:bodyPr wrap="square">
            <a:spAutoFit/>
          </a:bodyPr>
          <a:lstStyle/>
          <a:p>
            <a:pPr algn="l">
              <a:lnSpc>
                <a:spcPts val="1439"/>
              </a:lnSpc>
              <a:spcAft>
                <a:spcPts val="359"/>
              </a:spcAft>
              <a:defRPr sz="1200" b="0">
                <a:solidFill>
                  <a:srgbClr val="CDD6F4"/>
                </a:solidFill>
                <a:latin typeface="Segoe UI"/>
              </a:defRPr>
            </a:pPr>
            <a:r>
              <a:t>Test cases + traceability matrix</a:t>
            </a:r>
          </a:p>
        </p:txBody>
      </p:sp>
      <p:sp>
        <p:nvSpPr>
          <p:cNvPr id="20" name="TextBox 19"/>
          <p:cNvSpPr txBox="1"/>
          <p:nvPr/>
        </p:nvSpPr>
        <p:spPr>
          <a:xfrm>
            <a:off x="8229600" y="2862072"/>
            <a:ext cx="2286000" cy="274320"/>
          </a:xfrm>
          <a:prstGeom prst="rect">
            <a:avLst/>
          </a:prstGeom>
          <a:noFill/>
        </p:spPr>
        <p:txBody>
          <a:bodyPr wrap="square">
            <a:spAutoFit/>
          </a:bodyPr>
          <a:lstStyle/>
          <a:p>
            <a:pPr algn="l">
              <a:lnSpc>
                <a:spcPts val="1200"/>
              </a:lnSpc>
              <a:spcAft>
                <a:spcPts val="300"/>
              </a:spcAft>
              <a:defRPr sz="1000" b="0">
                <a:solidFill>
                  <a:srgbClr val="6C7086"/>
                </a:solidFill>
                <a:latin typeface="Cascadia Code"/>
              </a:defRPr>
            </a:pPr>
            <a:r>
              <a:t>validation-plan</a:t>
            </a:r>
          </a:p>
        </p:txBody>
      </p:sp>
      <p:sp>
        <p:nvSpPr>
          <p:cNvPr id="21" name="Rounded Rectangle 20"/>
          <p:cNvSpPr/>
          <p:nvPr/>
        </p:nvSpPr>
        <p:spPr>
          <a:xfrm>
            <a:off x="1371600" y="3209544"/>
            <a:ext cx="9418320" cy="347472"/>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54480" y="3246120"/>
            <a:ext cx="2286000" cy="274320"/>
          </a:xfrm>
          <a:prstGeom prst="rect">
            <a:avLst/>
          </a:prstGeom>
          <a:noFill/>
        </p:spPr>
        <p:txBody>
          <a:bodyPr wrap="square">
            <a:spAutoFit/>
          </a:bodyPr>
          <a:lstStyle/>
          <a:p>
            <a:pPr algn="l">
              <a:lnSpc>
                <a:spcPts val="1439"/>
              </a:lnSpc>
              <a:spcAft>
                <a:spcPts val="359"/>
              </a:spcAft>
              <a:defRPr sz="1200" b="0">
                <a:solidFill>
                  <a:srgbClr val="89B4FA"/>
                </a:solidFill>
                <a:latin typeface="Cascadia Code"/>
              </a:defRPr>
            </a:pPr>
            <a:r>
              <a:t>investigation-report</a:t>
            </a:r>
          </a:p>
        </p:txBody>
      </p:sp>
      <p:sp>
        <p:nvSpPr>
          <p:cNvPr id="23" name="TextBox 22"/>
          <p:cNvSpPr txBox="1"/>
          <p:nvPr/>
        </p:nvSpPr>
        <p:spPr>
          <a:xfrm>
            <a:off x="3931920" y="3246120"/>
            <a:ext cx="4114800" cy="274320"/>
          </a:xfrm>
          <a:prstGeom prst="rect">
            <a:avLst/>
          </a:prstGeom>
          <a:noFill/>
        </p:spPr>
        <p:txBody>
          <a:bodyPr wrap="square">
            <a:spAutoFit/>
          </a:bodyPr>
          <a:lstStyle/>
          <a:p>
            <a:pPr algn="l">
              <a:lnSpc>
                <a:spcPts val="1439"/>
              </a:lnSpc>
              <a:spcAft>
                <a:spcPts val="359"/>
              </a:spcAft>
              <a:defRPr sz="1200" b="0">
                <a:solidFill>
                  <a:srgbClr val="CDD6F4"/>
                </a:solidFill>
                <a:latin typeface="Segoe UI"/>
              </a:defRPr>
            </a:pPr>
            <a:r>
              <a:t>Findings, RCA, remediation</a:t>
            </a:r>
          </a:p>
        </p:txBody>
      </p:sp>
      <p:sp>
        <p:nvSpPr>
          <p:cNvPr id="24" name="TextBox 23"/>
          <p:cNvSpPr txBox="1"/>
          <p:nvPr/>
        </p:nvSpPr>
        <p:spPr>
          <a:xfrm>
            <a:off x="8229600" y="3246120"/>
            <a:ext cx="2286000" cy="274320"/>
          </a:xfrm>
          <a:prstGeom prst="rect">
            <a:avLst/>
          </a:prstGeom>
          <a:noFill/>
        </p:spPr>
        <p:txBody>
          <a:bodyPr wrap="square">
            <a:spAutoFit/>
          </a:bodyPr>
          <a:lstStyle/>
          <a:p>
            <a:pPr algn="l">
              <a:lnSpc>
                <a:spcPts val="1200"/>
              </a:lnSpc>
              <a:spcAft>
                <a:spcPts val="300"/>
              </a:spcAft>
              <a:defRPr sz="1000" b="0">
                <a:solidFill>
                  <a:srgbClr val="6C7086"/>
                </a:solidFill>
                <a:latin typeface="Cascadia Code"/>
              </a:defRPr>
            </a:pPr>
            <a:r>
              <a:t>investigation-report</a:t>
            </a:r>
          </a:p>
        </p:txBody>
      </p:sp>
      <p:sp>
        <p:nvSpPr>
          <p:cNvPr id="25" name="Rounded Rectangle 24"/>
          <p:cNvSpPr/>
          <p:nvPr/>
        </p:nvSpPr>
        <p:spPr>
          <a:xfrm>
            <a:off x="1371600" y="3593591"/>
            <a:ext cx="9418320" cy="347472"/>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54480" y="3630167"/>
            <a:ext cx="2286000" cy="274320"/>
          </a:xfrm>
          <a:prstGeom prst="rect">
            <a:avLst/>
          </a:prstGeom>
          <a:noFill/>
        </p:spPr>
        <p:txBody>
          <a:bodyPr wrap="square">
            <a:spAutoFit/>
          </a:bodyPr>
          <a:lstStyle/>
          <a:p>
            <a:pPr algn="l">
              <a:lnSpc>
                <a:spcPts val="1439"/>
              </a:lnSpc>
              <a:spcAft>
                <a:spcPts val="359"/>
              </a:spcAft>
              <a:defRPr sz="1200" b="0">
                <a:solidFill>
                  <a:srgbClr val="89B4FA"/>
                </a:solidFill>
                <a:latin typeface="Cascadia Code"/>
              </a:defRPr>
            </a:pPr>
            <a:r>
              <a:t>implementation-plan</a:t>
            </a:r>
          </a:p>
        </p:txBody>
      </p:sp>
      <p:sp>
        <p:nvSpPr>
          <p:cNvPr id="27" name="TextBox 26"/>
          <p:cNvSpPr txBox="1"/>
          <p:nvPr/>
        </p:nvSpPr>
        <p:spPr>
          <a:xfrm>
            <a:off x="3931920" y="3630167"/>
            <a:ext cx="4114800" cy="274320"/>
          </a:xfrm>
          <a:prstGeom prst="rect">
            <a:avLst/>
          </a:prstGeom>
          <a:noFill/>
        </p:spPr>
        <p:txBody>
          <a:bodyPr wrap="square">
            <a:spAutoFit/>
          </a:bodyPr>
          <a:lstStyle/>
          <a:p>
            <a:pPr algn="l">
              <a:lnSpc>
                <a:spcPts val="1439"/>
              </a:lnSpc>
              <a:spcAft>
                <a:spcPts val="359"/>
              </a:spcAft>
              <a:defRPr sz="1200" b="0">
                <a:solidFill>
                  <a:srgbClr val="CDD6F4"/>
                </a:solidFill>
                <a:latin typeface="Segoe UI"/>
              </a:defRPr>
            </a:pPr>
            <a:r>
              <a:t>Task breakdown + dependencies</a:t>
            </a:r>
          </a:p>
        </p:txBody>
      </p:sp>
      <p:sp>
        <p:nvSpPr>
          <p:cNvPr id="28" name="TextBox 27"/>
          <p:cNvSpPr txBox="1"/>
          <p:nvPr/>
        </p:nvSpPr>
        <p:spPr>
          <a:xfrm>
            <a:off x="8229600" y="3630167"/>
            <a:ext cx="2286000" cy="274320"/>
          </a:xfrm>
          <a:prstGeom prst="rect">
            <a:avLst/>
          </a:prstGeom>
          <a:noFill/>
        </p:spPr>
        <p:txBody>
          <a:bodyPr wrap="square">
            <a:spAutoFit/>
          </a:bodyPr>
          <a:lstStyle/>
          <a:p>
            <a:pPr algn="l">
              <a:lnSpc>
                <a:spcPts val="1200"/>
              </a:lnSpc>
              <a:spcAft>
                <a:spcPts val="300"/>
              </a:spcAft>
              <a:defRPr sz="1000" b="0">
                <a:solidFill>
                  <a:srgbClr val="6C7086"/>
                </a:solidFill>
                <a:latin typeface="Cascadia Code"/>
              </a:defRPr>
            </a:pPr>
            <a:r>
              <a:t>implementation-plan</a:t>
            </a:r>
          </a:p>
        </p:txBody>
      </p:sp>
      <p:sp>
        <p:nvSpPr>
          <p:cNvPr id="29" name="Rounded Rectangle 28"/>
          <p:cNvSpPr/>
          <p:nvPr/>
        </p:nvSpPr>
        <p:spPr>
          <a:xfrm>
            <a:off x="1371600" y="3977639"/>
            <a:ext cx="9418320" cy="347472"/>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554480" y="4014215"/>
            <a:ext cx="2286000" cy="274320"/>
          </a:xfrm>
          <a:prstGeom prst="rect">
            <a:avLst/>
          </a:prstGeom>
          <a:noFill/>
        </p:spPr>
        <p:txBody>
          <a:bodyPr wrap="square">
            <a:spAutoFit/>
          </a:bodyPr>
          <a:lstStyle/>
          <a:p>
            <a:pPr algn="l">
              <a:lnSpc>
                <a:spcPts val="1439"/>
              </a:lnSpc>
              <a:spcAft>
                <a:spcPts val="359"/>
              </a:spcAft>
              <a:defRPr sz="1200" b="0">
                <a:solidFill>
                  <a:srgbClr val="89B4FA"/>
                </a:solidFill>
                <a:latin typeface="Cascadia Code"/>
              </a:defRPr>
            </a:pPr>
            <a:r>
              <a:t>agent-instructions</a:t>
            </a:r>
          </a:p>
        </p:txBody>
      </p:sp>
      <p:sp>
        <p:nvSpPr>
          <p:cNvPr id="31" name="TextBox 30"/>
          <p:cNvSpPr txBox="1"/>
          <p:nvPr/>
        </p:nvSpPr>
        <p:spPr>
          <a:xfrm>
            <a:off x="3931920" y="4014215"/>
            <a:ext cx="4114800" cy="274320"/>
          </a:xfrm>
          <a:prstGeom prst="rect">
            <a:avLst/>
          </a:prstGeom>
          <a:noFill/>
        </p:spPr>
        <p:txBody>
          <a:bodyPr wrap="square">
            <a:spAutoFit/>
          </a:bodyPr>
          <a:lstStyle/>
          <a:p>
            <a:pPr algn="l">
              <a:lnSpc>
                <a:spcPts val="1439"/>
              </a:lnSpc>
              <a:spcAft>
                <a:spcPts val="359"/>
              </a:spcAft>
              <a:defRPr sz="1200" b="0">
                <a:solidFill>
                  <a:srgbClr val="CDD6F4"/>
                </a:solidFill>
                <a:latin typeface="Segoe UI"/>
              </a:defRPr>
            </a:pPr>
            <a:r>
              <a:t>.github/instructions/, CLAUDE.md, .cursorrules</a:t>
            </a:r>
          </a:p>
        </p:txBody>
      </p:sp>
      <p:sp>
        <p:nvSpPr>
          <p:cNvPr id="32" name="TextBox 31"/>
          <p:cNvSpPr txBox="1"/>
          <p:nvPr/>
        </p:nvSpPr>
        <p:spPr>
          <a:xfrm>
            <a:off x="8229600" y="4014215"/>
            <a:ext cx="2286000" cy="274320"/>
          </a:xfrm>
          <a:prstGeom prst="rect">
            <a:avLst/>
          </a:prstGeom>
          <a:noFill/>
        </p:spPr>
        <p:txBody>
          <a:bodyPr wrap="square">
            <a:spAutoFit/>
          </a:bodyPr>
          <a:lstStyle/>
          <a:p>
            <a:pPr algn="l">
              <a:lnSpc>
                <a:spcPts val="1200"/>
              </a:lnSpc>
              <a:spcAft>
                <a:spcPts val="300"/>
              </a:spcAft>
              <a:defRPr sz="1000" b="0">
                <a:solidFill>
                  <a:srgbClr val="6C7086"/>
                </a:solidFill>
                <a:latin typeface="Cascadia Code"/>
              </a:defRPr>
            </a:pPr>
            <a:r>
              <a:t>agent-instructions</a:t>
            </a:r>
          </a:p>
        </p:txBody>
      </p:sp>
      <p:sp>
        <p:nvSpPr>
          <p:cNvPr id="33" name="Rounded Rectangle 32"/>
          <p:cNvSpPr/>
          <p:nvPr/>
        </p:nvSpPr>
        <p:spPr>
          <a:xfrm>
            <a:off x="1371600" y="4361688"/>
            <a:ext cx="9418320" cy="347472"/>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54480" y="4398264"/>
            <a:ext cx="2286000" cy="274320"/>
          </a:xfrm>
          <a:prstGeom prst="rect">
            <a:avLst/>
          </a:prstGeom>
          <a:noFill/>
        </p:spPr>
        <p:txBody>
          <a:bodyPr wrap="square">
            <a:spAutoFit/>
          </a:bodyPr>
          <a:lstStyle/>
          <a:p>
            <a:pPr algn="l">
              <a:lnSpc>
                <a:spcPts val="1439"/>
              </a:lnSpc>
              <a:spcAft>
                <a:spcPts val="359"/>
              </a:spcAft>
              <a:defRPr sz="1200" b="0">
                <a:solidFill>
                  <a:srgbClr val="89B4FA"/>
                </a:solidFill>
                <a:latin typeface="Cascadia Code"/>
              </a:defRPr>
            </a:pPr>
            <a:r>
              <a:t>pipeline-spec</a:t>
            </a:r>
          </a:p>
        </p:txBody>
      </p:sp>
      <p:sp>
        <p:nvSpPr>
          <p:cNvPr id="35" name="TextBox 34"/>
          <p:cNvSpPr txBox="1"/>
          <p:nvPr/>
        </p:nvSpPr>
        <p:spPr>
          <a:xfrm>
            <a:off x="3931920" y="4398264"/>
            <a:ext cx="4114800" cy="274320"/>
          </a:xfrm>
          <a:prstGeom prst="rect">
            <a:avLst/>
          </a:prstGeom>
          <a:noFill/>
        </p:spPr>
        <p:txBody>
          <a:bodyPr wrap="square">
            <a:spAutoFit/>
          </a:bodyPr>
          <a:lstStyle/>
          <a:p>
            <a:pPr algn="l">
              <a:lnSpc>
                <a:spcPts val="1439"/>
              </a:lnSpc>
              <a:spcAft>
                <a:spcPts val="359"/>
              </a:spcAft>
              <a:defRPr sz="1200" b="0">
                <a:solidFill>
                  <a:srgbClr val="CDD6F4"/>
                </a:solidFill>
                <a:latin typeface="Segoe UI"/>
              </a:defRPr>
            </a:pPr>
            <a:r>
              <a:t>YAML pipelines + design rationale</a:t>
            </a:r>
          </a:p>
        </p:txBody>
      </p:sp>
      <p:sp>
        <p:nvSpPr>
          <p:cNvPr id="36" name="TextBox 35"/>
          <p:cNvSpPr txBox="1"/>
          <p:nvPr/>
        </p:nvSpPr>
        <p:spPr>
          <a:xfrm>
            <a:off x="8229600" y="4398264"/>
            <a:ext cx="2286000" cy="274320"/>
          </a:xfrm>
          <a:prstGeom prst="rect">
            <a:avLst/>
          </a:prstGeom>
          <a:noFill/>
        </p:spPr>
        <p:txBody>
          <a:bodyPr wrap="square">
            <a:spAutoFit/>
          </a:bodyPr>
          <a:lstStyle/>
          <a:p>
            <a:pPr algn="l">
              <a:lnSpc>
                <a:spcPts val="1200"/>
              </a:lnSpc>
              <a:spcAft>
                <a:spcPts val="300"/>
              </a:spcAft>
              <a:defRPr sz="1000" b="0">
                <a:solidFill>
                  <a:srgbClr val="6C7086"/>
                </a:solidFill>
                <a:latin typeface="Cascadia Code"/>
              </a:defRPr>
            </a:pPr>
            <a:r>
              <a:t>pipeline-spec</a:t>
            </a:r>
          </a:p>
        </p:txBody>
      </p:sp>
      <p:sp>
        <p:nvSpPr>
          <p:cNvPr id="37" name="Rounded Rectangle 36"/>
          <p:cNvSpPr/>
          <p:nvPr/>
        </p:nvSpPr>
        <p:spPr>
          <a:xfrm>
            <a:off x="1371600" y="4745736"/>
            <a:ext cx="9418320" cy="347472"/>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554480" y="4782312"/>
            <a:ext cx="2286000" cy="274320"/>
          </a:xfrm>
          <a:prstGeom prst="rect">
            <a:avLst/>
          </a:prstGeom>
          <a:noFill/>
        </p:spPr>
        <p:txBody>
          <a:bodyPr wrap="square">
            <a:spAutoFit/>
          </a:bodyPr>
          <a:lstStyle/>
          <a:p>
            <a:pPr algn="l">
              <a:lnSpc>
                <a:spcPts val="1439"/>
              </a:lnSpc>
              <a:spcAft>
                <a:spcPts val="359"/>
              </a:spcAft>
              <a:defRPr sz="1200" b="0">
                <a:solidFill>
                  <a:srgbClr val="89B4FA"/>
                </a:solidFill>
                <a:latin typeface="Cascadia Code"/>
              </a:defRPr>
            </a:pPr>
            <a:r>
              <a:t>release-notes</a:t>
            </a:r>
          </a:p>
        </p:txBody>
      </p:sp>
      <p:sp>
        <p:nvSpPr>
          <p:cNvPr id="39" name="TextBox 38"/>
          <p:cNvSpPr txBox="1"/>
          <p:nvPr/>
        </p:nvSpPr>
        <p:spPr>
          <a:xfrm>
            <a:off x="3931920" y="4782312"/>
            <a:ext cx="4114800" cy="274320"/>
          </a:xfrm>
          <a:prstGeom prst="rect">
            <a:avLst/>
          </a:prstGeom>
          <a:noFill/>
        </p:spPr>
        <p:txBody>
          <a:bodyPr wrap="square">
            <a:spAutoFit/>
          </a:bodyPr>
          <a:lstStyle/>
          <a:p>
            <a:pPr algn="l">
              <a:lnSpc>
                <a:spcPts val="1439"/>
              </a:lnSpc>
              <a:spcAft>
                <a:spcPts val="359"/>
              </a:spcAft>
              <a:defRPr sz="1200" b="0">
                <a:solidFill>
                  <a:srgbClr val="CDD6F4"/>
                </a:solidFill>
                <a:latin typeface="Segoe UI"/>
              </a:defRPr>
            </a:pPr>
            <a:r>
              <a:t>Changelog, breaking changes, upgrade path</a:t>
            </a:r>
          </a:p>
        </p:txBody>
      </p:sp>
      <p:sp>
        <p:nvSpPr>
          <p:cNvPr id="40" name="TextBox 39"/>
          <p:cNvSpPr txBox="1"/>
          <p:nvPr/>
        </p:nvSpPr>
        <p:spPr>
          <a:xfrm>
            <a:off x="8229600" y="4782312"/>
            <a:ext cx="2286000" cy="274320"/>
          </a:xfrm>
          <a:prstGeom prst="rect">
            <a:avLst/>
          </a:prstGeom>
          <a:noFill/>
        </p:spPr>
        <p:txBody>
          <a:bodyPr wrap="square">
            <a:spAutoFit/>
          </a:bodyPr>
          <a:lstStyle/>
          <a:p>
            <a:pPr algn="l">
              <a:lnSpc>
                <a:spcPts val="1200"/>
              </a:lnSpc>
              <a:spcAft>
                <a:spcPts val="300"/>
              </a:spcAft>
              <a:defRPr sz="1000" b="0">
                <a:solidFill>
                  <a:srgbClr val="6C7086"/>
                </a:solidFill>
                <a:latin typeface="Cascadia Code"/>
              </a:defRPr>
            </a:pPr>
            <a:r>
              <a:t>release-notes</a:t>
            </a:r>
          </a:p>
        </p:txBody>
      </p:sp>
      <p:sp>
        <p:nvSpPr>
          <p:cNvPr id="41" name="Rounded Rectangle 40"/>
          <p:cNvSpPr/>
          <p:nvPr/>
        </p:nvSpPr>
        <p:spPr>
          <a:xfrm>
            <a:off x="1371600" y="5129783"/>
            <a:ext cx="9418320" cy="347472"/>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554480" y="5166359"/>
            <a:ext cx="2286000" cy="274320"/>
          </a:xfrm>
          <a:prstGeom prst="rect">
            <a:avLst/>
          </a:prstGeom>
          <a:noFill/>
        </p:spPr>
        <p:txBody>
          <a:bodyPr wrap="square">
            <a:spAutoFit/>
          </a:bodyPr>
          <a:lstStyle/>
          <a:p>
            <a:pPr algn="l">
              <a:lnSpc>
                <a:spcPts val="1439"/>
              </a:lnSpc>
              <a:spcAft>
                <a:spcPts val="359"/>
              </a:spcAft>
              <a:defRPr sz="1200" b="0">
                <a:solidFill>
                  <a:srgbClr val="89B4FA"/>
                </a:solidFill>
                <a:latin typeface="Cascadia Code"/>
              </a:defRPr>
            </a:pPr>
            <a:r>
              <a:t>multi-artifact</a:t>
            </a:r>
          </a:p>
        </p:txBody>
      </p:sp>
      <p:sp>
        <p:nvSpPr>
          <p:cNvPr id="43" name="TextBox 42"/>
          <p:cNvSpPr txBox="1"/>
          <p:nvPr/>
        </p:nvSpPr>
        <p:spPr>
          <a:xfrm>
            <a:off x="3931920" y="5166359"/>
            <a:ext cx="4114800" cy="274320"/>
          </a:xfrm>
          <a:prstGeom prst="rect">
            <a:avLst/>
          </a:prstGeom>
          <a:noFill/>
        </p:spPr>
        <p:txBody>
          <a:bodyPr wrap="square">
            <a:spAutoFit/>
          </a:bodyPr>
          <a:lstStyle/>
          <a:p>
            <a:pPr algn="l">
              <a:lnSpc>
                <a:spcPts val="1439"/>
              </a:lnSpc>
              <a:spcAft>
                <a:spcPts val="359"/>
              </a:spcAft>
              <a:defRPr sz="1200" b="0">
                <a:solidFill>
                  <a:srgbClr val="CDD6F4"/>
                </a:solidFill>
                <a:latin typeface="Segoe UI"/>
              </a:defRPr>
            </a:pPr>
            <a:r>
              <a:t>Multiple structured files</a:t>
            </a:r>
          </a:p>
        </p:txBody>
      </p:sp>
      <p:sp>
        <p:nvSpPr>
          <p:cNvPr id="44" name="TextBox 43"/>
          <p:cNvSpPr txBox="1"/>
          <p:nvPr/>
        </p:nvSpPr>
        <p:spPr>
          <a:xfrm>
            <a:off x="8229600" y="5166359"/>
            <a:ext cx="2286000" cy="274320"/>
          </a:xfrm>
          <a:prstGeom prst="rect">
            <a:avLst/>
          </a:prstGeom>
          <a:noFill/>
        </p:spPr>
        <p:txBody>
          <a:bodyPr wrap="square">
            <a:spAutoFit/>
          </a:bodyPr>
          <a:lstStyle/>
          <a:p>
            <a:pPr algn="l">
              <a:lnSpc>
                <a:spcPts val="1200"/>
              </a:lnSpc>
              <a:spcAft>
                <a:spcPts val="300"/>
              </a:spcAft>
              <a:defRPr sz="1000" b="0">
                <a:solidFill>
                  <a:srgbClr val="6C7086"/>
                </a:solidFill>
                <a:latin typeface="Cascadia Code"/>
              </a:defRPr>
            </a:pPr>
            <a:r>
              <a:t>multi-artifact</a:t>
            </a:r>
          </a:p>
        </p:txBody>
      </p:sp>
      <p:sp>
        <p:nvSpPr>
          <p:cNvPr id="45" name="Rounded Rectangle 44"/>
          <p:cNvSpPr/>
          <p:nvPr/>
        </p:nvSpPr>
        <p:spPr>
          <a:xfrm>
            <a:off x="1371600" y="5513831"/>
            <a:ext cx="9418320" cy="347472"/>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554480" y="5550407"/>
            <a:ext cx="2286000" cy="274320"/>
          </a:xfrm>
          <a:prstGeom prst="rect">
            <a:avLst/>
          </a:prstGeom>
          <a:noFill/>
        </p:spPr>
        <p:txBody>
          <a:bodyPr wrap="square">
            <a:spAutoFit/>
          </a:bodyPr>
          <a:lstStyle/>
          <a:p>
            <a:pPr algn="l">
              <a:lnSpc>
                <a:spcPts val="1439"/>
              </a:lnSpc>
              <a:spcAft>
                <a:spcPts val="359"/>
              </a:spcAft>
              <a:defRPr sz="1200" b="0">
                <a:solidFill>
                  <a:srgbClr val="89B4FA"/>
                </a:solidFill>
                <a:latin typeface="Cascadia Code"/>
              </a:defRPr>
            </a:pPr>
            <a:r>
              <a:t>triage-report</a:t>
            </a:r>
          </a:p>
        </p:txBody>
      </p:sp>
      <p:sp>
        <p:nvSpPr>
          <p:cNvPr id="47" name="TextBox 46"/>
          <p:cNvSpPr txBox="1"/>
          <p:nvPr/>
        </p:nvSpPr>
        <p:spPr>
          <a:xfrm>
            <a:off x="3931920" y="5550407"/>
            <a:ext cx="4114800" cy="274320"/>
          </a:xfrm>
          <a:prstGeom prst="rect">
            <a:avLst/>
          </a:prstGeom>
          <a:noFill/>
        </p:spPr>
        <p:txBody>
          <a:bodyPr wrap="square">
            <a:spAutoFit/>
          </a:bodyPr>
          <a:lstStyle/>
          <a:p>
            <a:pPr algn="l">
              <a:lnSpc>
                <a:spcPts val="1439"/>
              </a:lnSpc>
              <a:spcAft>
                <a:spcPts val="359"/>
              </a:spcAft>
              <a:defRPr sz="1200" b="0">
                <a:solidFill>
                  <a:srgbClr val="CDD6F4"/>
                </a:solidFill>
                <a:latin typeface="Segoe UI"/>
              </a:defRPr>
            </a:pPr>
            <a:r>
              <a:t>Issue/PR triage with priority ranking</a:t>
            </a:r>
          </a:p>
        </p:txBody>
      </p:sp>
      <p:sp>
        <p:nvSpPr>
          <p:cNvPr id="48" name="TextBox 47"/>
          <p:cNvSpPr txBox="1"/>
          <p:nvPr/>
        </p:nvSpPr>
        <p:spPr>
          <a:xfrm>
            <a:off x="8229600" y="5550407"/>
            <a:ext cx="2286000" cy="274320"/>
          </a:xfrm>
          <a:prstGeom prst="rect">
            <a:avLst/>
          </a:prstGeom>
          <a:noFill/>
        </p:spPr>
        <p:txBody>
          <a:bodyPr wrap="square">
            <a:spAutoFit/>
          </a:bodyPr>
          <a:lstStyle/>
          <a:p>
            <a:pPr algn="l">
              <a:lnSpc>
                <a:spcPts val="1200"/>
              </a:lnSpc>
              <a:spcAft>
                <a:spcPts val="300"/>
              </a:spcAft>
              <a:defRPr sz="1000" b="0">
                <a:solidFill>
                  <a:srgbClr val="6C7086"/>
                </a:solidFill>
                <a:latin typeface="Cascadia Code"/>
              </a:defRPr>
            </a:pPr>
            <a:r>
              <a:t>triage-report</a:t>
            </a:r>
          </a:p>
        </p:txBody>
      </p:sp>
      <p:sp>
        <p:nvSpPr>
          <p:cNvPr id="49" name="Rounded Rectangle 48"/>
          <p:cNvSpPr/>
          <p:nvPr/>
        </p:nvSpPr>
        <p:spPr>
          <a:xfrm>
            <a:off x="1371600" y="5897880"/>
            <a:ext cx="9418320" cy="347472"/>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554480" y="5934456"/>
            <a:ext cx="2286000" cy="274320"/>
          </a:xfrm>
          <a:prstGeom prst="rect">
            <a:avLst/>
          </a:prstGeom>
          <a:noFill/>
        </p:spPr>
        <p:txBody>
          <a:bodyPr wrap="square">
            <a:spAutoFit/>
          </a:bodyPr>
          <a:lstStyle/>
          <a:p>
            <a:pPr algn="l">
              <a:lnSpc>
                <a:spcPts val="1439"/>
              </a:lnSpc>
              <a:spcAft>
                <a:spcPts val="359"/>
              </a:spcAft>
              <a:defRPr sz="1200" b="0">
                <a:solidFill>
                  <a:srgbClr val="89B4FA"/>
                </a:solidFill>
                <a:latin typeface="Cascadia Code"/>
              </a:defRPr>
            </a:pPr>
            <a:r>
              <a:t>promptkit-pull-request</a:t>
            </a:r>
          </a:p>
        </p:txBody>
      </p:sp>
      <p:sp>
        <p:nvSpPr>
          <p:cNvPr id="51" name="TextBox 50"/>
          <p:cNvSpPr txBox="1"/>
          <p:nvPr/>
        </p:nvSpPr>
        <p:spPr>
          <a:xfrm>
            <a:off x="3931920" y="5934456"/>
            <a:ext cx="4114800" cy="274320"/>
          </a:xfrm>
          <a:prstGeom prst="rect">
            <a:avLst/>
          </a:prstGeom>
          <a:noFill/>
        </p:spPr>
        <p:txBody>
          <a:bodyPr wrap="square">
            <a:spAutoFit/>
          </a:bodyPr>
          <a:lstStyle/>
          <a:p>
            <a:pPr algn="l">
              <a:lnSpc>
                <a:spcPts val="1439"/>
              </a:lnSpc>
              <a:spcAft>
                <a:spcPts val="359"/>
              </a:spcAft>
              <a:defRPr sz="1200" b="0">
                <a:solidFill>
                  <a:srgbClr val="CDD6F4"/>
                </a:solidFill>
                <a:latin typeface="Segoe UI"/>
              </a:defRPr>
            </a:pPr>
            <a:r>
              <a:t>PromptKit contribution PRs</a:t>
            </a:r>
          </a:p>
        </p:txBody>
      </p:sp>
      <p:sp>
        <p:nvSpPr>
          <p:cNvPr id="52" name="TextBox 51"/>
          <p:cNvSpPr txBox="1"/>
          <p:nvPr/>
        </p:nvSpPr>
        <p:spPr>
          <a:xfrm>
            <a:off x="8229600" y="5934456"/>
            <a:ext cx="2286000" cy="274320"/>
          </a:xfrm>
          <a:prstGeom prst="rect">
            <a:avLst/>
          </a:prstGeom>
          <a:noFill/>
        </p:spPr>
        <p:txBody>
          <a:bodyPr wrap="square">
            <a:spAutoFit/>
          </a:bodyPr>
          <a:lstStyle/>
          <a:p>
            <a:pPr algn="l">
              <a:lnSpc>
                <a:spcPts val="1200"/>
              </a:lnSpc>
              <a:spcAft>
                <a:spcPts val="300"/>
              </a:spcAft>
              <a:defRPr sz="1000" b="0">
                <a:solidFill>
                  <a:srgbClr val="6C7086"/>
                </a:solidFill>
                <a:latin typeface="Cascadia Code"/>
              </a:defRPr>
            </a:pPr>
            <a:r>
              <a:t>promptkit-pull-request</a:t>
            </a:r>
          </a:p>
        </p:txBody>
      </p:sp>
      <p:sp>
        <p:nvSpPr>
          <p:cNvPr id="53" name="TextBox 52"/>
          <p:cNvSpPr txBox="1"/>
          <p:nvPr/>
        </p:nvSpPr>
        <p:spPr>
          <a:xfrm>
            <a:off x="1371600" y="6400800"/>
            <a:ext cx="9418320" cy="274320"/>
          </a:xfrm>
          <a:prstGeom prst="rect">
            <a:avLst/>
          </a:prstGeom>
          <a:noFill/>
        </p:spPr>
        <p:txBody>
          <a:bodyPr wrap="square">
            <a:spAutoFit/>
          </a:bodyPr>
          <a:lstStyle/>
          <a:p>
            <a:pPr algn="ctr">
              <a:lnSpc>
                <a:spcPts val="1439"/>
              </a:lnSpc>
              <a:spcAft>
                <a:spcPts val="359"/>
              </a:spcAft>
              <a:defRPr sz="1200" b="0">
                <a:solidFill>
                  <a:srgbClr val="6C7086"/>
                </a:solidFill>
                <a:latin typeface="Segoe UI"/>
              </a:defRPr>
            </a:pPr>
            <a:r>
              <a:t>Each format declares a produces field → enables pipeline chaining between templates</a:t>
            </a:r>
          </a:p>
        </p:txBody>
      </p:sp>
      <p:sp>
        <p:nvSpPr>
          <p:cNvPr id="54" name="TextBox 53"/>
          <p:cNvSpPr txBox="1"/>
          <p:nvPr/>
        </p:nvSpPr>
        <p:spPr>
          <a:xfrm>
            <a:off x="11155680" y="6492240"/>
            <a:ext cx="914400" cy="274320"/>
          </a:xfrm>
          <a:prstGeom prst="rect">
            <a:avLst/>
          </a:prstGeom>
          <a:noFill/>
        </p:spPr>
        <p:txBody>
          <a:bodyPr wrap="square">
            <a:spAutoFit/>
          </a:bodyPr>
          <a:lstStyle/>
          <a:p>
            <a:pPr algn="r">
              <a:lnSpc>
                <a:spcPts val="1200"/>
              </a:lnSpc>
              <a:spcAft>
                <a:spcPts val="300"/>
              </a:spcAft>
              <a:defRPr sz="1000" b="0">
                <a:solidFill>
                  <a:srgbClr val="6C7086"/>
                </a:solidFill>
                <a:latin typeface="Segoe UI"/>
              </a:defRPr>
            </a:pPr>
            <a:r>
              <a:t>9 / 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594360"/>
          </a:xfrm>
          <a:prstGeom prst="rect">
            <a:avLst/>
          </a:prstGeom>
          <a:noFill/>
        </p:spPr>
        <p:txBody>
          <a:bodyPr wrap="square">
            <a:spAutoFit/>
          </a:bodyPr>
          <a:lstStyle/>
          <a:p>
            <a:pPr algn="l">
              <a:lnSpc>
                <a:spcPts val="3840"/>
              </a:lnSpc>
              <a:spcAft>
                <a:spcPts val="960"/>
              </a:spcAft>
              <a:defRPr sz="3200" b="1">
                <a:solidFill>
                  <a:srgbClr val="CDD6F4"/>
                </a:solidFill>
                <a:latin typeface="Segoe UI"/>
              </a:defRPr>
            </a:pPr>
            <a:r>
              <a:t>Spotlight: Investigation Report</a:t>
            </a:r>
          </a:p>
        </p:txBody>
      </p:sp>
      <p:sp>
        <p:nvSpPr>
          <p:cNvPr id="4" name="TextBox 3"/>
          <p:cNvSpPr txBox="1"/>
          <p:nvPr/>
        </p:nvSpPr>
        <p:spPr>
          <a:xfrm>
            <a:off x="731520" y="868680"/>
            <a:ext cx="10058400" cy="411480"/>
          </a:xfrm>
          <a:prstGeom prst="rect">
            <a:avLst/>
          </a:prstGeom>
          <a:noFill/>
        </p:spPr>
        <p:txBody>
          <a:bodyPr wrap="square">
            <a:spAutoFit/>
          </a:bodyPr>
          <a:lstStyle/>
          <a:p>
            <a:pPr algn="l">
              <a:lnSpc>
                <a:spcPts val="1920"/>
              </a:lnSpc>
              <a:spcAft>
                <a:spcPts val="480"/>
              </a:spcAft>
              <a:defRPr sz="1600" b="0">
                <a:solidFill>
                  <a:srgbClr val="6C7086"/>
                </a:solidFill>
                <a:latin typeface="Segoe UI"/>
              </a:defRPr>
            </a:pPr>
            <a:r>
              <a:t>The most common output format — 9 structured sections</a:t>
            </a:r>
          </a:p>
        </p:txBody>
      </p:sp>
      <p:sp>
        <p:nvSpPr>
          <p:cNvPr id="5" name="Rounded Rectangle 4"/>
          <p:cNvSpPr/>
          <p:nvPr/>
        </p:nvSpPr>
        <p:spPr>
          <a:xfrm>
            <a:off x="731520" y="1371600"/>
            <a:ext cx="5029200" cy="164592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4663440" cy="1463040"/>
          </a:xfrm>
          <a:prstGeom prst="rect">
            <a:avLst/>
          </a:prstGeom>
          <a:noFill/>
        </p:spPr>
        <p:txBody>
          <a:bodyPr wrap="square">
            <a:spAutoFit/>
          </a:bodyPr>
          <a:lstStyle/>
          <a:p>
            <a:pPr algn="l">
              <a:lnSpc>
                <a:spcPts val="1560"/>
              </a:lnSpc>
              <a:spcAft>
                <a:spcPts val="359"/>
              </a:spcAft>
              <a:defRPr sz="1200" b="0">
                <a:solidFill>
                  <a:srgbClr val="A6E3A1"/>
                </a:solidFill>
                <a:latin typeface="Cascadia Code"/>
              </a:defRPr>
            </a:pPr>
            <a:r>
              <a:t>---</a:t>
            </a:r>
            <a:br/>
            <a:r>
              <a:t>name: investigation-report</a:t>
            </a:r>
            <a:br/>
            <a:r>
              <a:t>type: format</a:t>
            </a:r>
            <a:br/>
            <a:r>
              <a:t>produces: investigation-report</a:t>
            </a:r>
            <a:br/>
            <a:r>
              <a:t>description: &gt;</a:t>
            </a:r>
            <a:br/>
            <a:r>
              <a:t>  Structured findings with root cause analysis</a:t>
            </a:r>
            <a:br/>
            <a:r>
              <a:t>---</a:t>
            </a:r>
          </a:p>
        </p:txBody>
      </p:sp>
      <p:sp>
        <p:nvSpPr>
          <p:cNvPr id="7" name="TextBox 6"/>
          <p:cNvSpPr txBox="1"/>
          <p:nvPr/>
        </p:nvSpPr>
        <p:spPr>
          <a:xfrm>
            <a:off x="731520" y="3291840"/>
            <a:ext cx="5029200" cy="320040"/>
          </a:xfrm>
          <a:prstGeom prst="rect">
            <a:avLst/>
          </a:prstGeom>
          <a:noFill/>
        </p:spPr>
        <p:txBody>
          <a:bodyPr wrap="square">
            <a:spAutoFit/>
          </a:bodyPr>
          <a:lstStyle/>
          <a:p>
            <a:pPr algn="l">
              <a:lnSpc>
                <a:spcPts val="2160"/>
              </a:lnSpc>
              <a:spcAft>
                <a:spcPts val="540"/>
              </a:spcAft>
              <a:defRPr sz="1800" b="1">
                <a:solidFill>
                  <a:srgbClr val="89B4FA"/>
                </a:solidFill>
                <a:latin typeface="Segoe UI"/>
              </a:defRPr>
            </a:pPr>
            <a:r>
              <a:t>Required Sections</a:t>
            </a:r>
          </a:p>
        </p:txBody>
      </p:sp>
      <p:sp>
        <p:nvSpPr>
          <p:cNvPr id="8" name="TextBox 7"/>
          <p:cNvSpPr txBox="1"/>
          <p:nvPr/>
        </p:nvSpPr>
        <p:spPr>
          <a:xfrm>
            <a:off x="731520" y="3749039"/>
            <a:ext cx="2560320" cy="320040"/>
          </a:xfrm>
          <a:prstGeom prst="rect">
            <a:avLst/>
          </a:prstGeom>
          <a:noFill/>
        </p:spPr>
        <p:txBody>
          <a:bodyPr wrap="square">
            <a:spAutoFit/>
          </a:bodyPr>
          <a:lstStyle/>
          <a:p>
            <a:pPr algn="l">
              <a:lnSpc>
                <a:spcPts val="1439"/>
              </a:lnSpc>
              <a:spcAft>
                <a:spcPts val="359"/>
              </a:spcAft>
              <a:defRPr sz="1200" b="1">
                <a:solidFill>
                  <a:srgbClr val="CDD6F4"/>
                </a:solidFill>
                <a:latin typeface="Segoe UI"/>
              </a:defRPr>
            </a:pPr>
            <a:r>
              <a:t>1. Executive Summary</a:t>
            </a:r>
          </a:p>
        </p:txBody>
      </p:sp>
      <p:sp>
        <p:nvSpPr>
          <p:cNvPr id="9" name="TextBox 8"/>
          <p:cNvSpPr txBox="1"/>
          <p:nvPr/>
        </p:nvSpPr>
        <p:spPr>
          <a:xfrm>
            <a:off x="3291840" y="3749039"/>
            <a:ext cx="3657600" cy="320040"/>
          </a:xfrm>
          <a:prstGeom prst="rect">
            <a:avLst/>
          </a:prstGeom>
          <a:noFill/>
        </p:spPr>
        <p:txBody>
          <a:bodyPr wrap="square">
            <a:spAutoFit/>
          </a:bodyPr>
          <a:lstStyle/>
          <a:p>
            <a:pPr algn="l">
              <a:lnSpc>
                <a:spcPts val="1439"/>
              </a:lnSpc>
              <a:spcAft>
                <a:spcPts val="359"/>
              </a:spcAft>
              <a:defRPr sz="1200" b="0">
                <a:solidFill>
                  <a:srgbClr val="6C7086"/>
                </a:solidFill>
                <a:latin typeface="Segoe UI"/>
              </a:defRPr>
            </a:pPr>
            <a:r>
              <a:t>2-4 sentence overview of findings</a:t>
            </a:r>
          </a:p>
        </p:txBody>
      </p:sp>
      <p:sp>
        <p:nvSpPr>
          <p:cNvPr id="10" name="TextBox 9"/>
          <p:cNvSpPr txBox="1"/>
          <p:nvPr/>
        </p:nvSpPr>
        <p:spPr>
          <a:xfrm>
            <a:off x="731520" y="4078224"/>
            <a:ext cx="2560320" cy="320040"/>
          </a:xfrm>
          <a:prstGeom prst="rect">
            <a:avLst/>
          </a:prstGeom>
          <a:noFill/>
        </p:spPr>
        <p:txBody>
          <a:bodyPr wrap="square">
            <a:spAutoFit/>
          </a:bodyPr>
          <a:lstStyle/>
          <a:p>
            <a:pPr algn="l">
              <a:lnSpc>
                <a:spcPts val="1439"/>
              </a:lnSpc>
              <a:spcAft>
                <a:spcPts val="359"/>
              </a:spcAft>
              <a:defRPr sz="1200" b="1">
                <a:solidFill>
                  <a:srgbClr val="CDD6F4"/>
                </a:solidFill>
                <a:latin typeface="Segoe UI"/>
              </a:defRPr>
            </a:pPr>
            <a:r>
              <a:t>2. Problem Statement</a:t>
            </a:r>
          </a:p>
        </p:txBody>
      </p:sp>
      <p:sp>
        <p:nvSpPr>
          <p:cNvPr id="11" name="TextBox 10"/>
          <p:cNvSpPr txBox="1"/>
          <p:nvPr/>
        </p:nvSpPr>
        <p:spPr>
          <a:xfrm>
            <a:off x="3291840" y="4078224"/>
            <a:ext cx="3657600" cy="320040"/>
          </a:xfrm>
          <a:prstGeom prst="rect">
            <a:avLst/>
          </a:prstGeom>
          <a:noFill/>
        </p:spPr>
        <p:txBody>
          <a:bodyPr wrap="square">
            <a:spAutoFit/>
          </a:bodyPr>
          <a:lstStyle/>
          <a:p>
            <a:pPr algn="l">
              <a:lnSpc>
                <a:spcPts val="1439"/>
              </a:lnSpc>
              <a:spcAft>
                <a:spcPts val="359"/>
              </a:spcAft>
              <a:defRPr sz="1200" b="0">
                <a:solidFill>
                  <a:srgbClr val="6C7086"/>
                </a:solidFill>
                <a:latin typeface="Segoe UI"/>
              </a:defRPr>
            </a:pPr>
            <a:r>
              <a:t>What was reported and by whom</a:t>
            </a:r>
          </a:p>
        </p:txBody>
      </p:sp>
      <p:sp>
        <p:nvSpPr>
          <p:cNvPr id="12" name="TextBox 11"/>
          <p:cNvSpPr txBox="1"/>
          <p:nvPr/>
        </p:nvSpPr>
        <p:spPr>
          <a:xfrm>
            <a:off x="731520" y="4407407"/>
            <a:ext cx="2560320" cy="320040"/>
          </a:xfrm>
          <a:prstGeom prst="rect">
            <a:avLst/>
          </a:prstGeom>
          <a:noFill/>
        </p:spPr>
        <p:txBody>
          <a:bodyPr wrap="square">
            <a:spAutoFit/>
          </a:bodyPr>
          <a:lstStyle/>
          <a:p>
            <a:pPr algn="l">
              <a:lnSpc>
                <a:spcPts val="1439"/>
              </a:lnSpc>
              <a:spcAft>
                <a:spcPts val="359"/>
              </a:spcAft>
              <a:defRPr sz="1200" b="1">
                <a:solidFill>
                  <a:srgbClr val="CDD6F4"/>
                </a:solidFill>
                <a:latin typeface="Segoe UI"/>
              </a:defRPr>
            </a:pPr>
            <a:r>
              <a:t>3. Investigation Scope</a:t>
            </a:r>
          </a:p>
        </p:txBody>
      </p:sp>
      <p:sp>
        <p:nvSpPr>
          <p:cNvPr id="13" name="TextBox 12"/>
          <p:cNvSpPr txBox="1"/>
          <p:nvPr/>
        </p:nvSpPr>
        <p:spPr>
          <a:xfrm>
            <a:off x="3291840" y="4407407"/>
            <a:ext cx="3657600" cy="320040"/>
          </a:xfrm>
          <a:prstGeom prst="rect">
            <a:avLst/>
          </a:prstGeom>
          <a:noFill/>
        </p:spPr>
        <p:txBody>
          <a:bodyPr wrap="square">
            <a:spAutoFit/>
          </a:bodyPr>
          <a:lstStyle/>
          <a:p>
            <a:pPr algn="l">
              <a:lnSpc>
                <a:spcPts val="1439"/>
              </a:lnSpc>
              <a:spcAft>
                <a:spcPts val="359"/>
              </a:spcAft>
              <a:defRPr sz="1200" b="0">
                <a:solidFill>
                  <a:srgbClr val="6C7086"/>
                </a:solidFill>
                <a:latin typeface="Segoe UI"/>
              </a:defRPr>
            </a:pPr>
            <a:r>
              <a:t>Boundaries + limitations of the analysis</a:t>
            </a:r>
          </a:p>
        </p:txBody>
      </p:sp>
      <p:sp>
        <p:nvSpPr>
          <p:cNvPr id="14" name="TextBox 13"/>
          <p:cNvSpPr txBox="1"/>
          <p:nvPr/>
        </p:nvSpPr>
        <p:spPr>
          <a:xfrm>
            <a:off x="731520" y="4736592"/>
            <a:ext cx="2560320" cy="320040"/>
          </a:xfrm>
          <a:prstGeom prst="rect">
            <a:avLst/>
          </a:prstGeom>
          <a:noFill/>
        </p:spPr>
        <p:txBody>
          <a:bodyPr wrap="square">
            <a:spAutoFit/>
          </a:bodyPr>
          <a:lstStyle/>
          <a:p>
            <a:pPr algn="l">
              <a:lnSpc>
                <a:spcPts val="1439"/>
              </a:lnSpc>
              <a:spcAft>
                <a:spcPts val="359"/>
              </a:spcAft>
              <a:defRPr sz="1200" b="1">
                <a:solidFill>
                  <a:srgbClr val="CDD6F4"/>
                </a:solidFill>
                <a:latin typeface="Segoe UI"/>
              </a:defRPr>
            </a:pPr>
            <a:r>
              <a:t>4. Findings (F-NNN)</a:t>
            </a:r>
          </a:p>
        </p:txBody>
      </p:sp>
      <p:sp>
        <p:nvSpPr>
          <p:cNvPr id="15" name="TextBox 14"/>
          <p:cNvSpPr txBox="1"/>
          <p:nvPr/>
        </p:nvSpPr>
        <p:spPr>
          <a:xfrm>
            <a:off x="3291840" y="4736592"/>
            <a:ext cx="3657600" cy="320040"/>
          </a:xfrm>
          <a:prstGeom prst="rect">
            <a:avLst/>
          </a:prstGeom>
          <a:noFill/>
        </p:spPr>
        <p:txBody>
          <a:bodyPr wrap="square">
            <a:spAutoFit/>
          </a:bodyPr>
          <a:lstStyle/>
          <a:p>
            <a:pPr algn="l">
              <a:lnSpc>
                <a:spcPts val="1439"/>
              </a:lnSpc>
              <a:spcAft>
                <a:spcPts val="359"/>
              </a:spcAft>
              <a:defRPr sz="1200" b="0">
                <a:solidFill>
                  <a:srgbClr val="6C7086"/>
                </a:solidFill>
                <a:latin typeface="Segoe UI"/>
              </a:defRPr>
            </a:pPr>
            <a:r>
              <a:t>Severity-ordered, classified findings</a:t>
            </a:r>
          </a:p>
        </p:txBody>
      </p:sp>
      <p:sp>
        <p:nvSpPr>
          <p:cNvPr id="16" name="TextBox 15"/>
          <p:cNvSpPr txBox="1"/>
          <p:nvPr/>
        </p:nvSpPr>
        <p:spPr>
          <a:xfrm>
            <a:off x="731520" y="5065775"/>
            <a:ext cx="2560320" cy="320040"/>
          </a:xfrm>
          <a:prstGeom prst="rect">
            <a:avLst/>
          </a:prstGeom>
          <a:noFill/>
        </p:spPr>
        <p:txBody>
          <a:bodyPr wrap="square">
            <a:spAutoFit/>
          </a:bodyPr>
          <a:lstStyle/>
          <a:p>
            <a:pPr algn="l">
              <a:lnSpc>
                <a:spcPts val="1439"/>
              </a:lnSpc>
              <a:spcAft>
                <a:spcPts val="359"/>
              </a:spcAft>
              <a:defRPr sz="1200" b="1">
                <a:solidFill>
                  <a:srgbClr val="CDD6F4"/>
                </a:solidFill>
                <a:latin typeface="Segoe UI"/>
              </a:defRPr>
            </a:pPr>
            <a:r>
              <a:t>5. Root Cause Analysis</a:t>
            </a:r>
          </a:p>
        </p:txBody>
      </p:sp>
      <p:sp>
        <p:nvSpPr>
          <p:cNvPr id="17" name="TextBox 16"/>
          <p:cNvSpPr txBox="1"/>
          <p:nvPr/>
        </p:nvSpPr>
        <p:spPr>
          <a:xfrm>
            <a:off x="3291840" y="5065775"/>
            <a:ext cx="3657600" cy="320040"/>
          </a:xfrm>
          <a:prstGeom prst="rect">
            <a:avLst/>
          </a:prstGeom>
          <a:noFill/>
        </p:spPr>
        <p:txBody>
          <a:bodyPr wrap="square">
            <a:spAutoFit/>
          </a:bodyPr>
          <a:lstStyle/>
          <a:p>
            <a:pPr algn="l">
              <a:lnSpc>
                <a:spcPts val="1439"/>
              </a:lnSpc>
              <a:spcAft>
                <a:spcPts val="359"/>
              </a:spcAft>
              <a:defRPr sz="1200" b="0">
                <a:solidFill>
                  <a:srgbClr val="6C7086"/>
                </a:solidFill>
                <a:latin typeface="Segoe UI"/>
              </a:defRPr>
            </a:pPr>
            <a:r>
              <a:t>Full causal chain, root vs proximate</a:t>
            </a:r>
          </a:p>
        </p:txBody>
      </p:sp>
      <p:sp>
        <p:nvSpPr>
          <p:cNvPr id="18" name="TextBox 17"/>
          <p:cNvSpPr txBox="1"/>
          <p:nvPr/>
        </p:nvSpPr>
        <p:spPr>
          <a:xfrm>
            <a:off x="731520" y="5394959"/>
            <a:ext cx="2560320" cy="320040"/>
          </a:xfrm>
          <a:prstGeom prst="rect">
            <a:avLst/>
          </a:prstGeom>
          <a:noFill/>
        </p:spPr>
        <p:txBody>
          <a:bodyPr wrap="square">
            <a:spAutoFit/>
          </a:bodyPr>
          <a:lstStyle/>
          <a:p>
            <a:pPr algn="l">
              <a:lnSpc>
                <a:spcPts val="1439"/>
              </a:lnSpc>
              <a:spcAft>
                <a:spcPts val="359"/>
              </a:spcAft>
              <a:defRPr sz="1200" b="1">
                <a:solidFill>
                  <a:srgbClr val="CDD6F4"/>
                </a:solidFill>
                <a:latin typeface="Segoe UI"/>
              </a:defRPr>
            </a:pPr>
            <a:r>
              <a:t>6. Remediation Plan</a:t>
            </a:r>
          </a:p>
        </p:txBody>
      </p:sp>
      <p:sp>
        <p:nvSpPr>
          <p:cNvPr id="19" name="TextBox 18"/>
          <p:cNvSpPr txBox="1"/>
          <p:nvPr/>
        </p:nvSpPr>
        <p:spPr>
          <a:xfrm>
            <a:off x="3291840" y="5394959"/>
            <a:ext cx="3657600" cy="320040"/>
          </a:xfrm>
          <a:prstGeom prst="rect">
            <a:avLst/>
          </a:prstGeom>
          <a:noFill/>
        </p:spPr>
        <p:txBody>
          <a:bodyPr wrap="square">
            <a:spAutoFit/>
          </a:bodyPr>
          <a:lstStyle/>
          <a:p>
            <a:pPr algn="l">
              <a:lnSpc>
                <a:spcPts val="1439"/>
              </a:lnSpc>
              <a:spcAft>
                <a:spcPts val="359"/>
              </a:spcAft>
              <a:defRPr sz="1200" b="0">
                <a:solidFill>
                  <a:srgbClr val="6C7086"/>
                </a:solidFill>
                <a:latin typeface="Segoe UI"/>
              </a:defRPr>
            </a:pPr>
            <a:r>
              <a:t>Priority table with effort estimates</a:t>
            </a:r>
          </a:p>
        </p:txBody>
      </p:sp>
      <p:sp>
        <p:nvSpPr>
          <p:cNvPr id="20" name="TextBox 19"/>
          <p:cNvSpPr txBox="1"/>
          <p:nvPr/>
        </p:nvSpPr>
        <p:spPr>
          <a:xfrm>
            <a:off x="731520" y="5724144"/>
            <a:ext cx="2560320" cy="320040"/>
          </a:xfrm>
          <a:prstGeom prst="rect">
            <a:avLst/>
          </a:prstGeom>
          <a:noFill/>
        </p:spPr>
        <p:txBody>
          <a:bodyPr wrap="square">
            <a:spAutoFit/>
          </a:bodyPr>
          <a:lstStyle/>
          <a:p>
            <a:pPr algn="l">
              <a:lnSpc>
                <a:spcPts val="1439"/>
              </a:lnSpc>
              <a:spcAft>
                <a:spcPts val="359"/>
              </a:spcAft>
              <a:defRPr sz="1200" b="1">
                <a:solidFill>
                  <a:srgbClr val="CDD6F4"/>
                </a:solidFill>
                <a:latin typeface="Segoe UI"/>
              </a:defRPr>
            </a:pPr>
            <a:r>
              <a:t>7. Prevention</a:t>
            </a:r>
          </a:p>
        </p:txBody>
      </p:sp>
      <p:sp>
        <p:nvSpPr>
          <p:cNvPr id="21" name="TextBox 20"/>
          <p:cNvSpPr txBox="1"/>
          <p:nvPr/>
        </p:nvSpPr>
        <p:spPr>
          <a:xfrm>
            <a:off x="3291840" y="5724144"/>
            <a:ext cx="3657600" cy="320040"/>
          </a:xfrm>
          <a:prstGeom prst="rect">
            <a:avLst/>
          </a:prstGeom>
          <a:noFill/>
        </p:spPr>
        <p:txBody>
          <a:bodyPr wrap="square">
            <a:spAutoFit/>
          </a:bodyPr>
          <a:lstStyle/>
          <a:p>
            <a:pPr algn="l">
              <a:lnSpc>
                <a:spcPts val="1439"/>
              </a:lnSpc>
              <a:spcAft>
                <a:spcPts val="359"/>
              </a:spcAft>
              <a:defRPr sz="1200" b="0">
                <a:solidFill>
                  <a:srgbClr val="6C7086"/>
                </a:solidFill>
                <a:latin typeface="Segoe UI"/>
              </a:defRPr>
            </a:pPr>
            <a:r>
              <a:t>Code, process, and tooling changes</a:t>
            </a:r>
          </a:p>
        </p:txBody>
      </p:sp>
      <p:sp>
        <p:nvSpPr>
          <p:cNvPr id="22" name="TextBox 21"/>
          <p:cNvSpPr txBox="1"/>
          <p:nvPr/>
        </p:nvSpPr>
        <p:spPr>
          <a:xfrm>
            <a:off x="731520" y="6053327"/>
            <a:ext cx="2560320" cy="320040"/>
          </a:xfrm>
          <a:prstGeom prst="rect">
            <a:avLst/>
          </a:prstGeom>
          <a:noFill/>
        </p:spPr>
        <p:txBody>
          <a:bodyPr wrap="square">
            <a:spAutoFit/>
          </a:bodyPr>
          <a:lstStyle/>
          <a:p>
            <a:pPr algn="l">
              <a:lnSpc>
                <a:spcPts val="1439"/>
              </a:lnSpc>
              <a:spcAft>
                <a:spcPts val="359"/>
              </a:spcAft>
              <a:defRPr sz="1200" b="1">
                <a:solidFill>
                  <a:srgbClr val="CDD6F4"/>
                </a:solidFill>
                <a:latin typeface="Segoe UI"/>
              </a:defRPr>
            </a:pPr>
            <a:r>
              <a:t>8. Open Questions</a:t>
            </a:r>
          </a:p>
        </p:txBody>
      </p:sp>
      <p:sp>
        <p:nvSpPr>
          <p:cNvPr id="23" name="TextBox 22"/>
          <p:cNvSpPr txBox="1"/>
          <p:nvPr/>
        </p:nvSpPr>
        <p:spPr>
          <a:xfrm>
            <a:off x="3291840" y="6053327"/>
            <a:ext cx="3657600" cy="320040"/>
          </a:xfrm>
          <a:prstGeom prst="rect">
            <a:avLst/>
          </a:prstGeom>
          <a:noFill/>
        </p:spPr>
        <p:txBody>
          <a:bodyPr wrap="square">
            <a:spAutoFit/>
          </a:bodyPr>
          <a:lstStyle/>
          <a:p>
            <a:pPr algn="l">
              <a:lnSpc>
                <a:spcPts val="1439"/>
              </a:lnSpc>
              <a:spcAft>
                <a:spcPts val="359"/>
              </a:spcAft>
              <a:defRPr sz="1200" b="0">
                <a:solidFill>
                  <a:srgbClr val="6C7086"/>
                </a:solidFill>
                <a:latin typeface="Segoe UI"/>
              </a:defRPr>
            </a:pPr>
            <a:r>
              <a:t>What remains unknown or unverified</a:t>
            </a:r>
          </a:p>
        </p:txBody>
      </p:sp>
      <p:sp>
        <p:nvSpPr>
          <p:cNvPr id="24" name="TextBox 23"/>
          <p:cNvSpPr txBox="1"/>
          <p:nvPr/>
        </p:nvSpPr>
        <p:spPr>
          <a:xfrm>
            <a:off x="731520" y="6382512"/>
            <a:ext cx="2560320" cy="320040"/>
          </a:xfrm>
          <a:prstGeom prst="rect">
            <a:avLst/>
          </a:prstGeom>
          <a:noFill/>
        </p:spPr>
        <p:txBody>
          <a:bodyPr wrap="square">
            <a:spAutoFit/>
          </a:bodyPr>
          <a:lstStyle/>
          <a:p>
            <a:pPr algn="l">
              <a:lnSpc>
                <a:spcPts val="1439"/>
              </a:lnSpc>
              <a:spcAft>
                <a:spcPts val="359"/>
              </a:spcAft>
              <a:defRPr sz="1200" b="1">
                <a:solidFill>
                  <a:srgbClr val="CDD6F4"/>
                </a:solidFill>
                <a:latin typeface="Segoe UI"/>
              </a:defRPr>
            </a:pPr>
            <a:r>
              <a:t>9. Revision History</a:t>
            </a:r>
          </a:p>
        </p:txBody>
      </p:sp>
      <p:sp>
        <p:nvSpPr>
          <p:cNvPr id="25" name="TextBox 24"/>
          <p:cNvSpPr txBox="1"/>
          <p:nvPr/>
        </p:nvSpPr>
        <p:spPr>
          <a:xfrm>
            <a:off x="3291840" y="6382512"/>
            <a:ext cx="3657600" cy="320040"/>
          </a:xfrm>
          <a:prstGeom prst="rect">
            <a:avLst/>
          </a:prstGeom>
          <a:noFill/>
        </p:spPr>
        <p:txBody>
          <a:bodyPr wrap="square">
            <a:spAutoFit/>
          </a:bodyPr>
          <a:lstStyle/>
          <a:p>
            <a:pPr algn="l">
              <a:lnSpc>
                <a:spcPts val="1439"/>
              </a:lnSpc>
              <a:spcAft>
                <a:spcPts val="359"/>
              </a:spcAft>
              <a:defRPr sz="1200" b="0">
                <a:solidFill>
                  <a:srgbClr val="6C7086"/>
                </a:solidFill>
                <a:latin typeface="Segoe UI"/>
              </a:defRPr>
            </a:pPr>
            <a:r>
              <a:t>Audit trail of report changes</a:t>
            </a:r>
          </a:p>
        </p:txBody>
      </p:sp>
      <p:sp>
        <p:nvSpPr>
          <p:cNvPr id="26" name="TextBox 25"/>
          <p:cNvSpPr txBox="1"/>
          <p:nvPr/>
        </p:nvSpPr>
        <p:spPr>
          <a:xfrm>
            <a:off x="6400800" y="1371600"/>
            <a:ext cx="5029200" cy="320040"/>
          </a:xfrm>
          <a:prstGeom prst="rect">
            <a:avLst/>
          </a:prstGeom>
          <a:noFill/>
        </p:spPr>
        <p:txBody>
          <a:bodyPr wrap="square">
            <a:spAutoFit/>
          </a:bodyPr>
          <a:lstStyle/>
          <a:p>
            <a:pPr algn="l">
              <a:lnSpc>
                <a:spcPts val="2160"/>
              </a:lnSpc>
              <a:spcAft>
                <a:spcPts val="540"/>
              </a:spcAft>
              <a:defRPr sz="1800" b="1">
                <a:solidFill>
                  <a:srgbClr val="F9E2AF"/>
                </a:solidFill>
                <a:latin typeface="Segoe UI"/>
              </a:defRPr>
            </a:pPr>
            <a:r>
              <a:t>Format Rules</a:t>
            </a:r>
          </a:p>
        </p:txBody>
      </p:sp>
      <p:sp>
        <p:nvSpPr>
          <p:cNvPr id="27" name="Rectangle 26"/>
          <p:cNvSpPr/>
          <p:nvPr/>
        </p:nvSpPr>
        <p:spPr>
          <a:xfrm>
            <a:off x="6400800" y="1828800"/>
            <a:ext cx="54864" cy="685800"/>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29400" y="1828800"/>
            <a:ext cx="5029200" cy="274320"/>
          </a:xfrm>
          <a:prstGeom prst="rect">
            <a:avLst/>
          </a:prstGeom>
          <a:noFill/>
        </p:spPr>
        <p:txBody>
          <a:bodyPr wrap="square">
            <a:spAutoFit/>
          </a:bodyPr>
          <a:lstStyle/>
          <a:p>
            <a:pPr algn="l">
              <a:lnSpc>
                <a:spcPts val="1680"/>
              </a:lnSpc>
              <a:spcAft>
                <a:spcPts val="420"/>
              </a:spcAft>
              <a:defRPr sz="1400" b="1">
                <a:solidFill>
                  <a:srgbClr val="89B4FA"/>
                </a:solidFill>
                <a:latin typeface="Segoe UI"/>
              </a:defRPr>
            </a:pPr>
            <a:r>
              <a:t>Severity ordering</a:t>
            </a:r>
          </a:p>
        </p:txBody>
      </p:sp>
      <p:sp>
        <p:nvSpPr>
          <p:cNvPr id="29" name="TextBox 28"/>
          <p:cNvSpPr txBox="1"/>
          <p:nvPr/>
        </p:nvSpPr>
        <p:spPr>
          <a:xfrm>
            <a:off x="6629400" y="2103120"/>
            <a:ext cx="5029200" cy="457200"/>
          </a:xfrm>
          <a:prstGeom prst="rect">
            <a:avLst/>
          </a:prstGeom>
          <a:noFill/>
        </p:spPr>
        <p:txBody>
          <a:bodyPr wrap="square">
            <a:spAutoFit/>
          </a:bodyPr>
          <a:lstStyle/>
          <a:p>
            <a:pPr algn="l">
              <a:lnSpc>
                <a:spcPts val="1430"/>
              </a:lnSpc>
              <a:spcAft>
                <a:spcPts val="330"/>
              </a:spcAft>
              <a:defRPr sz="1100" b="0">
                <a:solidFill>
                  <a:srgbClr val="CDD6F4"/>
                </a:solidFill>
                <a:latin typeface="Segoe UI"/>
              </a:defRPr>
            </a:pPr>
            <a:r>
              <a:t>Findings presented Critical → High →</a:t>
            </a:r>
            <a:br/>
            <a:r>
              <a:t>Medium → Low → Informational</a:t>
            </a:r>
          </a:p>
        </p:txBody>
      </p:sp>
      <p:sp>
        <p:nvSpPr>
          <p:cNvPr id="30" name="Rectangle 29"/>
          <p:cNvSpPr/>
          <p:nvPr/>
        </p:nvSpPr>
        <p:spPr>
          <a:xfrm>
            <a:off x="6400800" y="2743200"/>
            <a:ext cx="54864" cy="685800"/>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29400" y="2743200"/>
            <a:ext cx="5029200" cy="274320"/>
          </a:xfrm>
          <a:prstGeom prst="rect">
            <a:avLst/>
          </a:prstGeom>
          <a:noFill/>
        </p:spPr>
        <p:txBody>
          <a:bodyPr wrap="square">
            <a:spAutoFit/>
          </a:bodyPr>
          <a:lstStyle/>
          <a:p>
            <a:pPr algn="l">
              <a:lnSpc>
                <a:spcPts val="1680"/>
              </a:lnSpc>
              <a:spcAft>
                <a:spcPts val="420"/>
              </a:spcAft>
              <a:defRPr sz="1400" b="1">
                <a:solidFill>
                  <a:srgbClr val="89B4FA"/>
                </a:solidFill>
                <a:latin typeface="Segoe UI"/>
              </a:defRPr>
            </a:pPr>
            <a:r>
              <a:t>F-NNN identifiers</a:t>
            </a:r>
          </a:p>
        </p:txBody>
      </p:sp>
      <p:sp>
        <p:nvSpPr>
          <p:cNvPr id="32" name="TextBox 31"/>
          <p:cNvSpPr txBox="1"/>
          <p:nvPr/>
        </p:nvSpPr>
        <p:spPr>
          <a:xfrm>
            <a:off x="6629400" y="3017520"/>
            <a:ext cx="5029200" cy="457200"/>
          </a:xfrm>
          <a:prstGeom prst="rect">
            <a:avLst/>
          </a:prstGeom>
          <a:noFill/>
        </p:spPr>
        <p:txBody>
          <a:bodyPr wrap="square">
            <a:spAutoFit/>
          </a:bodyPr>
          <a:lstStyle/>
          <a:p>
            <a:pPr algn="l">
              <a:lnSpc>
                <a:spcPts val="1430"/>
              </a:lnSpc>
              <a:spcAft>
                <a:spcPts val="330"/>
              </a:spcAft>
              <a:defRPr sz="1100" b="0">
                <a:solidFill>
                  <a:srgbClr val="CDD6F4"/>
                </a:solidFill>
                <a:latin typeface="Segoe UI"/>
              </a:defRPr>
            </a:pPr>
            <a:r>
              <a:t>Every finding gets a unique ID</a:t>
            </a:r>
            <a:br/>
            <a:r>
              <a:t>for cross-referencing</a:t>
            </a:r>
          </a:p>
        </p:txBody>
      </p:sp>
      <p:sp>
        <p:nvSpPr>
          <p:cNvPr id="33" name="Rectangle 32"/>
          <p:cNvSpPr/>
          <p:nvPr/>
        </p:nvSpPr>
        <p:spPr>
          <a:xfrm>
            <a:off x="6400800" y="3657600"/>
            <a:ext cx="54864" cy="685800"/>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29400" y="3657600"/>
            <a:ext cx="5029200" cy="274320"/>
          </a:xfrm>
          <a:prstGeom prst="rect">
            <a:avLst/>
          </a:prstGeom>
          <a:noFill/>
        </p:spPr>
        <p:txBody>
          <a:bodyPr wrap="square">
            <a:spAutoFit/>
          </a:bodyPr>
          <a:lstStyle/>
          <a:p>
            <a:pPr algn="l">
              <a:lnSpc>
                <a:spcPts val="1680"/>
              </a:lnSpc>
              <a:spcAft>
                <a:spcPts val="420"/>
              </a:spcAft>
              <a:defRPr sz="1400" b="1">
                <a:solidFill>
                  <a:srgbClr val="89B4FA"/>
                </a:solidFill>
                <a:latin typeface="Segoe UI"/>
              </a:defRPr>
            </a:pPr>
            <a:r>
              <a:t>Causal chains</a:t>
            </a:r>
          </a:p>
        </p:txBody>
      </p:sp>
      <p:sp>
        <p:nvSpPr>
          <p:cNvPr id="35" name="TextBox 34"/>
          <p:cNvSpPr txBox="1"/>
          <p:nvPr/>
        </p:nvSpPr>
        <p:spPr>
          <a:xfrm>
            <a:off x="6629400" y="3931920"/>
            <a:ext cx="5029200" cy="457200"/>
          </a:xfrm>
          <a:prstGeom prst="rect">
            <a:avLst/>
          </a:prstGeom>
          <a:noFill/>
        </p:spPr>
        <p:txBody>
          <a:bodyPr wrap="square">
            <a:spAutoFit/>
          </a:bodyPr>
          <a:lstStyle/>
          <a:p>
            <a:pPr algn="l">
              <a:lnSpc>
                <a:spcPts val="1430"/>
              </a:lnSpc>
              <a:spcAft>
                <a:spcPts val="330"/>
              </a:spcAft>
              <a:defRPr sz="1100" b="0">
                <a:solidFill>
                  <a:srgbClr val="CDD6F4"/>
                </a:solidFill>
                <a:latin typeface="Segoe UI"/>
              </a:defRPr>
            </a:pPr>
            <a:r>
              <a:t>Root cause must trace back to</a:t>
            </a:r>
            <a:br/>
            <a:r>
              <a:t>the proximate symptom</a:t>
            </a:r>
          </a:p>
        </p:txBody>
      </p:sp>
      <p:sp>
        <p:nvSpPr>
          <p:cNvPr id="36" name="Rectangle 35"/>
          <p:cNvSpPr/>
          <p:nvPr/>
        </p:nvSpPr>
        <p:spPr>
          <a:xfrm>
            <a:off x="6400800" y="4572000"/>
            <a:ext cx="54864" cy="685800"/>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29400" y="4572000"/>
            <a:ext cx="5029200" cy="274320"/>
          </a:xfrm>
          <a:prstGeom prst="rect">
            <a:avLst/>
          </a:prstGeom>
          <a:noFill/>
        </p:spPr>
        <p:txBody>
          <a:bodyPr wrap="square">
            <a:spAutoFit/>
          </a:bodyPr>
          <a:lstStyle/>
          <a:p>
            <a:pPr algn="l">
              <a:lnSpc>
                <a:spcPts val="1680"/>
              </a:lnSpc>
              <a:spcAft>
                <a:spcPts val="420"/>
              </a:spcAft>
              <a:defRPr sz="1400" b="1">
                <a:solidFill>
                  <a:srgbClr val="89B4FA"/>
                </a:solidFill>
                <a:latin typeface="Segoe UI"/>
              </a:defRPr>
            </a:pPr>
            <a:r>
              <a:t>Remediation table</a:t>
            </a:r>
          </a:p>
        </p:txBody>
      </p:sp>
      <p:sp>
        <p:nvSpPr>
          <p:cNvPr id="38" name="TextBox 37"/>
          <p:cNvSpPr txBox="1"/>
          <p:nvPr/>
        </p:nvSpPr>
        <p:spPr>
          <a:xfrm>
            <a:off x="6629400" y="4846320"/>
            <a:ext cx="5029200" cy="457200"/>
          </a:xfrm>
          <a:prstGeom prst="rect">
            <a:avLst/>
          </a:prstGeom>
          <a:noFill/>
        </p:spPr>
        <p:txBody>
          <a:bodyPr wrap="square">
            <a:spAutoFit/>
          </a:bodyPr>
          <a:lstStyle/>
          <a:p>
            <a:pPr algn="l">
              <a:lnSpc>
                <a:spcPts val="1430"/>
              </a:lnSpc>
              <a:spcAft>
                <a:spcPts val="330"/>
              </a:spcAft>
              <a:defRPr sz="1100" b="0">
                <a:solidFill>
                  <a:srgbClr val="CDD6F4"/>
                </a:solidFill>
                <a:latin typeface="Segoe UI"/>
              </a:defRPr>
            </a:pPr>
            <a:r>
              <a:t>Each finding maps to a fix</a:t>
            </a:r>
            <a:br/>
            <a:r>
              <a:t>with priority and effort</a:t>
            </a:r>
          </a:p>
        </p:txBody>
      </p:sp>
      <p:sp>
        <p:nvSpPr>
          <p:cNvPr id="39" name="Rectangle 38"/>
          <p:cNvSpPr/>
          <p:nvPr/>
        </p:nvSpPr>
        <p:spPr>
          <a:xfrm>
            <a:off x="6400800" y="5486400"/>
            <a:ext cx="54864" cy="685800"/>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486400"/>
            <a:ext cx="5029200" cy="274320"/>
          </a:xfrm>
          <a:prstGeom prst="rect">
            <a:avLst/>
          </a:prstGeom>
          <a:noFill/>
        </p:spPr>
        <p:txBody>
          <a:bodyPr wrap="square">
            <a:spAutoFit/>
          </a:bodyPr>
          <a:lstStyle/>
          <a:p>
            <a:pPr algn="l">
              <a:lnSpc>
                <a:spcPts val="1680"/>
              </a:lnSpc>
              <a:spcAft>
                <a:spcPts val="420"/>
              </a:spcAft>
              <a:defRPr sz="1400" b="1">
                <a:solidFill>
                  <a:srgbClr val="89B4FA"/>
                </a:solidFill>
                <a:latin typeface="Segoe UI"/>
              </a:defRPr>
            </a:pPr>
            <a:r>
              <a:t>Non-goals section</a:t>
            </a:r>
          </a:p>
        </p:txBody>
      </p:sp>
      <p:sp>
        <p:nvSpPr>
          <p:cNvPr id="41" name="TextBox 40"/>
          <p:cNvSpPr txBox="1"/>
          <p:nvPr/>
        </p:nvSpPr>
        <p:spPr>
          <a:xfrm>
            <a:off x="6629400" y="5760720"/>
            <a:ext cx="5029200" cy="457200"/>
          </a:xfrm>
          <a:prstGeom prst="rect">
            <a:avLst/>
          </a:prstGeom>
          <a:noFill/>
        </p:spPr>
        <p:txBody>
          <a:bodyPr wrap="square">
            <a:spAutoFit/>
          </a:bodyPr>
          <a:lstStyle/>
          <a:p>
            <a:pPr algn="l">
              <a:lnSpc>
                <a:spcPts val="1430"/>
              </a:lnSpc>
              <a:spcAft>
                <a:spcPts val="330"/>
              </a:spcAft>
              <a:defRPr sz="1100" b="0">
                <a:solidFill>
                  <a:srgbClr val="CDD6F4"/>
                </a:solidFill>
                <a:latin typeface="Segoe UI"/>
              </a:defRPr>
            </a:pPr>
            <a:r>
              <a:t>Explicitly state what is NOT</a:t>
            </a:r>
            <a:br/>
            <a:r>
              <a:t>in scope for this report</a:t>
            </a:r>
          </a:p>
        </p:txBody>
      </p:sp>
      <p:sp>
        <p:nvSpPr>
          <p:cNvPr id="42" name="TextBox 41"/>
          <p:cNvSpPr txBox="1"/>
          <p:nvPr/>
        </p:nvSpPr>
        <p:spPr>
          <a:xfrm>
            <a:off x="11155680" y="6492240"/>
            <a:ext cx="914400" cy="274320"/>
          </a:xfrm>
          <a:prstGeom prst="rect">
            <a:avLst/>
          </a:prstGeom>
          <a:noFill/>
        </p:spPr>
        <p:txBody>
          <a:bodyPr wrap="square">
            <a:spAutoFit/>
          </a:bodyPr>
          <a:lstStyle/>
          <a:p>
            <a:pPr algn="r">
              <a:lnSpc>
                <a:spcPts val="1200"/>
              </a:lnSpc>
              <a:spcAft>
                <a:spcPts val="300"/>
              </a:spcAft>
              <a:defRPr sz="1000" b="0">
                <a:solidFill>
                  <a:srgbClr val="6C7086"/>
                </a:solidFill>
                <a:latin typeface="Segoe UI"/>
              </a:defRPr>
            </a:pPr>
            <a:r>
              <a:t>10 / 17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594360"/>
          </a:xfrm>
          <a:prstGeom prst="rect">
            <a:avLst/>
          </a:prstGeom>
          <a:noFill/>
        </p:spPr>
        <p:txBody>
          <a:bodyPr wrap="square">
            <a:spAutoFit/>
          </a:bodyPr>
          <a:lstStyle/>
          <a:p>
            <a:pPr algn="l">
              <a:lnSpc>
                <a:spcPts val="3840"/>
              </a:lnSpc>
              <a:spcAft>
                <a:spcPts val="960"/>
              </a:spcAft>
              <a:defRPr sz="3200" b="1">
                <a:solidFill>
                  <a:srgbClr val="CDD6F4"/>
                </a:solidFill>
                <a:latin typeface="Segoe UI"/>
              </a:defRPr>
            </a:pPr>
            <a:r>
              <a:t>Deep Dive: Template Anatomy</a:t>
            </a:r>
          </a:p>
        </p:txBody>
      </p:sp>
      <p:sp>
        <p:nvSpPr>
          <p:cNvPr id="4" name="TextBox 3"/>
          <p:cNvSpPr txBox="1"/>
          <p:nvPr/>
        </p:nvSpPr>
        <p:spPr>
          <a:xfrm>
            <a:off x="731520" y="868680"/>
            <a:ext cx="10058400" cy="411480"/>
          </a:xfrm>
          <a:prstGeom prst="rect">
            <a:avLst/>
          </a:prstGeom>
          <a:noFill/>
        </p:spPr>
        <p:txBody>
          <a:bodyPr wrap="square">
            <a:spAutoFit/>
          </a:bodyPr>
          <a:lstStyle/>
          <a:p>
            <a:pPr algn="l">
              <a:lnSpc>
                <a:spcPts val="1920"/>
              </a:lnSpc>
              <a:spcAft>
                <a:spcPts val="480"/>
              </a:spcAft>
              <a:defRPr sz="1600" b="0">
                <a:solidFill>
                  <a:srgbClr val="6C7086"/>
                </a:solidFill>
                <a:latin typeface="Segoe UI"/>
              </a:defRPr>
            </a:pPr>
            <a:r>
              <a:t>Layer ⑤ — The task declaration</a:t>
            </a:r>
          </a:p>
        </p:txBody>
      </p:sp>
      <p:sp>
        <p:nvSpPr>
          <p:cNvPr id="5" name="Rounded Rectangle 4"/>
          <p:cNvSpPr/>
          <p:nvPr/>
        </p:nvSpPr>
        <p:spPr>
          <a:xfrm>
            <a:off x="731520" y="1371600"/>
            <a:ext cx="5029200" cy="457200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4663440" cy="4389120"/>
          </a:xfrm>
          <a:prstGeom prst="rect">
            <a:avLst/>
          </a:prstGeom>
          <a:noFill/>
        </p:spPr>
        <p:txBody>
          <a:bodyPr wrap="square">
            <a:spAutoFit/>
          </a:bodyPr>
          <a:lstStyle/>
          <a:p>
            <a:pPr algn="l">
              <a:lnSpc>
                <a:spcPts val="1430"/>
              </a:lnSpc>
              <a:spcAft>
                <a:spcPts val="330"/>
              </a:spcAft>
              <a:defRPr sz="1100" b="0">
                <a:solidFill>
                  <a:srgbClr val="A6E3A1"/>
                </a:solidFill>
                <a:latin typeface="Cascadia Code"/>
              </a:defRPr>
            </a:pPr>
            <a:r>
              <a:t>---</a:t>
            </a:r>
            <a:br/>
            <a:r>
              <a:t>name: investigate-bug</a:t>
            </a:r>
            <a:br/>
            <a:r>
              <a:t>description: &gt;</a:t>
            </a:r>
            <a:br/>
            <a:r>
              <a:t>  Systematically investigate a bug.</a:t>
            </a:r>
            <a:br/>
            <a:r>
              <a:t>  Apply root cause analysis and produce</a:t>
            </a:r>
            <a:br/>
            <a:r>
              <a:t>  an investigation report.</a:t>
            </a:r>
            <a:br/>
            <a:r>
              <a:t>persona: systems-engineer</a:t>
            </a:r>
            <a:br/>
            <a:r>
              <a:t>protocols:</a:t>
            </a:r>
            <a:br/>
            <a:r>
              <a:t>  - guardrails/anti-hallucination</a:t>
            </a:r>
            <a:br/>
            <a:r>
              <a:t>  - guardrails/self-verification</a:t>
            </a:r>
            <a:br/>
            <a:r>
              <a:t>  - guardrails/operational-constraints</a:t>
            </a:r>
            <a:br/>
            <a:r>
              <a:t>  - reasoning/root-cause-analysis</a:t>
            </a:r>
            <a:br/>
            <a:r>
              <a:t>format: investigation-report</a:t>
            </a:r>
            <a:br/>
            <a:r>
              <a:t>params:</a:t>
            </a:r>
            <a:br/>
            <a:r>
              <a:t>  problem_description: "Bug description"</a:t>
            </a:r>
            <a:br/>
            <a:r>
              <a:t>  code_context: "Relevant code/logs"</a:t>
            </a:r>
            <a:br/>
            <a:r>
              <a:t>  environment: "OS, runtime, build"</a:t>
            </a:r>
            <a:br/>
            <a:r>
              <a:t>input_contract: null</a:t>
            </a:r>
            <a:br/>
            <a:r>
              <a:t>output_contract:</a:t>
            </a:r>
            <a:br/>
            <a:r>
              <a:t>  type: investigation-report</a:t>
            </a:r>
            <a:br/>
            <a:r>
              <a:t>---</a:t>
            </a:r>
          </a:p>
        </p:txBody>
      </p:sp>
      <p:sp>
        <p:nvSpPr>
          <p:cNvPr id="7" name="TextBox 6"/>
          <p:cNvSpPr txBox="1"/>
          <p:nvPr/>
        </p:nvSpPr>
        <p:spPr>
          <a:xfrm>
            <a:off x="6126480" y="1371600"/>
            <a:ext cx="2286000" cy="274320"/>
          </a:xfrm>
          <a:prstGeom prst="rect">
            <a:avLst/>
          </a:prstGeom>
          <a:noFill/>
        </p:spPr>
        <p:txBody>
          <a:bodyPr wrap="square">
            <a:spAutoFit/>
          </a:bodyPr>
          <a:lstStyle/>
          <a:p>
            <a:pPr algn="l">
              <a:lnSpc>
                <a:spcPts val="1800"/>
              </a:lnSpc>
              <a:spcAft>
                <a:spcPts val="450"/>
              </a:spcAft>
              <a:defRPr sz="1500" b="1">
                <a:solidFill>
                  <a:srgbClr val="89B4FA"/>
                </a:solidFill>
                <a:latin typeface="Cascadia Code"/>
              </a:defRPr>
            </a:pPr>
            <a:r>
              <a:t>persona:</a:t>
            </a:r>
          </a:p>
        </p:txBody>
      </p:sp>
      <p:sp>
        <p:nvSpPr>
          <p:cNvPr id="8" name="TextBox 7"/>
          <p:cNvSpPr txBox="1"/>
          <p:nvPr/>
        </p:nvSpPr>
        <p:spPr>
          <a:xfrm>
            <a:off x="6126480" y="1664208"/>
            <a:ext cx="5486400" cy="502920"/>
          </a:xfrm>
          <a:prstGeom prst="rect">
            <a:avLst/>
          </a:prstGeom>
          <a:noFill/>
        </p:spPr>
        <p:txBody>
          <a:bodyPr wrap="square">
            <a:spAutoFit/>
          </a:bodyPr>
          <a:lstStyle/>
          <a:p>
            <a:pPr algn="l">
              <a:lnSpc>
                <a:spcPts val="1679"/>
              </a:lnSpc>
              <a:spcAft>
                <a:spcPts val="359"/>
              </a:spcAft>
              <a:defRPr sz="1200" b="0">
                <a:solidFill>
                  <a:srgbClr val="CDD6F4"/>
                </a:solidFill>
                <a:latin typeface="Segoe UI"/>
              </a:defRPr>
            </a:pPr>
            <a:r>
              <a:t>References one persona file.</a:t>
            </a:r>
            <a:br/>
            <a:r>
              <a:t>Becomes the # Identity section.</a:t>
            </a:r>
          </a:p>
        </p:txBody>
      </p:sp>
      <p:sp>
        <p:nvSpPr>
          <p:cNvPr id="9" name="TextBox 8"/>
          <p:cNvSpPr txBox="1"/>
          <p:nvPr/>
        </p:nvSpPr>
        <p:spPr>
          <a:xfrm>
            <a:off x="6126480" y="2194560"/>
            <a:ext cx="2286000" cy="274320"/>
          </a:xfrm>
          <a:prstGeom prst="rect">
            <a:avLst/>
          </a:prstGeom>
          <a:noFill/>
        </p:spPr>
        <p:txBody>
          <a:bodyPr wrap="square">
            <a:spAutoFit/>
          </a:bodyPr>
          <a:lstStyle/>
          <a:p>
            <a:pPr algn="l">
              <a:lnSpc>
                <a:spcPts val="1800"/>
              </a:lnSpc>
              <a:spcAft>
                <a:spcPts val="450"/>
              </a:spcAft>
              <a:defRPr sz="1500" b="1">
                <a:solidFill>
                  <a:srgbClr val="A6E3A1"/>
                </a:solidFill>
                <a:latin typeface="Cascadia Code"/>
              </a:defRPr>
            </a:pPr>
            <a:r>
              <a:t>protocols:</a:t>
            </a:r>
          </a:p>
        </p:txBody>
      </p:sp>
      <p:sp>
        <p:nvSpPr>
          <p:cNvPr id="10" name="TextBox 9"/>
          <p:cNvSpPr txBox="1"/>
          <p:nvPr/>
        </p:nvSpPr>
        <p:spPr>
          <a:xfrm>
            <a:off x="6126480" y="2487168"/>
            <a:ext cx="5486400" cy="502920"/>
          </a:xfrm>
          <a:prstGeom prst="rect">
            <a:avLst/>
          </a:prstGeom>
          <a:noFill/>
        </p:spPr>
        <p:txBody>
          <a:bodyPr wrap="square">
            <a:spAutoFit/>
          </a:bodyPr>
          <a:lstStyle/>
          <a:p>
            <a:pPr algn="l">
              <a:lnSpc>
                <a:spcPts val="1679"/>
              </a:lnSpc>
              <a:spcAft>
                <a:spcPts val="359"/>
              </a:spcAft>
              <a:defRPr sz="1200" b="0">
                <a:solidFill>
                  <a:srgbClr val="CDD6F4"/>
                </a:solidFill>
                <a:latin typeface="Segoe UI"/>
              </a:defRPr>
            </a:pPr>
            <a:r>
              <a:t>List of category/name paths.</a:t>
            </a:r>
            <a:br/>
            <a:r>
              <a:t>Each loaded as # Reasoning Protocol.</a:t>
            </a:r>
          </a:p>
        </p:txBody>
      </p:sp>
      <p:sp>
        <p:nvSpPr>
          <p:cNvPr id="11" name="TextBox 10"/>
          <p:cNvSpPr txBox="1"/>
          <p:nvPr/>
        </p:nvSpPr>
        <p:spPr>
          <a:xfrm>
            <a:off x="6126480" y="3017520"/>
            <a:ext cx="2286000" cy="274320"/>
          </a:xfrm>
          <a:prstGeom prst="rect">
            <a:avLst/>
          </a:prstGeom>
          <a:noFill/>
        </p:spPr>
        <p:txBody>
          <a:bodyPr wrap="square">
            <a:spAutoFit/>
          </a:bodyPr>
          <a:lstStyle/>
          <a:p>
            <a:pPr algn="l">
              <a:lnSpc>
                <a:spcPts val="1800"/>
              </a:lnSpc>
              <a:spcAft>
                <a:spcPts val="450"/>
              </a:spcAft>
              <a:defRPr sz="1500" b="1">
                <a:solidFill>
                  <a:srgbClr val="F9E2AF"/>
                </a:solidFill>
                <a:latin typeface="Cascadia Code"/>
              </a:defRPr>
            </a:pPr>
            <a:r>
              <a:t>format:</a:t>
            </a:r>
          </a:p>
        </p:txBody>
      </p:sp>
      <p:sp>
        <p:nvSpPr>
          <p:cNvPr id="12" name="TextBox 11"/>
          <p:cNvSpPr txBox="1"/>
          <p:nvPr/>
        </p:nvSpPr>
        <p:spPr>
          <a:xfrm>
            <a:off x="6126480" y="3310128"/>
            <a:ext cx="5486400" cy="502920"/>
          </a:xfrm>
          <a:prstGeom prst="rect">
            <a:avLst/>
          </a:prstGeom>
          <a:noFill/>
        </p:spPr>
        <p:txBody>
          <a:bodyPr wrap="square">
            <a:spAutoFit/>
          </a:bodyPr>
          <a:lstStyle/>
          <a:p>
            <a:pPr algn="l">
              <a:lnSpc>
                <a:spcPts val="1679"/>
              </a:lnSpc>
              <a:spcAft>
                <a:spcPts val="359"/>
              </a:spcAft>
              <a:defRPr sz="1200" b="0">
                <a:solidFill>
                  <a:srgbClr val="CDD6F4"/>
                </a:solidFill>
                <a:latin typeface="Segoe UI"/>
              </a:defRPr>
            </a:pPr>
            <a:r>
              <a:t>References one format file.</a:t>
            </a:r>
            <a:br/>
            <a:r>
              <a:t>Becomes the # Output Format section.</a:t>
            </a:r>
          </a:p>
        </p:txBody>
      </p:sp>
      <p:sp>
        <p:nvSpPr>
          <p:cNvPr id="13" name="TextBox 12"/>
          <p:cNvSpPr txBox="1"/>
          <p:nvPr/>
        </p:nvSpPr>
        <p:spPr>
          <a:xfrm>
            <a:off x="6126480" y="3840480"/>
            <a:ext cx="2286000" cy="274320"/>
          </a:xfrm>
          <a:prstGeom prst="rect">
            <a:avLst/>
          </a:prstGeom>
          <a:noFill/>
        </p:spPr>
        <p:txBody>
          <a:bodyPr wrap="square">
            <a:spAutoFit/>
          </a:bodyPr>
          <a:lstStyle/>
          <a:p>
            <a:pPr algn="l">
              <a:lnSpc>
                <a:spcPts val="1800"/>
              </a:lnSpc>
              <a:spcAft>
                <a:spcPts val="450"/>
              </a:spcAft>
              <a:defRPr sz="1500" b="1">
                <a:solidFill>
                  <a:srgbClr val="FAB387"/>
                </a:solidFill>
                <a:latin typeface="Cascadia Code"/>
              </a:defRPr>
            </a:pPr>
            <a:r>
              <a:t>params:</a:t>
            </a:r>
          </a:p>
        </p:txBody>
      </p:sp>
      <p:sp>
        <p:nvSpPr>
          <p:cNvPr id="14" name="TextBox 13"/>
          <p:cNvSpPr txBox="1"/>
          <p:nvPr/>
        </p:nvSpPr>
        <p:spPr>
          <a:xfrm>
            <a:off x="6126480" y="4133088"/>
            <a:ext cx="5486400" cy="502920"/>
          </a:xfrm>
          <a:prstGeom prst="rect">
            <a:avLst/>
          </a:prstGeom>
          <a:noFill/>
        </p:spPr>
        <p:txBody>
          <a:bodyPr wrap="square">
            <a:spAutoFit/>
          </a:bodyPr>
          <a:lstStyle/>
          <a:p>
            <a:pPr algn="l">
              <a:lnSpc>
                <a:spcPts val="1679"/>
              </a:lnSpc>
              <a:spcAft>
                <a:spcPts val="359"/>
              </a:spcAft>
              <a:defRPr sz="1200" b="0">
                <a:solidFill>
                  <a:srgbClr val="CDD6F4"/>
                </a:solidFill>
                <a:latin typeface="Segoe UI"/>
              </a:defRPr>
            </a:pPr>
            <a:r>
              <a:t>Key-value map → {{param}} placeholders</a:t>
            </a:r>
            <a:br/>
            <a:r>
              <a:t>in template body get substituted.</a:t>
            </a:r>
          </a:p>
        </p:txBody>
      </p:sp>
      <p:sp>
        <p:nvSpPr>
          <p:cNvPr id="15" name="TextBox 14"/>
          <p:cNvSpPr txBox="1"/>
          <p:nvPr/>
        </p:nvSpPr>
        <p:spPr>
          <a:xfrm>
            <a:off x="6126480" y="4663440"/>
            <a:ext cx="2286000" cy="274320"/>
          </a:xfrm>
          <a:prstGeom prst="rect">
            <a:avLst/>
          </a:prstGeom>
          <a:noFill/>
        </p:spPr>
        <p:txBody>
          <a:bodyPr wrap="square">
            <a:spAutoFit/>
          </a:bodyPr>
          <a:lstStyle/>
          <a:p>
            <a:pPr algn="l">
              <a:lnSpc>
                <a:spcPts val="1800"/>
              </a:lnSpc>
              <a:spcAft>
                <a:spcPts val="450"/>
              </a:spcAft>
              <a:defRPr sz="1500" b="1">
                <a:solidFill>
                  <a:srgbClr val="F38BA8"/>
                </a:solidFill>
                <a:latin typeface="Cascadia Code"/>
              </a:defRPr>
            </a:pPr>
            <a:r>
              <a:t>input_contract:</a:t>
            </a:r>
          </a:p>
        </p:txBody>
      </p:sp>
      <p:sp>
        <p:nvSpPr>
          <p:cNvPr id="16" name="TextBox 15"/>
          <p:cNvSpPr txBox="1"/>
          <p:nvPr/>
        </p:nvSpPr>
        <p:spPr>
          <a:xfrm>
            <a:off x="6126480" y="4956048"/>
            <a:ext cx="5486400" cy="502920"/>
          </a:xfrm>
          <a:prstGeom prst="rect">
            <a:avLst/>
          </a:prstGeom>
          <a:noFill/>
        </p:spPr>
        <p:txBody>
          <a:bodyPr wrap="square">
            <a:spAutoFit/>
          </a:bodyPr>
          <a:lstStyle/>
          <a:p>
            <a:pPr algn="l">
              <a:lnSpc>
                <a:spcPts val="1679"/>
              </a:lnSpc>
              <a:spcAft>
                <a:spcPts val="359"/>
              </a:spcAft>
              <a:defRPr sz="1200" b="0">
                <a:solidFill>
                  <a:srgbClr val="CDD6F4"/>
                </a:solidFill>
                <a:latin typeface="Segoe UI"/>
              </a:defRPr>
            </a:pPr>
            <a:r>
              <a:t>What artifact this template consumes.</a:t>
            </a:r>
            <a:br/>
            <a:r>
              <a:t>null = no prerequisite.</a:t>
            </a:r>
          </a:p>
        </p:txBody>
      </p:sp>
      <p:sp>
        <p:nvSpPr>
          <p:cNvPr id="17" name="TextBox 16"/>
          <p:cNvSpPr txBox="1"/>
          <p:nvPr/>
        </p:nvSpPr>
        <p:spPr>
          <a:xfrm>
            <a:off x="6126480" y="5486400"/>
            <a:ext cx="2286000" cy="274320"/>
          </a:xfrm>
          <a:prstGeom prst="rect">
            <a:avLst/>
          </a:prstGeom>
          <a:noFill/>
        </p:spPr>
        <p:txBody>
          <a:bodyPr wrap="square">
            <a:spAutoFit/>
          </a:bodyPr>
          <a:lstStyle/>
          <a:p>
            <a:pPr algn="l">
              <a:lnSpc>
                <a:spcPts val="1800"/>
              </a:lnSpc>
              <a:spcAft>
                <a:spcPts val="450"/>
              </a:spcAft>
              <a:defRPr sz="1500" b="1">
                <a:solidFill>
                  <a:srgbClr val="CBA6F7"/>
                </a:solidFill>
                <a:latin typeface="Cascadia Code"/>
              </a:defRPr>
            </a:pPr>
            <a:r>
              <a:t>output_contract:</a:t>
            </a:r>
          </a:p>
        </p:txBody>
      </p:sp>
      <p:sp>
        <p:nvSpPr>
          <p:cNvPr id="18" name="TextBox 17"/>
          <p:cNvSpPr txBox="1"/>
          <p:nvPr/>
        </p:nvSpPr>
        <p:spPr>
          <a:xfrm>
            <a:off x="6126480" y="5779008"/>
            <a:ext cx="5486400" cy="502920"/>
          </a:xfrm>
          <a:prstGeom prst="rect">
            <a:avLst/>
          </a:prstGeom>
          <a:noFill/>
        </p:spPr>
        <p:txBody>
          <a:bodyPr wrap="square">
            <a:spAutoFit/>
          </a:bodyPr>
          <a:lstStyle/>
          <a:p>
            <a:pPr algn="l">
              <a:lnSpc>
                <a:spcPts val="1679"/>
              </a:lnSpc>
              <a:spcAft>
                <a:spcPts val="359"/>
              </a:spcAft>
              <a:defRPr sz="1200" b="0">
                <a:solidFill>
                  <a:srgbClr val="CDD6F4"/>
                </a:solidFill>
                <a:latin typeface="Segoe UI"/>
              </a:defRPr>
            </a:pPr>
            <a:r>
              <a:t>What artifact this template produces.</a:t>
            </a:r>
            <a:br/>
            <a:r>
              <a:t>Enables pipeline chaining.</a:t>
            </a:r>
          </a:p>
        </p:txBody>
      </p:sp>
      <p:sp>
        <p:nvSpPr>
          <p:cNvPr id="19" name="TextBox 18"/>
          <p:cNvSpPr txBox="1"/>
          <p:nvPr/>
        </p:nvSpPr>
        <p:spPr>
          <a:xfrm>
            <a:off x="11155680" y="6492240"/>
            <a:ext cx="914400" cy="274320"/>
          </a:xfrm>
          <a:prstGeom prst="rect">
            <a:avLst/>
          </a:prstGeom>
          <a:noFill/>
        </p:spPr>
        <p:txBody>
          <a:bodyPr wrap="square">
            <a:spAutoFit/>
          </a:bodyPr>
          <a:lstStyle/>
          <a:p>
            <a:pPr algn="r">
              <a:lnSpc>
                <a:spcPts val="1200"/>
              </a:lnSpc>
              <a:spcAft>
                <a:spcPts val="300"/>
              </a:spcAft>
              <a:defRPr sz="1000" b="0">
                <a:solidFill>
                  <a:srgbClr val="6C7086"/>
                </a:solidFill>
                <a:latin typeface="Segoe UI"/>
              </a:defRPr>
            </a:pPr>
            <a:r>
              <a:t>11 / 17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594360"/>
          </a:xfrm>
          <a:prstGeom prst="rect">
            <a:avLst/>
          </a:prstGeom>
          <a:noFill/>
        </p:spPr>
        <p:txBody>
          <a:bodyPr wrap="square">
            <a:spAutoFit/>
          </a:bodyPr>
          <a:lstStyle/>
          <a:p>
            <a:pPr algn="l">
              <a:lnSpc>
                <a:spcPts val="3840"/>
              </a:lnSpc>
              <a:spcAft>
                <a:spcPts val="960"/>
              </a:spcAft>
              <a:defRPr sz="3200" b="1">
                <a:solidFill>
                  <a:srgbClr val="CDD6F4"/>
                </a:solidFill>
                <a:latin typeface="Segoe UI"/>
              </a:defRPr>
            </a:pPr>
            <a:r>
              <a:t>The Manifest: Source of Truth</a:t>
            </a:r>
          </a:p>
        </p:txBody>
      </p:sp>
      <p:sp>
        <p:nvSpPr>
          <p:cNvPr id="4" name="TextBox 3"/>
          <p:cNvSpPr txBox="1"/>
          <p:nvPr/>
        </p:nvSpPr>
        <p:spPr>
          <a:xfrm>
            <a:off x="731520" y="868680"/>
            <a:ext cx="10058400" cy="411480"/>
          </a:xfrm>
          <a:prstGeom prst="rect">
            <a:avLst/>
          </a:prstGeom>
          <a:noFill/>
        </p:spPr>
        <p:txBody>
          <a:bodyPr wrap="square">
            <a:spAutoFit/>
          </a:bodyPr>
          <a:lstStyle/>
          <a:p>
            <a:pPr algn="l">
              <a:lnSpc>
                <a:spcPts val="1920"/>
              </a:lnSpc>
              <a:spcAft>
                <a:spcPts val="480"/>
              </a:spcAft>
              <a:defRPr sz="1600" b="0">
                <a:solidFill>
                  <a:srgbClr val="6C7086"/>
                </a:solidFill>
                <a:latin typeface="Segoe UI"/>
              </a:defRPr>
            </a:pPr>
            <a:r>
              <a:t>manifest.yaml — the component registry</a:t>
            </a:r>
          </a:p>
        </p:txBody>
      </p:sp>
      <p:sp>
        <p:nvSpPr>
          <p:cNvPr id="5" name="Rounded Rectangle 4"/>
          <p:cNvSpPr/>
          <p:nvPr/>
        </p:nvSpPr>
        <p:spPr>
          <a:xfrm>
            <a:off x="731520" y="1371600"/>
            <a:ext cx="5029200" cy="475488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4663440" cy="4572000"/>
          </a:xfrm>
          <a:prstGeom prst="rect">
            <a:avLst/>
          </a:prstGeom>
          <a:noFill/>
        </p:spPr>
        <p:txBody>
          <a:bodyPr wrap="square">
            <a:spAutoFit/>
          </a:bodyPr>
          <a:lstStyle/>
          <a:p>
            <a:pPr algn="l">
              <a:lnSpc>
                <a:spcPts val="1300"/>
              </a:lnSpc>
              <a:spcAft>
                <a:spcPts val="300"/>
              </a:spcAft>
              <a:defRPr sz="1000" b="0">
                <a:solidFill>
                  <a:srgbClr val="A6E3A1"/>
                </a:solidFill>
                <a:latin typeface="Cascadia Code"/>
              </a:defRPr>
            </a:pPr>
            <a:r>
              <a:t># manifest.yaml</a:t>
            </a:r>
            <a:br/>
            <a:r>
              <a:t>version: "0.2.0"</a:t>
            </a:r>
            <a:br/>
            <a:r>
              <a:t>personas:</a:t>
            </a:r>
            <a:br/>
            <a:r>
              <a:t>  - name: systems-engineer</a:t>
            </a:r>
            <a:br/>
            <a:r>
              <a:t>    path: personas/systems-engineer.md</a:t>
            </a:r>
            <a:br/>
            <a:r>
              <a:t>protocols:</a:t>
            </a:r>
            <a:br/>
            <a:r>
              <a:t>  guardrails:</a:t>
            </a:r>
            <a:br/>
            <a:r>
              <a:t>    - name: anti-hallucination</a:t>
            </a:r>
            <a:br/>
            <a:r>
              <a:t>      path: protocols/guardrails/...</a:t>
            </a:r>
            <a:br/>
            <a:r>
              <a:t>  analysis:</a:t>
            </a:r>
            <a:br/>
            <a:r>
              <a:t>    - name: memory-safety-c</a:t>
            </a:r>
            <a:br/>
            <a:r>
              <a:t>  reasoning:</a:t>
            </a:r>
            <a:br/>
            <a:r>
              <a:t>    - name: root-cause-analysis</a:t>
            </a:r>
            <a:br/>
            <a:r>
              <a:t>formats:</a:t>
            </a:r>
            <a:br/>
            <a:r>
              <a:t>  - name: investigation-report</a:t>
            </a:r>
            <a:br/>
            <a:r>
              <a:t>    produces: investigation-report</a:t>
            </a:r>
            <a:br/>
            <a:r>
              <a:t>templates:</a:t>
            </a:r>
            <a:br/>
            <a:r>
              <a:t>  investigation:</a:t>
            </a:r>
            <a:br/>
            <a:r>
              <a:t>    - name: investigate-bug</a:t>
            </a:r>
            <a:br/>
            <a:r>
              <a:t>      protocols: [anti-hallucination, ...]</a:t>
            </a:r>
            <a:br/>
            <a:r>
              <a:t>      format: investigation-report</a:t>
            </a:r>
            <a:br/>
            <a:r>
              <a:t>pipelines:</a:t>
            </a:r>
            <a:br/>
            <a:r>
              <a:t>  document-lifecycle:</a:t>
            </a:r>
            <a:br/>
            <a:r>
              <a:t>    stages:</a:t>
            </a:r>
            <a:br/>
            <a:r>
              <a:t>      - template: author-requirements-doc</a:t>
            </a:r>
            <a:br/>
            <a:r>
              <a:t>        produces: requirements-document</a:t>
            </a:r>
          </a:p>
        </p:txBody>
      </p:sp>
      <p:sp>
        <p:nvSpPr>
          <p:cNvPr id="7" name="TextBox 6"/>
          <p:cNvSpPr txBox="1"/>
          <p:nvPr/>
        </p:nvSpPr>
        <p:spPr>
          <a:xfrm>
            <a:off x="6217920" y="1371600"/>
            <a:ext cx="5029200" cy="320040"/>
          </a:xfrm>
          <a:prstGeom prst="rect">
            <a:avLst/>
          </a:prstGeom>
          <a:noFill/>
        </p:spPr>
        <p:txBody>
          <a:bodyPr wrap="square">
            <a:spAutoFit/>
          </a:bodyPr>
          <a:lstStyle/>
          <a:p>
            <a:pPr algn="l">
              <a:lnSpc>
                <a:spcPts val="2400"/>
              </a:lnSpc>
              <a:spcAft>
                <a:spcPts val="600"/>
              </a:spcAft>
              <a:defRPr sz="2000" b="1">
                <a:solidFill>
                  <a:srgbClr val="89B4FA"/>
                </a:solidFill>
                <a:latin typeface="Segoe UI"/>
              </a:defRPr>
            </a:pPr>
            <a:r>
              <a:t>Key Rules</a:t>
            </a:r>
          </a:p>
        </p:txBody>
      </p:sp>
      <p:sp>
        <p:nvSpPr>
          <p:cNvPr id="8" name="Rectangle 7"/>
          <p:cNvSpPr/>
          <p:nvPr/>
        </p:nvSpPr>
        <p:spPr>
          <a:xfrm>
            <a:off x="6217920" y="1920240"/>
            <a:ext cx="54864" cy="914400"/>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920240"/>
            <a:ext cx="5029200" cy="274320"/>
          </a:xfrm>
          <a:prstGeom prst="rect">
            <a:avLst/>
          </a:prstGeom>
          <a:noFill/>
        </p:spPr>
        <p:txBody>
          <a:bodyPr wrap="square">
            <a:spAutoFit/>
          </a:bodyPr>
          <a:lstStyle/>
          <a:p>
            <a:pPr algn="l">
              <a:lnSpc>
                <a:spcPts val="1680"/>
              </a:lnSpc>
              <a:spcAft>
                <a:spcPts val="420"/>
              </a:spcAft>
              <a:defRPr sz="1400" b="1">
                <a:solidFill>
                  <a:srgbClr val="89B4FA"/>
                </a:solidFill>
                <a:latin typeface="Segoe UI"/>
              </a:defRPr>
            </a:pPr>
            <a:r>
              <a:t>Protocol naming duality</a:t>
            </a:r>
          </a:p>
        </p:txBody>
      </p:sp>
      <p:sp>
        <p:nvSpPr>
          <p:cNvPr id="10" name="TextBox 9"/>
          <p:cNvSpPr txBox="1"/>
          <p:nvPr/>
        </p:nvSpPr>
        <p:spPr>
          <a:xfrm>
            <a:off x="6446520" y="2194560"/>
            <a:ext cx="5029200" cy="640080"/>
          </a:xfrm>
          <a:prstGeom prst="rect">
            <a:avLst/>
          </a:prstGeom>
          <a:noFill/>
        </p:spPr>
        <p:txBody>
          <a:bodyPr wrap="square">
            <a:spAutoFit/>
          </a:bodyPr>
          <a:lstStyle/>
          <a:p>
            <a:pPr algn="l">
              <a:lnSpc>
                <a:spcPts val="1430"/>
              </a:lnSpc>
              <a:spcAft>
                <a:spcPts val="330"/>
              </a:spcAft>
              <a:defRPr sz="1100" b="0">
                <a:solidFill>
                  <a:srgbClr val="CDD6F4"/>
                </a:solidFill>
                <a:latin typeface="Cascadia Code"/>
              </a:defRPr>
            </a:pPr>
            <a:r>
              <a:t>Templates use category paths:</a:t>
            </a:r>
            <a:br/>
            <a:r>
              <a:t>  guardrails/anti-hallucination</a:t>
            </a:r>
            <a:br/>
            <a:r>
              <a:t>Manifest uses short names:</a:t>
            </a:r>
            <a:br/>
            <a:r>
              <a:t>  anti-hallucination</a:t>
            </a:r>
            <a:br/>
            <a:r>
              <a:t>CI enforces they stay in sync.</a:t>
            </a:r>
          </a:p>
        </p:txBody>
      </p:sp>
      <p:sp>
        <p:nvSpPr>
          <p:cNvPr id="11" name="Rectangle 10"/>
          <p:cNvSpPr/>
          <p:nvPr/>
        </p:nvSpPr>
        <p:spPr>
          <a:xfrm>
            <a:off x="6217920" y="3063240"/>
            <a:ext cx="54864" cy="91440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3063240"/>
            <a:ext cx="5029200" cy="274320"/>
          </a:xfrm>
          <a:prstGeom prst="rect">
            <a:avLst/>
          </a:prstGeom>
          <a:noFill/>
        </p:spPr>
        <p:txBody>
          <a:bodyPr wrap="square">
            <a:spAutoFit/>
          </a:bodyPr>
          <a:lstStyle/>
          <a:p>
            <a:pPr algn="l">
              <a:lnSpc>
                <a:spcPts val="1680"/>
              </a:lnSpc>
              <a:spcAft>
                <a:spcPts val="420"/>
              </a:spcAft>
              <a:defRPr sz="1400" b="1">
                <a:solidFill>
                  <a:srgbClr val="A6E3A1"/>
                </a:solidFill>
                <a:latin typeface="Segoe UI"/>
              </a:defRPr>
            </a:pPr>
            <a:r>
              <a:t>Path resolution</a:t>
            </a:r>
          </a:p>
        </p:txBody>
      </p:sp>
      <p:sp>
        <p:nvSpPr>
          <p:cNvPr id="13" name="TextBox 12"/>
          <p:cNvSpPr txBox="1"/>
          <p:nvPr/>
        </p:nvSpPr>
        <p:spPr>
          <a:xfrm>
            <a:off x="6446520" y="3337560"/>
            <a:ext cx="5029200" cy="640080"/>
          </a:xfrm>
          <a:prstGeom prst="rect">
            <a:avLst/>
          </a:prstGeom>
          <a:noFill/>
        </p:spPr>
        <p:txBody>
          <a:bodyPr wrap="square">
            <a:spAutoFit/>
          </a:bodyPr>
          <a:lstStyle/>
          <a:p>
            <a:pPr algn="l">
              <a:lnSpc>
                <a:spcPts val="1430"/>
              </a:lnSpc>
              <a:spcAft>
                <a:spcPts val="330"/>
              </a:spcAft>
              <a:defRPr sz="1100" b="0">
                <a:solidFill>
                  <a:srgbClr val="CDD6F4"/>
                </a:solidFill>
                <a:latin typeface="Cascadia Code"/>
              </a:defRPr>
            </a:pPr>
            <a:r>
              <a:t>Every component has a path field</a:t>
            </a:r>
            <a:br/>
            <a:r>
              <a:t>pointing to its .md source file.</a:t>
            </a:r>
            <a:br/>
            <a:r>
              <a:t>Assembly engine reads these paths.</a:t>
            </a:r>
          </a:p>
        </p:txBody>
      </p:sp>
      <p:sp>
        <p:nvSpPr>
          <p:cNvPr id="14" name="Rectangle 13"/>
          <p:cNvSpPr/>
          <p:nvPr/>
        </p:nvSpPr>
        <p:spPr>
          <a:xfrm>
            <a:off x="6217920" y="4206240"/>
            <a:ext cx="54864" cy="914400"/>
          </a:xfrm>
          <a:prstGeom prst="rect">
            <a:avLst/>
          </a:prstGeom>
          <a:solidFill>
            <a:srgbClr val="F9E2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4206240"/>
            <a:ext cx="5029200" cy="274320"/>
          </a:xfrm>
          <a:prstGeom prst="rect">
            <a:avLst/>
          </a:prstGeom>
          <a:noFill/>
        </p:spPr>
        <p:txBody>
          <a:bodyPr wrap="square">
            <a:spAutoFit/>
          </a:bodyPr>
          <a:lstStyle/>
          <a:p>
            <a:pPr algn="l">
              <a:lnSpc>
                <a:spcPts val="1680"/>
              </a:lnSpc>
              <a:spcAft>
                <a:spcPts val="420"/>
              </a:spcAft>
              <a:defRPr sz="1400" b="1">
                <a:solidFill>
                  <a:srgbClr val="F9E2AF"/>
                </a:solidFill>
                <a:latin typeface="Segoe UI"/>
              </a:defRPr>
            </a:pPr>
            <a:r>
              <a:t>Pipeline stages</a:t>
            </a:r>
          </a:p>
        </p:txBody>
      </p:sp>
      <p:sp>
        <p:nvSpPr>
          <p:cNvPr id="16" name="TextBox 15"/>
          <p:cNvSpPr txBox="1"/>
          <p:nvPr/>
        </p:nvSpPr>
        <p:spPr>
          <a:xfrm>
            <a:off x="6446520" y="4480560"/>
            <a:ext cx="5029200" cy="640080"/>
          </a:xfrm>
          <a:prstGeom prst="rect">
            <a:avLst/>
          </a:prstGeom>
          <a:noFill/>
        </p:spPr>
        <p:txBody>
          <a:bodyPr wrap="square">
            <a:spAutoFit/>
          </a:bodyPr>
          <a:lstStyle/>
          <a:p>
            <a:pPr algn="l">
              <a:lnSpc>
                <a:spcPts val="1430"/>
              </a:lnSpc>
              <a:spcAft>
                <a:spcPts val="330"/>
              </a:spcAft>
              <a:defRPr sz="1100" b="0">
                <a:solidFill>
                  <a:srgbClr val="CDD6F4"/>
                </a:solidFill>
                <a:latin typeface="Cascadia Code"/>
              </a:defRPr>
            </a:pPr>
            <a:r>
              <a:t>produces/consumes fields enable</a:t>
            </a:r>
            <a:br/>
            <a:r>
              <a:t>the bootstrap engine to validate</a:t>
            </a:r>
            <a:br/>
            <a:r>
              <a:t>chaining and suggest next stages.</a:t>
            </a:r>
          </a:p>
        </p:txBody>
      </p:sp>
      <p:sp>
        <p:nvSpPr>
          <p:cNvPr id="17" name="Rectangle 16"/>
          <p:cNvSpPr/>
          <p:nvPr/>
        </p:nvSpPr>
        <p:spPr>
          <a:xfrm>
            <a:off x="6217920" y="5349240"/>
            <a:ext cx="54864" cy="914400"/>
          </a:xfrm>
          <a:prstGeom prst="rect">
            <a:avLst/>
          </a:prstGeom>
          <a:solidFill>
            <a:srgbClr val="FAB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5349240"/>
            <a:ext cx="5029200" cy="274320"/>
          </a:xfrm>
          <a:prstGeom prst="rect">
            <a:avLst/>
          </a:prstGeom>
          <a:noFill/>
        </p:spPr>
        <p:txBody>
          <a:bodyPr wrap="square">
            <a:spAutoFit/>
          </a:bodyPr>
          <a:lstStyle/>
          <a:p>
            <a:pPr algn="l">
              <a:lnSpc>
                <a:spcPts val="1680"/>
              </a:lnSpc>
              <a:spcAft>
                <a:spcPts val="420"/>
              </a:spcAft>
              <a:defRPr sz="1400" b="1">
                <a:solidFill>
                  <a:srgbClr val="FAB387"/>
                </a:solidFill>
                <a:latin typeface="Segoe UI"/>
              </a:defRPr>
            </a:pPr>
            <a:r>
              <a:t>CI validation</a:t>
            </a:r>
          </a:p>
        </p:txBody>
      </p:sp>
      <p:sp>
        <p:nvSpPr>
          <p:cNvPr id="19" name="TextBox 18"/>
          <p:cNvSpPr txBox="1"/>
          <p:nvPr/>
        </p:nvSpPr>
        <p:spPr>
          <a:xfrm>
            <a:off x="6446520" y="5623560"/>
            <a:ext cx="5029200" cy="640080"/>
          </a:xfrm>
          <a:prstGeom prst="rect">
            <a:avLst/>
          </a:prstGeom>
          <a:noFill/>
        </p:spPr>
        <p:txBody>
          <a:bodyPr wrap="square">
            <a:spAutoFit/>
          </a:bodyPr>
          <a:lstStyle/>
          <a:p>
            <a:pPr algn="l">
              <a:lnSpc>
                <a:spcPts val="1430"/>
              </a:lnSpc>
              <a:spcAft>
                <a:spcPts val="330"/>
              </a:spcAft>
              <a:defRPr sz="1100" b="0">
                <a:solidFill>
                  <a:srgbClr val="CDD6F4"/>
                </a:solidFill>
                <a:latin typeface="Cascadia Code"/>
              </a:defRPr>
            </a:pPr>
            <a:r>
              <a:t>tests/validate-manifest.py checks</a:t>
            </a:r>
            <a:br/>
            <a:r>
              <a:t>that manifest protocols match</a:t>
            </a:r>
            <a:br/>
            <a:r>
              <a:t>template frontmatter protocols.</a:t>
            </a:r>
          </a:p>
        </p:txBody>
      </p:sp>
      <p:sp>
        <p:nvSpPr>
          <p:cNvPr id="20" name="TextBox 19"/>
          <p:cNvSpPr txBox="1"/>
          <p:nvPr/>
        </p:nvSpPr>
        <p:spPr>
          <a:xfrm>
            <a:off x="11155680" y="6492240"/>
            <a:ext cx="914400" cy="274320"/>
          </a:xfrm>
          <a:prstGeom prst="rect">
            <a:avLst/>
          </a:prstGeom>
          <a:noFill/>
        </p:spPr>
        <p:txBody>
          <a:bodyPr wrap="square">
            <a:spAutoFit/>
          </a:bodyPr>
          <a:lstStyle/>
          <a:p>
            <a:pPr algn="r">
              <a:lnSpc>
                <a:spcPts val="1200"/>
              </a:lnSpc>
              <a:spcAft>
                <a:spcPts val="300"/>
              </a:spcAft>
              <a:defRPr sz="1000" b="0">
                <a:solidFill>
                  <a:srgbClr val="6C7086"/>
                </a:solidFill>
                <a:latin typeface="Segoe UI"/>
              </a:defRPr>
            </a:pPr>
            <a:r>
              <a:t>12 / 17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594360"/>
          </a:xfrm>
          <a:prstGeom prst="rect">
            <a:avLst/>
          </a:prstGeom>
          <a:noFill/>
        </p:spPr>
        <p:txBody>
          <a:bodyPr wrap="square">
            <a:spAutoFit/>
          </a:bodyPr>
          <a:lstStyle/>
          <a:p>
            <a:pPr algn="l">
              <a:lnSpc>
                <a:spcPts val="3840"/>
              </a:lnSpc>
              <a:spcAft>
                <a:spcPts val="960"/>
              </a:spcAft>
              <a:defRPr sz="3200" b="1">
                <a:solidFill>
                  <a:srgbClr val="CDD6F4"/>
                </a:solidFill>
                <a:latin typeface="Segoe UI"/>
              </a:defRPr>
            </a:pPr>
            <a:r>
              <a:t>The Bootstrap Flow</a:t>
            </a:r>
          </a:p>
        </p:txBody>
      </p:sp>
      <p:sp>
        <p:nvSpPr>
          <p:cNvPr id="4" name="TextBox 3"/>
          <p:cNvSpPr txBox="1"/>
          <p:nvPr/>
        </p:nvSpPr>
        <p:spPr>
          <a:xfrm>
            <a:off x="731520" y="868680"/>
            <a:ext cx="10058400" cy="411480"/>
          </a:xfrm>
          <a:prstGeom prst="rect">
            <a:avLst/>
          </a:prstGeom>
          <a:noFill/>
        </p:spPr>
        <p:txBody>
          <a:bodyPr wrap="square">
            <a:spAutoFit/>
          </a:bodyPr>
          <a:lstStyle/>
          <a:p>
            <a:pPr algn="l">
              <a:lnSpc>
                <a:spcPts val="1920"/>
              </a:lnSpc>
              <a:spcAft>
                <a:spcPts val="480"/>
              </a:spcAft>
              <a:defRPr sz="1600" b="0">
                <a:solidFill>
                  <a:srgbClr val="6C7086"/>
                </a:solidFill>
                <a:latin typeface="Segoe UI"/>
              </a:defRPr>
            </a:pPr>
            <a:r>
              <a:t>bootstrap.md — the meta-prompt that drives composition</a:t>
            </a:r>
          </a:p>
        </p:txBody>
      </p:sp>
      <p:sp>
        <p:nvSpPr>
          <p:cNvPr id="5" name="Rounded Rectangle 4"/>
          <p:cNvSpPr/>
          <p:nvPr/>
        </p:nvSpPr>
        <p:spPr>
          <a:xfrm>
            <a:off x="723747" y="1554480"/>
            <a:ext cx="1417320" cy="22860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23747" y="1554480"/>
            <a:ext cx="1417320" cy="45720"/>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9467" y="1691640"/>
            <a:ext cx="1325880" cy="274320"/>
          </a:xfrm>
          <a:prstGeom prst="rect">
            <a:avLst/>
          </a:prstGeom>
          <a:noFill/>
        </p:spPr>
        <p:txBody>
          <a:bodyPr wrap="square">
            <a:spAutoFit/>
          </a:bodyPr>
          <a:lstStyle/>
          <a:p>
            <a:pPr algn="ctr">
              <a:lnSpc>
                <a:spcPts val="2879"/>
              </a:lnSpc>
              <a:spcAft>
                <a:spcPts val="719"/>
              </a:spcAft>
              <a:defRPr sz="2400" b="1">
                <a:solidFill>
                  <a:srgbClr val="89B4FA"/>
                </a:solidFill>
                <a:latin typeface="Segoe UI"/>
              </a:defRPr>
            </a:pPr>
            <a:r>
              <a:t>1</a:t>
            </a:r>
          </a:p>
        </p:txBody>
      </p:sp>
      <p:sp>
        <p:nvSpPr>
          <p:cNvPr id="8" name="TextBox 7"/>
          <p:cNvSpPr txBox="1"/>
          <p:nvPr/>
        </p:nvSpPr>
        <p:spPr>
          <a:xfrm>
            <a:off x="769467" y="2057400"/>
            <a:ext cx="1325880" cy="640080"/>
          </a:xfrm>
          <a:prstGeom prst="rect">
            <a:avLst/>
          </a:prstGeom>
          <a:noFill/>
        </p:spPr>
        <p:txBody>
          <a:bodyPr wrap="square">
            <a:spAutoFit/>
          </a:bodyPr>
          <a:lstStyle/>
          <a:p>
            <a:pPr algn="ctr">
              <a:lnSpc>
                <a:spcPts val="1680"/>
              </a:lnSpc>
              <a:spcAft>
                <a:spcPts val="420"/>
              </a:spcAft>
              <a:defRPr sz="1400" b="1">
                <a:solidFill>
                  <a:srgbClr val="CDD6F4"/>
                </a:solidFill>
                <a:latin typeface="Segoe UI"/>
              </a:defRPr>
            </a:pPr>
            <a:r>
              <a:t>Understand</a:t>
            </a:r>
            <a:br/>
            <a:r>
              <a:t>the task</a:t>
            </a:r>
          </a:p>
        </p:txBody>
      </p:sp>
      <p:sp>
        <p:nvSpPr>
          <p:cNvPr id="9" name="TextBox 8"/>
          <p:cNvSpPr txBox="1"/>
          <p:nvPr/>
        </p:nvSpPr>
        <p:spPr>
          <a:xfrm>
            <a:off x="769467" y="2834640"/>
            <a:ext cx="1325880" cy="914400"/>
          </a:xfrm>
          <a:prstGeom prst="rect">
            <a:avLst/>
          </a:prstGeom>
          <a:noFill/>
        </p:spPr>
        <p:txBody>
          <a:bodyPr wrap="square">
            <a:spAutoFit/>
          </a:bodyPr>
          <a:lstStyle/>
          <a:p>
            <a:pPr algn="ctr">
              <a:lnSpc>
                <a:spcPts val="1400"/>
              </a:lnSpc>
              <a:spcAft>
                <a:spcPts val="300"/>
              </a:spcAft>
              <a:defRPr sz="1000" b="0">
                <a:solidFill>
                  <a:srgbClr val="6C7086"/>
                </a:solidFill>
                <a:latin typeface="Segoe UI"/>
              </a:defRPr>
            </a:pPr>
            <a:r>
              <a:t>Ask user what they</a:t>
            </a:r>
            <a:br/>
            <a:r>
              <a:t>want to accomplish</a:t>
            </a:r>
          </a:p>
        </p:txBody>
      </p:sp>
      <p:sp>
        <p:nvSpPr>
          <p:cNvPr id="10" name="TextBox 9"/>
          <p:cNvSpPr txBox="1"/>
          <p:nvPr/>
        </p:nvSpPr>
        <p:spPr>
          <a:xfrm>
            <a:off x="2095347" y="2468880"/>
            <a:ext cx="320040" cy="274320"/>
          </a:xfrm>
          <a:prstGeom prst="rect">
            <a:avLst/>
          </a:prstGeom>
          <a:noFill/>
        </p:spPr>
        <p:txBody>
          <a:bodyPr wrap="square">
            <a:spAutoFit/>
          </a:bodyPr>
          <a:lstStyle/>
          <a:p>
            <a:pPr algn="ctr">
              <a:lnSpc>
                <a:spcPts val="2400"/>
              </a:lnSpc>
              <a:spcAft>
                <a:spcPts val="600"/>
              </a:spcAft>
              <a:defRPr sz="2000" b="0">
                <a:solidFill>
                  <a:srgbClr val="6C7086"/>
                </a:solidFill>
                <a:latin typeface="Segoe UI"/>
              </a:defRPr>
            </a:pPr>
            <a:r>
              <a:t>›</a:t>
            </a:r>
          </a:p>
        </p:txBody>
      </p:sp>
      <p:sp>
        <p:nvSpPr>
          <p:cNvPr id="11" name="Rounded Rectangle 10"/>
          <p:cNvSpPr/>
          <p:nvPr/>
        </p:nvSpPr>
        <p:spPr>
          <a:xfrm>
            <a:off x="2278227" y="1554480"/>
            <a:ext cx="1417320" cy="22860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78227" y="1554480"/>
            <a:ext cx="1417320" cy="4572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23947" y="1691640"/>
            <a:ext cx="1325880" cy="274320"/>
          </a:xfrm>
          <a:prstGeom prst="rect">
            <a:avLst/>
          </a:prstGeom>
          <a:noFill/>
        </p:spPr>
        <p:txBody>
          <a:bodyPr wrap="square">
            <a:spAutoFit/>
          </a:bodyPr>
          <a:lstStyle/>
          <a:p>
            <a:pPr algn="ctr">
              <a:lnSpc>
                <a:spcPts val="2879"/>
              </a:lnSpc>
              <a:spcAft>
                <a:spcPts val="719"/>
              </a:spcAft>
              <a:defRPr sz="2400" b="1">
                <a:solidFill>
                  <a:srgbClr val="A6E3A1"/>
                </a:solidFill>
                <a:latin typeface="Segoe UI"/>
              </a:defRPr>
            </a:pPr>
            <a:r>
              <a:t>2</a:t>
            </a:r>
          </a:p>
        </p:txBody>
      </p:sp>
      <p:sp>
        <p:nvSpPr>
          <p:cNvPr id="14" name="TextBox 13"/>
          <p:cNvSpPr txBox="1"/>
          <p:nvPr/>
        </p:nvSpPr>
        <p:spPr>
          <a:xfrm>
            <a:off x="2323947" y="2057400"/>
            <a:ext cx="1325880" cy="640080"/>
          </a:xfrm>
          <a:prstGeom prst="rect">
            <a:avLst/>
          </a:prstGeom>
          <a:noFill/>
        </p:spPr>
        <p:txBody>
          <a:bodyPr wrap="square">
            <a:spAutoFit/>
          </a:bodyPr>
          <a:lstStyle/>
          <a:p>
            <a:pPr algn="ctr">
              <a:lnSpc>
                <a:spcPts val="1680"/>
              </a:lnSpc>
              <a:spcAft>
                <a:spcPts val="420"/>
              </a:spcAft>
              <a:defRPr sz="1400" b="1">
                <a:solidFill>
                  <a:srgbClr val="CDD6F4"/>
                </a:solidFill>
                <a:latin typeface="Segoe UI"/>
              </a:defRPr>
            </a:pPr>
            <a:r>
              <a:t>Read</a:t>
            </a:r>
            <a:br/>
            <a:r>
              <a:t>manifest</a:t>
            </a:r>
          </a:p>
        </p:txBody>
      </p:sp>
      <p:sp>
        <p:nvSpPr>
          <p:cNvPr id="15" name="TextBox 14"/>
          <p:cNvSpPr txBox="1"/>
          <p:nvPr/>
        </p:nvSpPr>
        <p:spPr>
          <a:xfrm>
            <a:off x="2323947" y="2834640"/>
            <a:ext cx="1325880" cy="914400"/>
          </a:xfrm>
          <a:prstGeom prst="rect">
            <a:avLst/>
          </a:prstGeom>
          <a:noFill/>
        </p:spPr>
        <p:txBody>
          <a:bodyPr wrap="square">
            <a:spAutoFit/>
          </a:bodyPr>
          <a:lstStyle/>
          <a:p>
            <a:pPr algn="ctr">
              <a:lnSpc>
                <a:spcPts val="1400"/>
              </a:lnSpc>
              <a:spcAft>
                <a:spcPts val="300"/>
              </a:spcAft>
              <a:defRPr sz="1000" b="0">
                <a:solidFill>
                  <a:srgbClr val="6C7086"/>
                </a:solidFill>
                <a:latin typeface="Segoe UI"/>
              </a:defRPr>
            </a:pPr>
            <a:r>
              <a:t>Discover all available</a:t>
            </a:r>
            <a:br/>
            <a:r>
              <a:t>components</a:t>
            </a:r>
          </a:p>
        </p:txBody>
      </p:sp>
      <p:sp>
        <p:nvSpPr>
          <p:cNvPr id="16" name="TextBox 15"/>
          <p:cNvSpPr txBox="1"/>
          <p:nvPr/>
        </p:nvSpPr>
        <p:spPr>
          <a:xfrm>
            <a:off x="3649827" y="2468880"/>
            <a:ext cx="320040" cy="274320"/>
          </a:xfrm>
          <a:prstGeom prst="rect">
            <a:avLst/>
          </a:prstGeom>
          <a:noFill/>
        </p:spPr>
        <p:txBody>
          <a:bodyPr wrap="square">
            <a:spAutoFit/>
          </a:bodyPr>
          <a:lstStyle/>
          <a:p>
            <a:pPr algn="ctr">
              <a:lnSpc>
                <a:spcPts val="2400"/>
              </a:lnSpc>
              <a:spcAft>
                <a:spcPts val="600"/>
              </a:spcAft>
              <a:defRPr sz="2000" b="0">
                <a:solidFill>
                  <a:srgbClr val="6C7086"/>
                </a:solidFill>
                <a:latin typeface="Segoe UI"/>
              </a:defRPr>
            </a:pPr>
            <a:r>
              <a:t>›</a:t>
            </a:r>
          </a:p>
        </p:txBody>
      </p:sp>
      <p:sp>
        <p:nvSpPr>
          <p:cNvPr id="17" name="Rounded Rectangle 16"/>
          <p:cNvSpPr/>
          <p:nvPr/>
        </p:nvSpPr>
        <p:spPr>
          <a:xfrm>
            <a:off x="3832707" y="1554480"/>
            <a:ext cx="1417320" cy="22860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832707" y="1554480"/>
            <a:ext cx="1417320" cy="45720"/>
          </a:xfrm>
          <a:prstGeom prst="rect">
            <a:avLst/>
          </a:prstGeom>
          <a:solidFill>
            <a:srgbClr val="F9E2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78427" y="1691640"/>
            <a:ext cx="1325880" cy="274320"/>
          </a:xfrm>
          <a:prstGeom prst="rect">
            <a:avLst/>
          </a:prstGeom>
          <a:noFill/>
        </p:spPr>
        <p:txBody>
          <a:bodyPr wrap="square">
            <a:spAutoFit/>
          </a:bodyPr>
          <a:lstStyle/>
          <a:p>
            <a:pPr algn="ctr">
              <a:lnSpc>
                <a:spcPts val="2879"/>
              </a:lnSpc>
              <a:spcAft>
                <a:spcPts val="719"/>
              </a:spcAft>
              <a:defRPr sz="2400" b="1">
                <a:solidFill>
                  <a:srgbClr val="F9E2AF"/>
                </a:solidFill>
                <a:latin typeface="Segoe UI"/>
              </a:defRPr>
            </a:pPr>
            <a:r>
              <a:t>3</a:t>
            </a:r>
          </a:p>
        </p:txBody>
      </p:sp>
      <p:sp>
        <p:nvSpPr>
          <p:cNvPr id="20" name="TextBox 19"/>
          <p:cNvSpPr txBox="1"/>
          <p:nvPr/>
        </p:nvSpPr>
        <p:spPr>
          <a:xfrm>
            <a:off x="3878427" y="2057400"/>
            <a:ext cx="1325880" cy="640080"/>
          </a:xfrm>
          <a:prstGeom prst="rect">
            <a:avLst/>
          </a:prstGeom>
          <a:noFill/>
        </p:spPr>
        <p:txBody>
          <a:bodyPr wrap="square">
            <a:spAutoFit/>
          </a:bodyPr>
          <a:lstStyle/>
          <a:p>
            <a:pPr algn="ctr">
              <a:lnSpc>
                <a:spcPts val="1680"/>
              </a:lnSpc>
              <a:spcAft>
                <a:spcPts val="420"/>
              </a:spcAft>
              <a:defRPr sz="1400" b="1">
                <a:solidFill>
                  <a:srgbClr val="CDD6F4"/>
                </a:solidFill>
                <a:latin typeface="Segoe UI"/>
              </a:defRPr>
            </a:pPr>
            <a:r>
              <a:t>Select</a:t>
            </a:r>
            <a:br/>
            <a:r>
              <a:t>template</a:t>
            </a:r>
          </a:p>
        </p:txBody>
      </p:sp>
      <p:sp>
        <p:nvSpPr>
          <p:cNvPr id="21" name="TextBox 20"/>
          <p:cNvSpPr txBox="1"/>
          <p:nvPr/>
        </p:nvSpPr>
        <p:spPr>
          <a:xfrm>
            <a:off x="3878427" y="2834640"/>
            <a:ext cx="1325880" cy="914400"/>
          </a:xfrm>
          <a:prstGeom prst="rect">
            <a:avLst/>
          </a:prstGeom>
          <a:noFill/>
        </p:spPr>
        <p:txBody>
          <a:bodyPr wrap="square">
            <a:spAutoFit/>
          </a:bodyPr>
          <a:lstStyle/>
          <a:p>
            <a:pPr algn="ctr">
              <a:lnSpc>
                <a:spcPts val="1400"/>
              </a:lnSpc>
              <a:spcAft>
                <a:spcPts val="300"/>
              </a:spcAft>
              <a:defRPr sz="1000" b="0">
                <a:solidFill>
                  <a:srgbClr val="6C7086"/>
                </a:solidFill>
                <a:latin typeface="Segoe UI"/>
              </a:defRPr>
            </a:pPr>
            <a:r>
              <a:t>Match task to</a:t>
            </a:r>
            <a:br/>
            <a:r>
              <a:t>best template</a:t>
            </a:r>
          </a:p>
        </p:txBody>
      </p:sp>
      <p:sp>
        <p:nvSpPr>
          <p:cNvPr id="22" name="TextBox 21"/>
          <p:cNvSpPr txBox="1"/>
          <p:nvPr/>
        </p:nvSpPr>
        <p:spPr>
          <a:xfrm>
            <a:off x="5204307" y="2468880"/>
            <a:ext cx="320040" cy="274320"/>
          </a:xfrm>
          <a:prstGeom prst="rect">
            <a:avLst/>
          </a:prstGeom>
          <a:noFill/>
        </p:spPr>
        <p:txBody>
          <a:bodyPr wrap="square">
            <a:spAutoFit/>
          </a:bodyPr>
          <a:lstStyle/>
          <a:p>
            <a:pPr algn="ctr">
              <a:lnSpc>
                <a:spcPts val="2400"/>
              </a:lnSpc>
              <a:spcAft>
                <a:spcPts val="600"/>
              </a:spcAft>
              <a:defRPr sz="2000" b="0">
                <a:solidFill>
                  <a:srgbClr val="6C7086"/>
                </a:solidFill>
                <a:latin typeface="Segoe UI"/>
              </a:defRPr>
            </a:pPr>
            <a:r>
              <a:t>›</a:t>
            </a:r>
          </a:p>
        </p:txBody>
      </p:sp>
      <p:sp>
        <p:nvSpPr>
          <p:cNvPr id="23" name="Rounded Rectangle 22"/>
          <p:cNvSpPr/>
          <p:nvPr/>
        </p:nvSpPr>
        <p:spPr>
          <a:xfrm>
            <a:off x="5387187" y="1554480"/>
            <a:ext cx="1417320" cy="22860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387187" y="1554480"/>
            <a:ext cx="1417320" cy="45720"/>
          </a:xfrm>
          <a:prstGeom prst="rect">
            <a:avLst/>
          </a:prstGeom>
          <a:solidFill>
            <a:srgbClr val="FAB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32907" y="1691640"/>
            <a:ext cx="1325880" cy="274320"/>
          </a:xfrm>
          <a:prstGeom prst="rect">
            <a:avLst/>
          </a:prstGeom>
          <a:noFill/>
        </p:spPr>
        <p:txBody>
          <a:bodyPr wrap="square">
            <a:spAutoFit/>
          </a:bodyPr>
          <a:lstStyle/>
          <a:p>
            <a:pPr algn="ctr">
              <a:lnSpc>
                <a:spcPts val="2879"/>
              </a:lnSpc>
              <a:spcAft>
                <a:spcPts val="719"/>
              </a:spcAft>
              <a:defRPr sz="2400" b="1">
                <a:solidFill>
                  <a:srgbClr val="FAB387"/>
                </a:solidFill>
                <a:latin typeface="Segoe UI"/>
              </a:defRPr>
            </a:pPr>
            <a:r>
              <a:t>4</a:t>
            </a:r>
          </a:p>
        </p:txBody>
      </p:sp>
      <p:sp>
        <p:nvSpPr>
          <p:cNvPr id="26" name="TextBox 25"/>
          <p:cNvSpPr txBox="1"/>
          <p:nvPr/>
        </p:nvSpPr>
        <p:spPr>
          <a:xfrm>
            <a:off x="5432907" y="2057400"/>
            <a:ext cx="1325880" cy="640080"/>
          </a:xfrm>
          <a:prstGeom prst="rect">
            <a:avLst/>
          </a:prstGeom>
          <a:noFill/>
        </p:spPr>
        <p:txBody>
          <a:bodyPr wrap="square">
            <a:spAutoFit/>
          </a:bodyPr>
          <a:lstStyle/>
          <a:p>
            <a:pPr algn="ctr">
              <a:lnSpc>
                <a:spcPts val="1680"/>
              </a:lnSpc>
              <a:spcAft>
                <a:spcPts val="420"/>
              </a:spcAft>
              <a:defRPr sz="1400" b="1">
                <a:solidFill>
                  <a:srgbClr val="CDD6F4"/>
                </a:solidFill>
                <a:latin typeface="Segoe UI"/>
              </a:defRPr>
            </a:pPr>
            <a:r>
              <a:t>Check</a:t>
            </a:r>
            <a:br/>
            <a:r>
              <a:t>mode</a:t>
            </a:r>
          </a:p>
        </p:txBody>
      </p:sp>
      <p:sp>
        <p:nvSpPr>
          <p:cNvPr id="27" name="TextBox 26"/>
          <p:cNvSpPr txBox="1"/>
          <p:nvPr/>
        </p:nvSpPr>
        <p:spPr>
          <a:xfrm>
            <a:off x="5432907" y="2834640"/>
            <a:ext cx="1325880" cy="914400"/>
          </a:xfrm>
          <a:prstGeom prst="rect">
            <a:avLst/>
          </a:prstGeom>
          <a:noFill/>
        </p:spPr>
        <p:txBody>
          <a:bodyPr wrap="square">
            <a:spAutoFit/>
          </a:bodyPr>
          <a:lstStyle/>
          <a:p>
            <a:pPr algn="ctr">
              <a:lnSpc>
                <a:spcPts val="1400"/>
              </a:lnSpc>
              <a:spcAft>
                <a:spcPts val="300"/>
              </a:spcAft>
              <a:defRPr sz="1000" b="0">
                <a:solidFill>
                  <a:srgbClr val="6C7086"/>
                </a:solidFill>
                <a:latin typeface="Segoe UI"/>
              </a:defRPr>
            </a:pPr>
            <a:r>
              <a:t>Interactive → execute</a:t>
            </a:r>
            <a:br/>
            <a:r>
              <a:t>Single-shot → file</a:t>
            </a:r>
          </a:p>
        </p:txBody>
      </p:sp>
      <p:sp>
        <p:nvSpPr>
          <p:cNvPr id="28" name="TextBox 27"/>
          <p:cNvSpPr txBox="1"/>
          <p:nvPr/>
        </p:nvSpPr>
        <p:spPr>
          <a:xfrm>
            <a:off x="6758787" y="2468880"/>
            <a:ext cx="320040" cy="274320"/>
          </a:xfrm>
          <a:prstGeom prst="rect">
            <a:avLst/>
          </a:prstGeom>
          <a:noFill/>
        </p:spPr>
        <p:txBody>
          <a:bodyPr wrap="square">
            <a:spAutoFit/>
          </a:bodyPr>
          <a:lstStyle/>
          <a:p>
            <a:pPr algn="ctr">
              <a:lnSpc>
                <a:spcPts val="2400"/>
              </a:lnSpc>
              <a:spcAft>
                <a:spcPts val="600"/>
              </a:spcAft>
              <a:defRPr sz="2000" b="0">
                <a:solidFill>
                  <a:srgbClr val="6C7086"/>
                </a:solidFill>
                <a:latin typeface="Segoe UI"/>
              </a:defRPr>
            </a:pPr>
            <a:r>
              <a:t>›</a:t>
            </a:r>
          </a:p>
        </p:txBody>
      </p:sp>
      <p:sp>
        <p:nvSpPr>
          <p:cNvPr id="29" name="Rounded Rectangle 28"/>
          <p:cNvSpPr/>
          <p:nvPr/>
        </p:nvSpPr>
        <p:spPr>
          <a:xfrm>
            <a:off x="6941667" y="1554480"/>
            <a:ext cx="1417320" cy="22860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941667" y="1554480"/>
            <a:ext cx="1417320" cy="45720"/>
          </a:xfrm>
          <a:prstGeom prst="rect">
            <a:avLst/>
          </a:prstGeom>
          <a:solidFill>
            <a:srgbClr val="F38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87387" y="1691640"/>
            <a:ext cx="1325880" cy="274320"/>
          </a:xfrm>
          <a:prstGeom prst="rect">
            <a:avLst/>
          </a:prstGeom>
          <a:noFill/>
        </p:spPr>
        <p:txBody>
          <a:bodyPr wrap="square">
            <a:spAutoFit/>
          </a:bodyPr>
          <a:lstStyle/>
          <a:p>
            <a:pPr algn="ctr">
              <a:lnSpc>
                <a:spcPts val="2879"/>
              </a:lnSpc>
              <a:spcAft>
                <a:spcPts val="719"/>
              </a:spcAft>
              <a:defRPr sz="2400" b="1">
                <a:solidFill>
                  <a:srgbClr val="F38BA8"/>
                </a:solidFill>
                <a:latin typeface="Segoe UI"/>
              </a:defRPr>
            </a:pPr>
            <a:r>
              <a:t>5</a:t>
            </a:r>
          </a:p>
        </p:txBody>
      </p:sp>
      <p:sp>
        <p:nvSpPr>
          <p:cNvPr id="32" name="TextBox 31"/>
          <p:cNvSpPr txBox="1"/>
          <p:nvPr/>
        </p:nvSpPr>
        <p:spPr>
          <a:xfrm>
            <a:off x="6987387" y="2057400"/>
            <a:ext cx="1325880" cy="640080"/>
          </a:xfrm>
          <a:prstGeom prst="rect">
            <a:avLst/>
          </a:prstGeom>
          <a:noFill/>
        </p:spPr>
        <p:txBody>
          <a:bodyPr wrap="square">
            <a:spAutoFit/>
          </a:bodyPr>
          <a:lstStyle/>
          <a:p>
            <a:pPr algn="ctr">
              <a:lnSpc>
                <a:spcPts val="1680"/>
              </a:lnSpc>
              <a:spcAft>
                <a:spcPts val="420"/>
              </a:spcAft>
              <a:defRPr sz="1400" b="1">
                <a:solidFill>
                  <a:srgbClr val="CDD6F4"/>
                </a:solidFill>
                <a:latin typeface="Segoe UI"/>
              </a:defRPr>
            </a:pPr>
            <a:r>
              <a:t>Collect</a:t>
            </a:r>
            <a:br/>
            <a:r>
              <a:t>params</a:t>
            </a:r>
          </a:p>
        </p:txBody>
      </p:sp>
      <p:sp>
        <p:nvSpPr>
          <p:cNvPr id="33" name="TextBox 32"/>
          <p:cNvSpPr txBox="1"/>
          <p:nvPr/>
        </p:nvSpPr>
        <p:spPr>
          <a:xfrm>
            <a:off x="6987387" y="2834640"/>
            <a:ext cx="1325880" cy="914400"/>
          </a:xfrm>
          <a:prstGeom prst="rect">
            <a:avLst/>
          </a:prstGeom>
          <a:noFill/>
        </p:spPr>
        <p:txBody>
          <a:bodyPr wrap="square">
            <a:spAutoFit/>
          </a:bodyPr>
          <a:lstStyle/>
          <a:p>
            <a:pPr algn="ctr">
              <a:lnSpc>
                <a:spcPts val="1400"/>
              </a:lnSpc>
              <a:spcAft>
                <a:spcPts val="300"/>
              </a:spcAft>
              <a:defRPr sz="1000" b="0">
                <a:solidFill>
                  <a:srgbClr val="6C7086"/>
                </a:solidFill>
                <a:latin typeface="Segoe UI"/>
              </a:defRPr>
            </a:pPr>
            <a:r>
              <a:t>Gather template-</a:t>
            </a:r>
            <a:br/>
            <a:r>
              <a:t>specific inputs</a:t>
            </a:r>
          </a:p>
        </p:txBody>
      </p:sp>
      <p:sp>
        <p:nvSpPr>
          <p:cNvPr id="34" name="TextBox 33"/>
          <p:cNvSpPr txBox="1"/>
          <p:nvPr/>
        </p:nvSpPr>
        <p:spPr>
          <a:xfrm>
            <a:off x="8313267" y="2468880"/>
            <a:ext cx="320040" cy="274320"/>
          </a:xfrm>
          <a:prstGeom prst="rect">
            <a:avLst/>
          </a:prstGeom>
          <a:noFill/>
        </p:spPr>
        <p:txBody>
          <a:bodyPr wrap="square">
            <a:spAutoFit/>
          </a:bodyPr>
          <a:lstStyle/>
          <a:p>
            <a:pPr algn="ctr">
              <a:lnSpc>
                <a:spcPts val="2400"/>
              </a:lnSpc>
              <a:spcAft>
                <a:spcPts val="600"/>
              </a:spcAft>
              <a:defRPr sz="2000" b="0">
                <a:solidFill>
                  <a:srgbClr val="6C7086"/>
                </a:solidFill>
                <a:latin typeface="Segoe UI"/>
              </a:defRPr>
            </a:pPr>
            <a:r>
              <a:t>›</a:t>
            </a:r>
          </a:p>
        </p:txBody>
      </p:sp>
      <p:sp>
        <p:nvSpPr>
          <p:cNvPr id="35" name="Rounded Rectangle 34"/>
          <p:cNvSpPr/>
          <p:nvPr/>
        </p:nvSpPr>
        <p:spPr>
          <a:xfrm>
            <a:off x="8496147" y="1554480"/>
            <a:ext cx="1417320" cy="22860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496147" y="1554480"/>
            <a:ext cx="1417320" cy="45720"/>
          </a:xfrm>
          <a:prstGeom prst="rect">
            <a:avLst/>
          </a:prstGeom>
          <a:solidFill>
            <a:srgbClr val="CBA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41867" y="1691640"/>
            <a:ext cx="1325880" cy="274320"/>
          </a:xfrm>
          <a:prstGeom prst="rect">
            <a:avLst/>
          </a:prstGeom>
          <a:noFill/>
        </p:spPr>
        <p:txBody>
          <a:bodyPr wrap="square">
            <a:spAutoFit/>
          </a:bodyPr>
          <a:lstStyle/>
          <a:p>
            <a:pPr algn="ctr">
              <a:lnSpc>
                <a:spcPts val="2879"/>
              </a:lnSpc>
              <a:spcAft>
                <a:spcPts val="719"/>
              </a:spcAft>
              <a:defRPr sz="2400" b="1">
                <a:solidFill>
                  <a:srgbClr val="CBA6F7"/>
                </a:solidFill>
                <a:latin typeface="Segoe UI"/>
              </a:defRPr>
            </a:pPr>
            <a:r>
              <a:t>6</a:t>
            </a:r>
          </a:p>
        </p:txBody>
      </p:sp>
      <p:sp>
        <p:nvSpPr>
          <p:cNvPr id="38" name="TextBox 37"/>
          <p:cNvSpPr txBox="1"/>
          <p:nvPr/>
        </p:nvSpPr>
        <p:spPr>
          <a:xfrm>
            <a:off x="8541867" y="2057400"/>
            <a:ext cx="1325880" cy="640080"/>
          </a:xfrm>
          <a:prstGeom prst="rect">
            <a:avLst/>
          </a:prstGeom>
          <a:noFill/>
        </p:spPr>
        <p:txBody>
          <a:bodyPr wrap="square">
            <a:spAutoFit/>
          </a:bodyPr>
          <a:lstStyle/>
          <a:p>
            <a:pPr algn="ctr">
              <a:lnSpc>
                <a:spcPts val="1680"/>
              </a:lnSpc>
              <a:spcAft>
                <a:spcPts val="420"/>
              </a:spcAft>
              <a:defRPr sz="1400" b="1">
                <a:solidFill>
                  <a:srgbClr val="CDD6F4"/>
                </a:solidFill>
                <a:latin typeface="Segoe UI"/>
              </a:defRPr>
            </a:pPr>
            <a:r>
              <a:t>Assemble</a:t>
            </a:r>
          </a:p>
        </p:txBody>
      </p:sp>
      <p:sp>
        <p:nvSpPr>
          <p:cNvPr id="39" name="TextBox 38"/>
          <p:cNvSpPr txBox="1"/>
          <p:nvPr/>
        </p:nvSpPr>
        <p:spPr>
          <a:xfrm>
            <a:off x="8541867" y="2834640"/>
            <a:ext cx="1325880" cy="914400"/>
          </a:xfrm>
          <a:prstGeom prst="rect">
            <a:avLst/>
          </a:prstGeom>
          <a:noFill/>
        </p:spPr>
        <p:txBody>
          <a:bodyPr wrap="square">
            <a:spAutoFit/>
          </a:bodyPr>
          <a:lstStyle/>
          <a:p>
            <a:pPr algn="ctr">
              <a:lnSpc>
                <a:spcPts val="1400"/>
              </a:lnSpc>
              <a:spcAft>
                <a:spcPts val="300"/>
              </a:spcAft>
              <a:defRPr sz="1000" b="0">
                <a:solidFill>
                  <a:srgbClr val="6C7086"/>
                </a:solidFill>
                <a:latin typeface="Segoe UI"/>
              </a:defRPr>
            </a:pPr>
            <a:r>
              <a:t>Compose layers</a:t>
            </a:r>
            <a:br/>
            <a:r>
              <a:t>in order</a:t>
            </a:r>
          </a:p>
        </p:txBody>
      </p:sp>
      <p:sp>
        <p:nvSpPr>
          <p:cNvPr id="40" name="TextBox 39"/>
          <p:cNvSpPr txBox="1"/>
          <p:nvPr/>
        </p:nvSpPr>
        <p:spPr>
          <a:xfrm>
            <a:off x="9867747" y="2468880"/>
            <a:ext cx="320040" cy="274320"/>
          </a:xfrm>
          <a:prstGeom prst="rect">
            <a:avLst/>
          </a:prstGeom>
          <a:noFill/>
        </p:spPr>
        <p:txBody>
          <a:bodyPr wrap="square">
            <a:spAutoFit/>
          </a:bodyPr>
          <a:lstStyle/>
          <a:p>
            <a:pPr algn="ctr">
              <a:lnSpc>
                <a:spcPts val="2400"/>
              </a:lnSpc>
              <a:spcAft>
                <a:spcPts val="600"/>
              </a:spcAft>
              <a:defRPr sz="2000" b="0">
                <a:solidFill>
                  <a:srgbClr val="6C7086"/>
                </a:solidFill>
                <a:latin typeface="Segoe UI"/>
              </a:defRPr>
            </a:pPr>
            <a:r>
              <a:t>›</a:t>
            </a:r>
          </a:p>
        </p:txBody>
      </p:sp>
      <p:sp>
        <p:nvSpPr>
          <p:cNvPr id="41" name="Rounded Rectangle 40"/>
          <p:cNvSpPr/>
          <p:nvPr/>
        </p:nvSpPr>
        <p:spPr>
          <a:xfrm>
            <a:off x="10050627" y="1554480"/>
            <a:ext cx="1417320" cy="22860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050627" y="1554480"/>
            <a:ext cx="1417320" cy="45720"/>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96347" y="1691640"/>
            <a:ext cx="1325880" cy="274320"/>
          </a:xfrm>
          <a:prstGeom prst="rect">
            <a:avLst/>
          </a:prstGeom>
          <a:noFill/>
        </p:spPr>
        <p:txBody>
          <a:bodyPr wrap="square">
            <a:spAutoFit/>
          </a:bodyPr>
          <a:lstStyle/>
          <a:p>
            <a:pPr algn="ctr">
              <a:lnSpc>
                <a:spcPts val="2879"/>
              </a:lnSpc>
              <a:spcAft>
                <a:spcPts val="719"/>
              </a:spcAft>
              <a:defRPr sz="2400" b="1">
                <a:solidFill>
                  <a:srgbClr val="89B4FA"/>
                </a:solidFill>
                <a:latin typeface="Segoe UI"/>
              </a:defRPr>
            </a:pPr>
            <a:r>
              <a:t>7</a:t>
            </a:r>
          </a:p>
        </p:txBody>
      </p:sp>
      <p:sp>
        <p:nvSpPr>
          <p:cNvPr id="44" name="TextBox 43"/>
          <p:cNvSpPr txBox="1"/>
          <p:nvPr/>
        </p:nvSpPr>
        <p:spPr>
          <a:xfrm>
            <a:off x="10096347" y="2057400"/>
            <a:ext cx="1325880" cy="640080"/>
          </a:xfrm>
          <a:prstGeom prst="rect">
            <a:avLst/>
          </a:prstGeom>
          <a:noFill/>
        </p:spPr>
        <p:txBody>
          <a:bodyPr wrap="square">
            <a:spAutoFit/>
          </a:bodyPr>
          <a:lstStyle/>
          <a:p>
            <a:pPr algn="ctr">
              <a:lnSpc>
                <a:spcPts val="1680"/>
              </a:lnSpc>
              <a:spcAft>
                <a:spcPts val="420"/>
              </a:spcAft>
              <a:defRPr sz="1400" b="1">
                <a:solidFill>
                  <a:srgbClr val="CDD6F4"/>
                </a:solidFill>
                <a:latin typeface="Segoe UI"/>
              </a:defRPr>
            </a:pPr>
            <a:r>
              <a:t>Output</a:t>
            </a:r>
          </a:p>
        </p:txBody>
      </p:sp>
      <p:sp>
        <p:nvSpPr>
          <p:cNvPr id="45" name="TextBox 44"/>
          <p:cNvSpPr txBox="1"/>
          <p:nvPr/>
        </p:nvSpPr>
        <p:spPr>
          <a:xfrm>
            <a:off x="10096347" y="2834640"/>
            <a:ext cx="1325880" cy="914400"/>
          </a:xfrm>
          <a:prstGeom prst="rect">
            <a:avLst/>
          </a:prstGeom>
          <a:noFill/>
        </p:spPr>
        <p:txBody>
          <a:bodyPr wrap="square">
            <a:spAutoFit/>
          </a:bodyPr>
          <a:lstStyle/>
          <a:p>
            <a:pPr algn="ctr">
              <a:lnSpc>
                <a:spcPts val="1400"/>
              </a:lnSpc>
              <a:spcAft>
                <a:spcPts val="300"/>
              </a:spcAft>
              <a:defRPr sz="1000" b="0">
                <a:solidFill>
                  <a:srgbClr val="6C7086"/>
                </a:solidFill>
                <a:latin typeface="Segoe UI"/>
              </a:defRPr>
            </a:pPr>
            <a:r>
              <a:t>Write prompt file</a:t>
            </a:r>
            <a:br/>
            <a:r>
              <a:t>or execute directly</a:t>
            </a:r>
          </a:p>
        </p:txBody>
      </p:sp>
      <p:sp>
        <p:nvSpPr>
          <p:cNvPr id="46" name="Rounded Rectangle 45"/>
          <p:cNvSpPr/>
          <p:nvPr/>
        </p:nvSpPr>
        <p:spPr>
          <a:xfrm>
            <a:off x="731520" y="4206240"/>
            <a:ext cx="5212080" cy="210312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14400" y="4297680"/>
            <a:ext cx="4846320" cy="274320"/>
          </a:xfrm>
          <a:prstGeom prst="rect">
            <a:avLst/>
          </a:prstGeom>
          <a:noFill/>
        </p:spPr>
        <p:txBody>
          <a:bodyPr wrap="square">
            <a:spAutoFit/>
          </a:bodyPr>
          <a:lstStyle/>
          <a:p>
            <a:pPr algn="l">
              <a:lnSpc>
                <a:spcPts val="1800"/>
              </a:lnSpc>
              <a:spcAft>
                <a:spcPts val="450"/>
              </a:spcAft>
              <a:defRPr sz="1500" b="1">
                <a:solidFill>
                  <a:srgbClr val="89B4FA"/>
                </a:solidFill>
                <a:latin typeface="Segoe UI"/>
              </a:defRPr>
            </a:pPr>
            <a:r>
              <a:t>Single-Shot Mode (default)</a:t>
            </a:r>
          </a:p>
        </p:txBody>
      </p:sp>
      <p:sp>
        <p:nvSpPr>
          <p:cNvPr id="48" name="TextBox 47"/>
          <p:cNvSpPr txBox="1"/>
          <p:nvPr/>
        </p:nvSpPr>
        <p:spPr>
          <a:xfrm>
            <a:off x="914400" y="4663440"/>
            <a:ext cx="4846320" cy="914400"/>
          </a:xfrm>
          <a:prstGeom prst="rect">
            <a:avLst/>
          </a:prstGeom>
          <a:noFill/>
        </p:spPr>
        <p:txBody>
          <a:bodyPr wrap="square">
            <a:spAutoFit/>
          </a:bodyPr>
          <a:lstStyle/>
          <a:p>
            <a:pPr algn="l">
              <a:lnSpc>
                <a:spcPts val="1430"/>
              </a:lnSpc>
              <a:spcAft>
                <a:spcPts val="330"/>
              </a:spcAft>
              <a:defRPr sz="1100" b="0">
                <a:solidFill>
                  <a:srgbClr val="CDD6F4"/>
                </a:solidFill>
                <a:latin typeface="Cascadia Code"/>
              </a:defRPr>
            </a:pPr>
            <a:r>
              <a:t>Gather params → assemble prompt → write .md file</a:t>
            </a:r>
            <a:br/>
            <a:r>
              <a:t>User pastes into any LLM session</a:t>
            </a:r>
            <a:br/>
            <a:br/>
            <a:r>
              <a:t>Output options:</a:t>
            </a:r>
            <a:br/>
            <a:r>
              <a:t>  (a) Raw prompt file</a:t>
            </a:r>
            <a:br/>
            <a:r>
              <a:t>  (b) Agent instructions (.github/instructions/,</a:t>
            </a:r>
            <a:br/>
            <a:r>
              <a:t>       CLAUDE.md, .cursorrules)</a:t>
            </a:r>
          </a:p>
        </p:txBody>
      </p:sp>
      <p:sp>
        <p:nvSpPr>
          <p:cNvPr id="49" name="Rounded Rectangle 48"/>
          <p:cNvSpPr/>
          <p:nvPr/>
        </p:nvSpPr>
        <p:spPr>
          <a:xfrm>
            <a:off x="6217920" y="4206240"/>
            <a:ext cx="5212080" cy="210312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00800" y="4297680"/>
            <a:ext cx="4846320" cy="274320"/>
          </a:xfrm>
          <a:prstGeom prst="rect">
            <a:avLst/>
          </a:prstGeom>
          <a:noFill/>
        </p:spPr>
        <p:txBody>
          <a:bodyPr wrap="square">
            <a:spAutoFit/>
          </a:bodyPr>
          <a:lstStyle/>
          <a:p>
            <a:pPr algn="l">
              <a:lnSpc>
                <a:spcPts val="1800"/>
              </a:lnSpc>
              <a:spcAft>
                <a:spcPts val="450"/>
              </a:spcAft>
              <a:defRPr sz="1500" b="1">
                <a:solidFill>
                  <a:srgbClr val="A6E3A1"/>
                </a:solidFill>
                <a:latin typeface="Segoe UI"/>
              </a:defRPr>
            </a:pPr>
            <a:r>
              <a:t>Interactive Mode</a:t>
            </a:r>
          </a:p>
        </p:txBody>
      </p:sp>
      <p:sp>
        <p:nvSpPr>
          <p:cNvPr id="51" name="TextBox 50"/>
          <p:cNvSpPr txBox="1"/>
          <p:nvPr/>
        </p:nvSpPr>
        <p:spPr>
          <a:xfrm>
            <a:off x="6400800" y="4663440"/>
            <a:ext cx="4846320" cy="914400"/>
          </a:xfrm>
          <a:prstGeom prst="rect">
            <a:avLst/>
          </a:prstGeom>
          <a:noFill/>
        </p:spPr>
        <p:txBody>
          <a:bodyPr wrap="square">
            <a:spAutoFit/>
          </a:bodyPr>
          <a:lstStyle/>
          <a:p>
            <a:pPr algn="l">
              <a:lnSpc>
                <a:spcPts val="1430"/>
              </a:lnSpc>
              <a:spcAft>
                <a:spcPts val="330"/>
              </a:spcAft>
              <a:defRPr sz="1100" b="0">
                <a:solidFill>
                  <a:srgbClr val="CDD6F4"/>
                </a:solidFill>
                <a:latin typeface="Cascadia Code"/>
              </a:defRPr>
            </a:pPr>
            <a:r>
              <a:t>Load components → execute directly in session</a:t>
            </a:r>
            <a:br/>
            <a:r>
              <a:t>Reasoning-and-challenge phase before output</a:t>
            </a:r>
            <a:br/>
            <a:br/>
            <a:r>
              <a:t>Template declares: mode: interactive</a:t>
            </a:r>
            <a:br/>
            <a:r>
              <a:t>Used by: extend-library, interactive-design</a:t>
            </a:r>
            <a:br/>
            <a:r>
              <a:t>No file written — LLM acts on the prompt live</a:t>
            </a:r>
          </a:p>
        </p:txBody>
      </p:sp>
      <p:sp>
        <p:nvSpPr>
          <p:cNvPr id="52" name="TextBox 51"/>
          <p:cNvSpPr txBox="1"/>
          <p:nvPr/>
        </p:nvSpPr>
        <p:spPr>
          <a:xfrm>
            <a:off x="11155680" y="6492240"/>
            <a:ext cx="914400" cy="274320"/>
          </a:xfrm>
          <a:prstGeom prst="rect">
            <a:avLst/>
          </a:prstGeom>
          <a:noFill/>
        </p:spPr>
        <p:txBody>
          <a:bodyPr wrap="square">
            <a:spAutoFit/>
          </a:bodyPr>
          <a:lstStyle/>
          <a:p>
            <a:pPr algn="r">
              <a:lnSpc>
                <a:spcPts val="1200"/>
              </a:lnSpc>
              <a:spcAft>
                <a:spcPts val="300"/>
              </a:spcAft>
              <a:defRPr sz="1000" b="0">
                <a:solidFill>
                  <a:srgbClr val="6C7086"/>
                </a:solidFill>
                <a:latin typeface="Segoe UI"/>
              </a:defRPr>
            </a:pPr>
            <a:r>
              <a:t>13 / 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594360"/>
          </a:xfrm>
          <a:prstGeom prst="rect">
            <a:avLst/>
          </a:prstGeom>
          <a:noFill/>
        </p:spPr>
        <p:txBody>
          <a:bodyPr wrap="square">
            <a:spAutoFit/>
          </a:bodyPr>
          <a:lstStyle/>
          <a:p>
            <a:pPr algn="l">
              <a:lnSpc>
                <a:spcPts val="3840"/>
              </a:lnSpc>
              <a:spcAft>
                <a:spcPts val="960"/>
              </a:spcAft>
              <a:defRPr sz="3200" b="1">
                <a:solidFill>
                  <a:srgbClr val="CDD6F4"/>
                </a:solidFill>
                <a:latin typeface="Segoe UI"/>
              </a:defRPr>
            </a:pPr>
            <a:r>
              <a:t>Assembly Engine Internals</a:t>
            </a:r>
          </a:p>
        </p:txBody>
      </p:sp>
      <p:sp>
        <p:nvSpPr>
          <p:cNvPr id="4" name="TextBox 3"/>
          <p:cNvSpPr txBox="1"/>
          <p:nvPr/>
        </p:nvSpPr>
        <p:spPr>
          <a:xfrm>
            <a:off x="731520" y="868680"/>
            <a:ext cx="10058400" cy="411480"/>
          </a:xfrm>
          <a:prstGeom prst="rect">
            <a:avLst/>
          </a:prstGeom>
          <a:noFill/>
        </p:spPr>
        <p:txBody>
          <a:bodyPr wrap="square">
            <a:spAutoFit/>
          </a:bodyPr>
          <a:lstStyle/>
          <a:p>
            <a:pPr algn="l">
              <a:lnSpc>
                <a:spcPts val="1920"/>
              </a:lnSpc>
              <a:spcAft>
                <a:spcPts val="480"/>
              </a:spcAft>
              <a:defRPr sz="1600" b="0">
                <a:solidFill>
                  <a:srgbClr val="6C7086"/>
                </a:solidFill>
                <a:latin typeface="Segoe UI"/>
              </a:defRPr>
            </a:pPr>
            <a:r>
              <a:t>cli/lib/assemble.js — how the sausage is made</a:t>
            </a:r>
          </a:p>
        </p:txBody>
      </p:sp>
      <p:sp>
        <p:nvSpPr>
          <p:cNvPr id="5" name="Rounded Rectangle 4"/>
          <p:cNvSpPr/>
          <p:nvPr/>
        </p:nvSpPr>
        <p:spPr>
          <a:xfrm>
            <a:off x="731520" y="1463040"/>
            <a:ext cx="5029200" cy="86868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64008" cy="868680"/>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36192"/>
            <a:ext cx="2286000" cy="320040"/>
          </a:xfrm>
          <a:prstGeom prst="rect">
            <a:avLst/>
          </a:prstGeom>
          <a:noFill/>
        </p:spPr>
        <p:txBody>
          <a:bodyPr wrap="square">
            <a:spAutoFit/>
          </a:bodyPr>
          <a:lstStyle/>
          <a:p>
            <a:pPr algn="l">
              <a:lnSpc>
                <a:spcPts val="1920"/>
              </a:lnSpc>
              <a:spcAft>
                <a:spcPts val="480"/>
              </a:spcAft>
              <a:defRPr sz="1600" b="1">
                <a:solidFill>
                  <a:srgbClr val="89B4FA"/>
                </a:solidFill>
                <a:latin typeface="Cascadia Code"/>
              </a:defRPr>
            </a:pPr>
            <a:r>
              <a:t># Identity</a:t>
            </a:r>
          </a:p>
        </p:txBody>
      </p:sp>
      <p:sp>
        <p:nvSpPr>
          <p:cNvPr id="8" name="TextBox 7"/>
          <p:cNvSpPr txBox="1"/>
          <p:nvPr/>
        </p:nvSpPr>
        <p:spPr>
          <a:xfrm>
            <a:off x="1005840" y="1901952"/>
            <a:ext cx="4389120" cy="365760"/>
          </a:xfrm>
          <a:prstGeom prst="rect">
            <a:avLst/>
          </a:prstGeom>
          <a:noFill/>
        </p:spPr>
        <p:txBody>
          <a:bodyPr wrap="square">
            <a:spAutoFit/>
          </a:bodyPr>
          <a:lstStyle/>
          <a:p>
            <a:pPr algn="l">
              <a:lnSpc>
                <a:spcPts val="1560"/>
              </a:lnSpc>
              <a:spcAft>
                <a:spcPts val="390"/>
              </a:spcAft>
              <a:defRPr sz="1300" b="0">
                <a:solidFill>
                  <a:srgbClr val="CDD6F4"/>
                </a:solidFill>
                <a:latin typeface="Segoe UI"/>
              </a:defRPr>
            </a:pPr>
            <a:r>
              <a:t>Load persona .md, strip frontmatter</a:t>
            </a:r>
          </a:p>
        </p:txBody>
      </p:sp>
      <p:sp>
        <p:nvSpPr>
          <p:cNvPr id="9" name="TextBox 8"/>
          <p:cNvSpPr txBox="1"/>
          <p:nvPr/>
        </p:nvSpPr>
        <p:spPr>
          <a:xfrm>
            <a:off x="3017520" y="2331720"/>
            <a:ext cx="914400" cy="274320"/>
          </a:xfrm>
          <a:prstGeom prst="rect">
            <a:avLst/>
          </a:prstGeom>
          <a:noFill/>
        </p:spPr>
        <p:txBody>
          <a:bodyPr wrap="square">
            <a:spAutoFit/>
          </a:bodyPr>
          <a:lstStyle/>
          <a:p>
            <a:pPr algn="ctr">
              <a:lnSpc>
                <a:spcPts val="2160"/>
              </a:lnSpc>
              <a:spcAft>
                <a:spcPts val="540"/>
              </a:spcAft>
              <a:defRPr sz="1800" b="0">
                <a:solidFill>
                  <a:srgbClr val="6C7086"/>
                </a:solidFill>
                <a:latin typeface="Segoe UI"/>
              </a:defRPr>
            </a:pPr>
            <a:r>
              <a:t>↓</a:t>
            </a:r>
          </a:p>
        </p:txBody>
      </p:sp>
      <p:sp>
        <p:nvSpPr>
          <p:cNvPr id="10" name="Rounded Rectangle 9"/>
          <p:cNvSpPr/>
          <p:nvPr/>
        </p:nvSpPr>
        <p:spPr>
          <a:xfrm>
            <a:off x="731520" y="2514600"/>
            <a:ext cx="5029200" cy="86868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2514600"/>
            <a:ext cx="64008" cy="86868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587752"/>
            <a:ext cx="2286000" cy="320040"/>
          </a:xfrm>
          <a:prstGeom prst="rect">
            <a:avLst/>
          </a:prstGeom>
          <a:noFill/>
        </p:spPr>
        <p:txBody>
          <a:bodyPr wrap="square">
            <a:spAutoFit/>
          </a:bodyPr>
          <a:lstStyle/>
          <a:p>
            <a:pPr algn="l">
              <a:lnSpc>
                <a:spcPts val="1920"/>
              </a:lnSpc>
              <a:spcAft>
                <a:spcPts val="480"/>
              </a:spcAft>
              <a:defRPr sz="1600" b="1">
                <a:solidFill>
                  <a:srgbClr val="A6E3A1"/>
                </a:solidFill>
                <a:latin typeface="Cascadia Code"/>
              </a:defRPr>
            </a:pPr>
            <a:r>
              <a:t># Reasoning Protocols</a:t>
            </a:r>
          </a:p>
        </p:txBody>
      </p:sp>
      <p:sp>
        <p:nvSpPr>
          <p:cNvPr id="13" name="TextBox 12"/>
          <p:cNvSpPr txBox="1"/>
          <p:nvPr/>
        </p:nvSpPr>
        <p:spPr>
          <a:xfrm>
            <a:off x="1005840" y="2953512"/>
            <a:ext cx="4389120" cy="365760"/>
          </a:xfrm>
          <a:prstGeom prst="rect">
            <a:avLst/>
          </a:prstGeom>
          <a:noFill/>
        </p:spPr>
        <p:txBody>
          <a:bodyPr wrap="square">
            <a:spAutoFit/>
          </a:bodyPr>
          <a:lstStyle/>
          <a:p>
            <a:pPr algn="l">
              <a:lnSpc>
                <a:spcPts val="1560"/>
              </a:lnSpc>
              <a:spcAft>
                <a:spcPts val="390"/>
              </a:spcAft>
              <a:defRPr sz="1300" b="0">
                <a:solidFill>
                  <a:srgbClr val="CDD6F4"/>
                </a:solidFill>
                <a:latin typeface="Segoe UI"/>
              </a:defRPr>
            </a:pPr>
            <a:r>
              <a:t>Load each protocol .md, join with ---</a:t>
            </a:r>
          </a:p>
        </p:txBody>
      </p:sp>
      <p:sp>
        <p:nvSpPr>
          <p:cNvPr id="14" name="TextBox 13"/>
          <p:cNvSpPr txBox="1"/>
          <p:nvPr/>
        </p:nvSpPr>
        <p:spPr>
          <a:xfrm>
            <a:off x="3017520" y="3383280"/>
            <a:ext cx="914400" cy="274320"/>
          </a:xfrm>
          <a:prstGeom prst="rect">
            <a:avLst/>
          </a:prstGeom>
          <a:noFill/>
        </p:spPr>
        <p:txBody>
          <a:bodyPr wrap="square">
            <a:spAutoFit/>
          </a:bodyPr>
          <a:lstStyle/>
          <a:p>
            <a:pPr algn="ctr">
              <a:lnSpc>
                <a:spcPts val="2160"/>
              </a:lnSpc>
              <a:spcAft>
                <a:spcPts val="540"/>
              </a:spcAft>
              <a:defRPr sz="1800" b="0">
                <a:solidFill>
                  <a:srgbClr val="6C7086"/>
                </a:solidFill>
                <a:latin typeface="Segoe UI"/>
              </a:defRPr>
            </a:pPr>
            <a:r>
              <a:t>↓</a:t>
            </a:r>
          </a:p>
        </p:txBody>
      </p:sp>
      <p:sp>
        <p:nvSpPr>
          <p:cNvPr id="15" name="Rounded Rectangle 14"/>
          <p:cNvSpPr/>
          <p:nvPr/>
        </p:nvSpPr>
        <p:spPr>
          <a:xfrm>
            <a:off x="731520" y="3566160"/>
            <a:ext cx="5029200" cy="86868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3566160"/>
            <a:ext cx="64008" cy="868680"/>
          </a:xfrm>
          <a:prstGeom prst="rect">
            <a:avLst/>
          </a:prstGeom>
          <a:solidFill>
            <a:srgbClr val="F9E2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639312"/>
            <a:ext cx="2286000" cy="320040"/>
          </a:xfrm>
          <a:prstGeom prst="rect">
            <a:avLst/>
          </a:prstGeom>
          <a:noFill/>
        </p:spPr>
        <p:txBody>
          <a:bodyPr wrap="square">
            <a:spAutoFit/>
          </a:bodyPr>
          <a:lstStyle/>
          <a:p>
            <a:pPr algn="l">
              <a:lnSpc>
                <a:spcPts val="1920"/>
              </a:lnSpc>
              <a:spcAft>
                <a:spcPts val="480"/>
              </a:spcAft>
              <a:defRPr sz="1600" b="1">
                <a:solidFill>
                  <a:srgbClr val="F9E2AF"/>
                </a:solidFill>
                <a:latin typeface="Cascadia Code"/>
              </a:defRPr>
            </a:pPr>
            <a:r>
              <a:t># Output Format</a:t>
            </a:r>
          </a:p>
        </p:txBody>
      </p:sp>
      <p:sp>
        <p:nvSpPr>
          <p:cNvPr id="18" name="TextBox 17"/>
          <p:cNvSpPr txBox="1"/>
          <p:nvPr/>
        </p:nvSpPr>
        <p:spPr>
          <a:xfrm>
            <a:off x="1005840" y="4005072"/>
            <a:ext cx="4389120" cy="365760"/>
          </a:xfrm>
          <a:prstGeom prst="rect">
            <a:avLst/>
          </a:prstGeom>
          <a:noFill/>
        </p:spPr>
        <p:txBody>
          <a:bodyPr wrap="square">
            <a:spAutoFit/>
          </a:bodyPr>
          <a:lstStyle/>
          <a:p>
            <a:pPr algn="l">
              <a:lnSpc>
                <a:spcPts val="1560"/>
              </a:lnSpc>
              <a:spcAft>
                <a:spcPts val="390"/>
              </a:spcAft>
              <a:defRPr sz="1300" b="0">
                <a:solidFill>
                  <a:srgbClr val="CDD6F4"/>
                </a:solidFill>
                <a:latin typeface="Segoe UI"/>
              </a:defRPr>
            </a:pPr>
            <a:r>
              <a:t>Load format .md, strip frontmatter</a:t>
            </a:r>
          </a:p>
        </p:txBody>
      </p:sp>
      <p:sp>
        <p:nvSpPr>
          <p:cNvPr id="19" name="TextBox 18"/>
          <p:cNvSpPr txBox="1"/>
          <p:nvPr/>
        </p:nvSpPr>
        <p:spPr>
          <a:xfrm>
            <a:off x="3017520" y="4434840"/>
            <a:ext cx="914400" cy="274320"/>
          </a:xfrm>
          <a:prstGeom prst="rect">
            <a:avLst/>
          </a:prstGeom>
          <a:noFill/>
        </p:spPr>
        <p:txBody>
          <a:bodyPr wrap="square">
            <a:spAutoFit/>
          </a:bodyPr>
          <a:lstStyle/>
          <a:p>
            <a:pPr algn="ctr">
              <a:lnSpc>
                <a:spcPts val="2160"/>
              </a:lnSpc>
              <a:spcAft>
                <a:spcPts val="540"/>
              </a:spcAft>
              <a:defRPr sz="1800" b="0">
                <a:solidFill>
                  <a:srgbClr val="6C7086"/>
                </a:solidFill>
                <a:latin typeface="Segoe UI"/>
              </a:defRPr>
            </a:pPr>
            <a:r>
              <a:t>↓</a:t>
            </a:r>
          </a:p>
        </p:txBody>
      </p:sp>
      <p:sp>
        <p:nvSpPr>
          <p:cNvPr id="20" name="Rounded Rectangle 19"/>
          <p:cNvSpPr/>
          <p:nvPr/>
        </p:nvSpPr>
        <p:spPr>
          <a:xfrm>
            <a:off x="731520" y="4617720"/>
            <a:ext cx="5029200" cy="86868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4617720"/>
            <a:ext cx="64008" cy="868680"/>
          </a:xfrm>
          <a:prstGeom prst="rect">
            <a:avLst/>
          </a:prstGeom>
          <a:solidFill>
            <a:srgbClr val="FAB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4690872"/>
            <a:ext cx="2286000" cy="320040"/>
          </a:xfrm>
          <a:prstGeom prst="rect">
            <a:avLst/>
          </a:prstGeom>
          <a:noFill/>
        </p:spPr>
        <p:txBody>
          <a:bodyPr wrap="square">
            <a:spAutoFit/>
          </a:bodyPr>
          <a:lstStyle/>
          <a:p>
            <a:pPr algn="l">
              <a:lnSpc>
                <a:spcPts val="1920"/>
              </a:lnSpc>
              <a:spcAft>
                <a:spcPts val="480"/>
              </a:spcAft>
              <a:defRPr sz="1600" b="1">
                <a:solidFill>
                  <a:srgbClr val="FAB387"/>
                </a:solidFill>
                <a:latin typeface="Cascadia Code"/>
              </a:defRPr>
            </a:pPr>
            <a:r>
              <a:t># Task</a:t>
            </a:r>
          </a:p>
        </p:txBody>
      </p:sp>
      <p:sp>
        <p:nvSpPr>
          <p:cNvPr id="23" name="TextBox 22"/>
          <p:cNvSpPr txBox="1"/>
          <p:nvPr/>
        </p:nvSpPr>
        <p:spPr>
          <a:xfrm>
            <a:off x="1005840" y="5056632"/>
            <a:ext cx="4389120" cy="365760"/>
          </a:xfrm>
          <a:prstGeom prst="rect">
            <a:avLst/>
          </a:prstGeom>
          <a:noFill/>
        </p:spPr>
        <p:txBody>
          <a:bodyPr wrap="square">
            <a:spAutoFit/>
          </a:bodyPr>
          <a:lstStyle/>
          <a:p>
            <a:pPr algn="l">
              <a:lnSpc>
                <a:spcPts val="1560"/>
              </a:lnSpc>
              <a:spcAft>
                <a:spcPts val="390"/>
              </a:spcAft>
              <a:defRPr sz="1300" b="0">
                <a:solidFill>
                  <a:srgbClr val="CDD6F4"/>
                </a:solidFill>
                <a:latin typeface="Segoe UI"/>
              </a:defRPr>
            </a:pPr>
            <a:r>
              <a:t>Load template .md, substitute {{params}}</a:t>
            </a:r>
          </a:p>
        </p:txBody>
      </p:sp>
      <p:sp>
        <p:nvSpPr>
          <p:cNvPr id="24" name="TextBox 23"/>
          <p:cNvSpPr txBox="1"/>
          <p:nvPr/>
        </p:nvSpPr>
        <p:spPr>
          <a:xfrm>
            <a:off x="6217920" y="1463040"/>
            <a:ext cx="5029200" cy="274320"/>
          </a:xfrm>
          <a:prstGeom prst="rect">
            <a:avLst/>
          </a:prstGeom>
          <a:noFill/>
        </p:spPr>
        <p:txBody>
          <a:bodyPr wrap="square">
            <a:spAutoFit/>
          </a:bodyPr>
          <a:lstStyle/>
          <a:p>
            <a:pPr algn="l">
              <a:lnSpc>
                <a:spcPts val="2160"/>
              </a:lnSpc>
              <a:spcAft>
                <a:spcPts val="540"/>
              </a:spcAft>
              <a:defRPr sz="1800" b="1">
                <a:solidFill>
                  <a:srgbClr val="89B4FA"/>
                </a:solidFill>
                <a:latin typeface="Segoe UI"/>
              </a:defRPr>
            </a:pPr>
            <a:r>
              <a:t>Key Processing Steps</a:t>
            </a:r>
          </a:p>
        </p:txBody>
      </p:sp>
      <p:sp>
        <p:nvSpPr>
          <p:cNvPr id="25" name="TextBox 24"/>
          <p:cNvSpPr txBox="1"/>
          <p:nvPr/>
        </p:nvSpPr>
        <p:spPr>
          <a:xfrm>
            <a:off x="6217920" y="1920240"/>
            <a:ext cx="2743200" cy="228600"/>
          </a:xfrm>
          <a:prstGeom prst="rect">
            <a:avLst/>
          </a:prstGeom>
          <a:noFill/>
        </p:spPr>
        <p:txBody>
          <a:bodyPr wrap="square">
            <a:spAutoFit/>
          </a:bodyPr>
          <a:lstStyle/>
          <a:p>
            <a:pPr algn="l">
              <a:lnSpc>
                <a:spcPts val="1560"/>
              </a:lnSpc>
              <a:spcAft>
                <a:spcPts val="390"/>
              </a:spcAft>
              <a:defRPr sz="1300" b="1">
                <a:solidFill>
                  <a:srgbClr val="89B4FA"/>
                </a:solidFill>
                <a:latin typeface="Cascadia Code"/>
              </a:defRPr>
            </a:pPr>
            <a:r>
              <a:t>stripFrontmatter()</a:t>
            </a:r>
          </a:p>
        </p:txBody>
      </p:sp>
      <p:sp>
        <p:nvSpPr>
          <p:cNvPr id="26" name="TextBox 25"/>
          <p:cNvSpPr txBox="1"/>
          <p:nvPr/>
        </p:nvSpPr>
        <p:spPr>
          <a:xfrm>
            <a:off x="6217920" y="2176272"/>
            <a:ext cx="5029200" cy="502920"/>
          </a:xfrm>
          <a:prstGeom prst="rect">
            <a:avLst/>
          </a:prstGeom>
          <a:noFill/>
        </p:spPr>
        <p:txBody>
          <a:bodyPr wrap="square">
            <a:spAutoFit/>
          </a:bodyPr>
          <a:lstStyle/>
          <a:p>
            <a:pPr algn="l">
              <a:lnSpc>
                <a:spcPts val="1430"/>
              </a:lnSpc>
              <a:spcAft>
                <a:spcPts val="330"/>
              </a:spcAft>
              <a:defRPr sz="1100" b="0">
                <a:solidFill>
                  <a:srgbClr val="CDD6F4"/>
                </a:solidFill>
                <a:latin typeface="Segoe UI"/>
              </a:defRPr>
            </a:pPr>
            <a:r>
              <a:t>Removes YAML --- block from</a:t>
            </a:r>
            <a:br/>
            <a:r>
              <a:t>each component before assembly</a:t>
            </a:r>
          </a:p>
        </p:txBody>
      </p:sp>
      <p:sp>
        <p:nvSpPr>
          <p:cNvPr id="27" name="TextBox 26"/>
          <p:cNvSpPr txBox="1"/>
          <p:nvPr/>
        </p:nvSpPr>
        <p:spPr>
          <a:xfrm>
            <a:off x="6217920" y="2788920"/>
            <a:ext cx="2743200" cy="228600"/>
          </a:xfrm>
          <a:prstGeom prst="rect">
            <a:avLst/>
          </a:prstGeom>
          <a:noFill/>
        </p:spPr>
        <p:txBody>
          <a:bodyPr wrap="square">
            <a:spAutoFit/>
          </a:bodyPr>
          <a:lstStyle/>
          <a:p>
            <a:pPr algn="l">
              <a:lnSpc>
                <a:spcPts val="1560"/>
              </a:lnSpc>
              <a:spcAft>
                <a:spcPts val="390"/>
              </a:spcAft>
              <a:defRPr sz="1300" b="1">
                <a:solidFill>
                  <a:srgbClr val="A6E3A1"/>
                </a:solidFill>
                <a:latin typeface="Cascadia Code"/>
              </a:defRPr>
            </a:pPr>
            <a:r>
              <a:t>Strip HTML comments</a:t>
            </a:r>
          </a:p>
        </p:txBody>
      </p:sp>
      <p:sp>
        <p:nvSpPr>
          <p:cNvPr id="28" name="TextBox 27"/>
          <p:cNvSpPr txBox="1"/>
          <p:nvPr/>
        </p:nvSpPr>
        <p:spPr>
          <a:xfrm>
            <a:off x="6217920" y="3044952"/>
            <a:ext cx="5029200" cy="502920"/>
          </a:xfrm>
          <a:prstGeom prst="rect">
            <a:avLst/>
          </a:prstGeom>
          <a:noFill/>
        </p:spPr>
        <p:txBody>
          <a:bodyPr wrap="square">
            <a:spAutoFit/>
          </a:bodyPr>
          <a:lstStyle/>
          <a:p>
            <a:pPr algn="l">
              <a:lnSpc>
                <a:spcPts val="1430"/>
              </a:lnSpc>
              <a:spcAft>
                <a:spcPts val="330"/>
              </a:spcAft>
              <a:defRPr sz="1100" b="0">
                <a:solidFill>
                  <a:srgbClr val="CDD6F4"/>
                </a:solidFill>
                <a:latin typeface="Segoe UI"/>
              </a:defRPr>
            </a:pPr>
            <a:r>
              <a:t>Removes SPDX license headers</a:t>
            </a:r>
            <a:br/>
            <a:r>
              <a:t>(&lt;!-- ... --&gt; blocks)</a:t>
            </a:r>
          </a:p>
        </p:txBody>
      </p:sp>
      <p:sp>
        <p:nvSpPr>
          <p:cNvPr id="29" name="TextBox 28"/>
          <p:cNvSpPr txBox="1"/>
          <p:nvPr/>
        </p:nvSpPr>
        <p:spPr>
          <a:xfrm>
            <a:off x="6217920" y="3657600"/>
            <a:ext cx="2743200" cy="228600"/>
          </a:xfrm>
          <a:prstGeom prst="rect">
            <a:avLst/>
          </a:prstGeom>
          <a:noFill/>
        </p:spPr>
        <p:txBody>
          <a:bodyPr wrap="square">
            <a:spAutoFit/>
          </a:bodyPr>
          <a:lstStyle/>
          <a:p>
            <a:pPr algn="l">
              <a:lnSpc>
                <a:spcPts val="1560"/>
              </a:lnSpc>
              <a:spcAft>
                <a:spcPts val="390"/>
              </a:spcAft>
              <a:defRPr sz="1300" b="1">
                <a:solidFill>
                  <a:srgbClr val="F9E2AF"/>
                </a:solidFill>
                <a:latin typeface="Cascadia Code"/>
              </a:defRPr>
            </a:pPr>
            <a:r>
              <a:t>loadComponent()</a:t>
            </a:r>
          </a:p>
        </p:txBody>
      </p:sp>
      <p:sp>
        <p:nvSpPr>
          <p:cNvPr id="30" name="TextBox 29"/>
          <p:cNvSpPr txBox="1"/>
          <p:nvPr/>
        </p:nvSpPr>
        <p:spPr>
          <a:xfrm>
            <a:off x="6217920" y="3913632"/>
            <a:ext cx="5029200" cy="502920"/>
          </a:xfrm>
          <a:prstGeom prst="rect">
            <a:avLst/>
          </a:prstGeom>
          <a:noFill/>
        </p:spPr>
        <p:txBody>
          <a:bodyPr wrap="square">
            <a:spAutoFit/>
          </a:bodyPr>
          <a:lstStyle/>
          <a:p>
            <a:pPr algn="l">
              <a:lnSpc>
                <a:spcPts val="1430"/>
              </a:lnSpc>
              <a:spcAft>
                <a:spcPts val="330"/>
              </a:spcAft>
              <a:defRPr sz="1100" b="0">
                <a:solidFill>
                  <a:srgbClr val="CDD6F4"/>
                </a:solidFill>
                <a:latin typeface="Segoe UI"/>
              </a:defRPr>
            </a:pPr>
            <a:r>
              <a:t>Reads file, strips frontmatter +</a:t>
            </a:r>
            <a:br/>
            <a:r>
              <a:t>comments, returns clean body</a:t>
            </a:r>
          </a:p>
        </p:txBody>
      </p:sp>
      <p:sp>
        <p:nvSpPr>
          <p:cNvPr id="31" name="TextBox 30"/>
          <p:cNvSpPr txBox="1"/>
          <p:nvPr/>
        </p:nvSpPr>
        <p:spPr>
          <a:xfrm>
            <a:off x="6217920" y="4526279"/>
            <a:ext cx="2743200" cy="228600"/>
          </a:xfrm>
          <a:prstGeom prst="rect">
            <a:avLst/>
          </a:prstGeom>
          <a:noFill/>
        </p:spPr>
        <p:txBody>
          <a:bodyPr wrap="square">
            <a:spAutoFit/>
          </a:bodyPr>
          <a:lstStyle/>
          <a:p>
            <a:pPr algn="l">
              <a:lnSpc>
                <a:spcPts val="1560"/>
              </a:lnSpc>
              <a:spcAft>
                <a:spcPts val="390"/>
              </a:spcAft>
              <a:defRPr sz="1300" b="1">
                <a:solidFill>
                  <a:srgbClr val="FAB387"/>
                </a:solidFill>
                <a:latin typeface="Cascadia Code"/>
              </a:defRPr>
            </a:pPr>
            <a:r>
              <a:t>Parameter substitution</a:t>
            </a:r>
          </a:p>
        </p:txBody>
      </p:sp>
      <p:sp>
        <p:nvSpPr>
          <p:cNvPr id="32" name="TextBox 31"/>
          <p:cNvSpPr txBox="1"/>
          <p:nvPr/>
        </p:nvSpPr>
        <p:spPr>
          <a:xfrm>
            <a:off x="6217920" y="4782311"/>
            <a:ext cx="5029200" cy="502920"/>
          </a:xfrm>
          <a:prstGeom prst="rect">
            <a:avLst/>
          </a:prstGeom>
          <a:noFill/>
        </p:spPr>
        <p:txBody>
          <a:bodyPr wrap="square">
            <a:spAutoFit/>
          </a:bodyPr>
          <a:lstStyle/>
          <a:p>
            <a:pPr algn="l">
              <a:lnSpc>
                <a:spcPts val="1430"/>
              </a:lnSpc>
              <a:spcAft>
                <a:spcPts val="330"/>
              </a:spcAft>
              <a:defRPr sz="1100" b="0">
                <a:solidFill>
                  <a:srgbClr val="CDD6F4"/>
                </a:solidFill>
                <a:latin typeface="Segoe UI"/>
              </a:defRPr>
            </a:pPr>
            <a:r>
              <a:t>Simple {{key}} → value replacement</a:t>
            </a:r>
            <a:br/>
            <a:r>
              <a:t>via split/join (no recursion)</a:t>
            </a:r>
          </a:p>
        </p:txBody>
      </p:sp>
      <p:sp>
        <p:nvSpPr>
          <p:cNvPr id="33" name="TextBox 32"/>
          <p:cNvSpPr txBox="1"/>
          <p:nvPr/>
        </p:nvSpPr>
        <p:spPr>
          <a:xfrm>
            <a:off x="6217920" y="5394960"/>
            <a:ext cx="2743200" cy="228600"/>
          </a:xfrm>
          <a:prstGeom prst="rect">
            <a:avLst/>
          </a:prstGeom>
          <a:noFill/>
        </p:spPr>
        <p:txBody>
          <a:bodyPr wrap="square">
            <a:spAutoFit/>
          </a:bodyPr>
          <a:lstStyle/>
          <a:p>
            <a:pPr algn="l">
              <a:lnSpc>
                <a:spcPts val="1560"/>
              </a:lnSpc>
              <a:spcAft>
                <a:spcPts val="390"/>
              </a:spcAft>
              <a:defRPr sz="1300" b="1">
                <a:solidFill>
                  <a:srgbClr val="F38BA8"/>
                </a:solidFill>
                <a:latin typeface="Cascadia Code"/>
              </a:defRPr>
            </a:pPr>
            <a:r>
              <a:t>Section joining</a:t>
            </a:r>
          </a:p>
        </p:txBody>
      </p:sp>
      <p:sp>
        <p:nvSpPr>
          <p:cNvPr id="34" name="TextBox 33"/>
          <p:cNvSpPr txBox="1"/>
          <p:nvPr/>
        </p:nvSpPr>
        <p:spPr>
          <a:xfrm>
            <a:off x="6217920" y="5650992"/>
            <a:ext cx="5029200" cy="502920"/>
          </a:xfrm>
          <a:prstGeom prst="rect">
            <a:avLst/>
          </a:prstGeom>
          <a:noFill/>
        </p:spPr>
        <p:txBody>
          <a:bodyPr wrap="square">
            <a:spAutoFit/>
          </a:bodyPr>
          <a:lstStyle/>
          <a:p>
            <a:pPr algn="l">
              <a:lnSpc>
                <a:spcPts val="1430"/>
              </a:lnSpc>
              <a:spcAft>
                <a:spcPts val="330"/>
              </a:spcAft>
              <a:defRPr sz="1100" b="0">
                <a:solidFill>
                  <a:srgbClr val="CDD6F4"/>
                </a:solidFill>
                <a:latin typeface="Segoe UI"/>
              </a:defRPr>
            </a:pPr>
            <a:r>
              <a:t>Sections separated by markdown</a:t>
            </a:r>
            <a:br/>
            <a:r>
              <a:t>horizontal rule (---)</a:t>
            </a:r>
          </a:p>
        </p:txBody>
      </p:sp>
      <p:sp>
        <p:nvSpPr>
          <p:cNvPr id="35" name="Rounded Rectangle 34"/>
          <p:cNvSpPr/>
          <p:nvPr/>
        </p:nvSpPr>
        <p:spPr>
          <a:xfrm>
            <a:off x="731520" y="5669280"/>
            <a:ext cx="10698480" cy="73152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 y="5760720"/>
            <a:ext cx="10149840" cy="548640"/>
          </a:xfrm>
          <a:prstGeom prst="rect">
            <a:avLst/>
          </a:prstGeom>
          <a:noFill/>
        </p:spPr>
        <p:txBody>
          <a:bodyPr wrap="square">
            <a:spAutoFit/>
          </a:bodyPr>
          <a:lstStyle/>
          <a:p>
            <a:pPr algn="ctr">
              <a:lnSpc>
                <a:spcPts val="1439"/>
              </a:lnSpc>
              <a:spcAft>
                <a:spcPts val="359"/>
              </a:spcAft>
              <a:defRPr sz="1200" b="0">
                <a:solidFill>
                  <a:srgbClr val="89B4FA"/>
                </a:solidFill>
                <a:latin typeface="Cascadia Code"/>
              </a:defRPr>
            </a:pPr>
            <a:r>
              <a:t>Output: Single markdown string  →  # Identity\n---\n# Reasoning Protocols\n---\n# Output Format\n---\n# Task</a:t>
            </a:r>
          </a:p>
        </p:txBody>
      </p:sp>
      <p:sp>
        <p:nvSpPr>
          <p:cNvPr id="37" name="TextBox 36"/>
          <p:cNvSpPr txBox="1"/>
          <p:nvPr/>
        </p:nvSpPr>
        <p:spPr>
          <a:xfrm>
            <a:off x="11155680" y="6492240"/>
            <a:ext cx="914400" cy="274320"/>
          </a:xfrm>
          <a:prstGeom prst="rect">
            <a:avLst/>
          </a:prstGeom>
          <a:noFill/>
        </p:spPr>
        <p:txBody>
          <a:bodyPr wrap="square">
            <a:spAutoFit/>
          </a:bodyPr>
          <a:lstStyle/>
          <a:p>
            <a:pPr algn="r">
              <a:lnSpc>
                <a:spcPts val="1200"/>
              </a:lnSpc>
              <a:spcAft>
                <a:spcPts val="300"/>
              </a:spcAft>
              <a:defRPr sz="1000" b="0">
                <a:solidFill>
                  <a:srgbClr val="6C7086"/>
                </a:solidFill>
                <a:latin typeface="Segoe UI"/>
              </a:defRPr>
            </a:pPr>
            <a:r>
              <a:t>14 / 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594360"/>
          </a:xfrm>
          <a:prstGeom prst="rect">
            <a:avLst/>
          </a:prstGeom>
          <a:noFill/>
        </p:spPr>
        <p:txBody>
          <a:bodyPr wrap="square">
            <a:spAutoFit/>
          </a:bodyPr>
          <a:lstStyle/>
          <a:p>
            <a:pPr algn="l">
              <a:lnSpc>
                <a:spcPts val="3840"/>
              </a:lnSpc>
              <a:spcAft>
                <a:spcPts val="960"/>
              </a:spcAft>
              <a:defRPr sz="3200" b="1">
                <a:solidFill>
                  <a:srgbClr val="CDD6F4"/>
                </a:solidFill>
                <a:latin typeface="Segoe UI"/>
              </a:defRPr>
            </a:pPr>
            <a:r>
              <a:t>Pipeline Chaining: Multi-Stage Workflows</a:t>
            </a:r>
          </a:p>
        </p:txBody>
      </p:sp>
      <p:sp>
        <p:nvSpPr>
          <p:cNvPr id="4" name="TextBox 3"/>
          <p:cNvSpPr txBox="1"/>
          <p:nvPr/>
        </p:nvSpPr>
        <p:spPr>
          <a:xfrm>
            <a:off x="731520" y="868680"/>
            <a:ext cx="10058400" cy="411480"/>
          </a:xfrm>
          <a:prstGeom prst="rect">
            <a:avLst/>
          </a:prstGeom>
          <a:noFill/>
        </p:spPr>
        <p:txBody>
          <a:bodyPr wrap="square">
            <a:spAutoFit/>
          </a:bodyPr>
          <a:lstStyle/>
          <a:p>
            <a:pPr algn="l">
              <a:lnSpc>
                <a:spcPts val="1920"/>
              </a:lnSpc>
              <a:spcAft>
                <a:spcPts val="480"/>
              </a:spcAft>
              <a:defRPr sz="1600" b="0">
                <a:solidFill>
                  <a:srgbClr val="6C7086"/>
                </a:solidFill>
                <a:latin typeface="Segoe UI"/>
              </a:defRPr>
            </a:pPr>
            <a:r>
              <a:t>Templates connected by input/output contracts</a:t>
            </a:r>
          </a:p>
        </p:txBody>
      </p:sp>
      <p:sp>
        <p:nvSpPr>
          <p:cNvPr id="5" name="Rounded Rectangle 4"/>
          <p:cNvSpPr/>
          <p:nvPr/>
        </p:nvSpPr>
        <p:spPr>
          <a:xfrm>
            <a:off x="1523847" y="1554480"/>
            <a:ext cx="2560320" cy="22860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523847" y="1554480"/>
            <a:ext cx="2560320"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15287" y="1783080"/>
            <a:ext cx="2377440" cy="822960"/>
          </a:xfrm>
          <a:prstGeom prst="rect">
            <a:avLst/>
          </a:prstGeom>
          <a:noFill/>
        </p:spPr>
        <p:txBody>
          <a:bodyPr wrap="square">
            <a:spAutoFit/>
          </a:bodyPr>
          <a:lstStyle/>
          <a:p>
            <a:pPr algn="ctr">
              <a:lnSpc>
                <a:spcPts val="1920"/>
              </a:lnSpc>
              <a:spcAft>
                <a:spcPts val="480"/>
              </a:spcAft>
              <a:defRPr sz="1600" b="1">
                <a:solidFill>
                  <a:srgbClr val="CDD6F4"/>
                </a:solidFill>
                <a:latin typeface="Cascadia Code"/>
              </a:defRPr>
            </a:pPr>
            <a:r>
              <a:t>author-</a:t>
            </a:r>
            <a:br/>
            <a:r>
              <a:t>requirements-doc</a:t>
            </a:r>
          </a:p>
        </p:txBody>
      </p:sp>
      <p:sp>
        <p:nvSpPr>
          <p:cNvPr id="8" name="TextBox 7"/>
          <p:cNvSpPr txBox="1"/>
          <p:nvPr/>
        </p:nvSpPr>
        <p:spPr>
          <a:xfrm>
            <a:off x="1615287" y="2788920"/>
            <a:ext cx="2377440" cy="274320"/>
          </a:xfrm>
          <a:prstGeom prst="rect">
            <a:avLst/>
          </a:prstGeom>
          <a:noFill/>
        </p:spPr>
        <p:txBody>
          <a:bodyPr wrap="square">
            <a:spAutoFit/>
          </a:bodyPr>
          <a:lstStyle/>
          <a:p>
            <a:pPr algn="ctr">
              <a:lnSpc>
                <a:spcPts val="1439"/>
              </a:lnSpc>
              <a:spcAft>
                <a:spcPts val="359"/>
              </a:spcAft>
              <a:defRPr sz="1200" b="0">
                <a:solidFill>
                  <a:srgbClr val="6C7086"/>
                </a:solidFill>
                <a:latin typeface="Segoe UI"/>
              </a:defRPr>
            </a:pPr>
            <a:r>
              <a:t>produces ↓</a:t>
            </a:r>
          </a:p>
        </p:txBody>
      </p:sp>
      <p:sp>
        <p:nvSpPr>
          <p:cNvPr id="9" name="TextBox 8"/>
          <p:cNvSpPr txBox="1"/>
          <p:nvPr/>
        </p:nvSpPr>
        <p:spPr>
          <a:xfrm>
            <a:off x="1615287" y="3108960"/>
            <a:ext cx="2377440" cy="640080"/>
          </a:xfrm>
          <a:prstGeom prst="rect">
            <a:avLst/>
          </a:prstGeom>
          <a:noFill/>
        </p:spPr>
        <p:txBody>
          <a:bodyPr wrap="square">
            <a:spAutoFit/>
          </a:bodyPr>
          <a:lstStyle/>
          <a:p>
            <a:pPr algn="ctr">
              <a:lnSpc>
                <a:spcPts val="1680"/>
              </a:lnSpc>
              <a:spcAft>
                <a:spcPts val="420"/>
              </a:spcAft>
              <a:defRPr sz="1400" b="0">
                <a:solidFill>
                  <a:srgbClr val="89B4FA"/>
                </a:solidFill>
                <a:latin typeface="Cascadia Code"/>
              </a:defRPr>
            </a:pPr>
            <a:r>
              <a:t>requirements-</a:t>
            </a:r>
            <a:br/>
            <a:r>
              <a:t>document</a:t>
            </a:r>
          </a:p>
        </p:txBody>
      </p:sp>
      <p:sp>
        <p:nvSpPr>
          <p:cNvPr id="10" name="TextBox 9"/>
          <p:cNvSpPr txBox="1"/>
          <p:nvPr/>
        </p:nvSpPr>
        <p:spPr>
          <a:xfrm>
            <a:off x="4129887" y="2286000"/>
            <a:ext cx="731520" cy="457200"/>
          </a:xfrm>
          <a:prstGeom prst="rect">
            <a:avLst/>
          </a:prstGeom>
          <a:noFill/>
        </p:spPr>
        <p:txBody>
          <a:bodyPr wrap="square">
            <a:spAutoFit/>
          </a:bodyPr>
          <a:lstStyle/>
          <a:p>
            <a:pPr algn="ctr">
              <a:lnSpc>
                <a:spcPts val="4320"/>
              </a:lnSpc>
              <a:spcAft>
                <a:spcPts val="1080"/>
              </a:spcAft>
              <a:defRPr sz="3600" b="0">
                <a:solidFill>
                  <a:srgbClr val="6C7086"/>
                </a:solidFill>
                <a:latin typeface="Segoe UI"/>
              </a:defRPr>
            </a:pPr>
            <a:r>
              <a:t>→</a:t>
            </a:r>
          </a:p>
        </p:txBody>
      </p:sp>
      <p:sp>
        <p:nvSpPr>
          <p:cNvPr id="11" name="Rounded Rectangle 10"/>
          <p:cNvSpPr/>
          <p:nvPr/>
        </p:nvSpPr>
        <p:spPr>
          <a:xfrm>
            <a:off x="4815687" y="1554480"/>
            <a:ext cx="2560320" cy="22860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815687" y="1554480"/>
            <a:ext cx="2560320" cy="54864"/>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07127" y="1783080"/>
            <a:ext cx="2377440" cy="822960"/>
          </a:xfrm>
          <a:prstGeom prst="rect">
            <a:avLst/>
          </a:prstGeom>
          <a:noFill/>
        </p:spPr>
        <p:txBody>
          <a:bodyPr wrap="square">
            <a:spAutoFit/>
          </a:bodyPr>
          <a:lstStyle/>
          <a:p>
            <a:pPr algn="ctr">
              <a:lnSpc>
                <a:spcPts val="1920"/>
              </a:lnSpc>
              <a:spcAft>
                <a:spcPts val="480"/>
              </a:spcAft>
              <a:defRPr sz="1600" b="1">
                <a:solidFill>
                  <a:srgbClr val="CDD6F4"/>
                </a:solidFill>
                <a:latin typeface="Cascadia Code"/>
              </a:defRPr>
            </a:pPr>
            <a:r>
              <a:t>author-</a:t>
            </a:r>
            <a:br/>
            <a:r>
              <a:t>design-doc</a:t>
            </a:r>
          </a:p>
        </p:txBody>
      </p:sp>
      <p:sp>
        <p:nvSpPr>
          <p:cNvPr id="14" name="TextBox 13"/>
          <p:cNvSpPr txBox="1"/>
          <p:nvPr/>
        </p:nvSpPr>
        <p:spPr>
          <a:xfrm>
            <a:off x="4907127" y="2788920"/>
            <a:ext cx="2377440" cy="274320"/>
          </a:xfrm>
          <a:prstGeom prst="rect">
            <a:avLst/>
          </a:prstGeom>
          <a:noFill/>
        </p:spPr>
        <p:txBody>
          <a:bodyPr wrap="square">
            <a:spAutoFit/>
          </a:bodyPr>
          <a:lstStyle/>
          <a:p>
            <a:pPr algn="ctr">
              <a:lnSpc>
                <a:spcPts val="1439"/>
              </a:lnSpc>
              <a:spcAft>
                <a:spcPts val="359"/>
              </a:spcAft>
              <a:defRPr sz="1200" b="0">
                <a:solidFill>
                  <a:srgbClr val="6C7086"/>
                </a:solidFill>
                <a:latin typeface="Segoe UI"/>
              </a:defRPr>
            </a:pPr>
            <a:r>
              <a:t>produces ↓</a:t>
            </a:r>
          </a:p>
        </p:txBody>
      </p:sp>
      <p:sp>
        <p:nvSpPr>
          <p:cNvPr id="15" name="TextBox 14"/>
          <p:cNvSpPr txBox="1"/>
          <p:nvPr/>
        </p:nvSpPr>
        <p:spPr>
          <a:xfrm>
            <a:off x="4907127" y="3108960"/>
            <a:ext cx="2377440" cy="640080"/>
          </a:xfrm>
          <a:prstGeom prst="rect">
            <a:avLst/>
          </a:prstGeom>
          <a:noFill/>
        </p:spPr>
        <p:txBody>
          <a:bodyPr wrap="square">
            <a:spAutoFit/>
          </a:bodyPr>
          <a:lstStyle/>
          <a:p>
            <a:pPr algn="ctr">
              <a:lnSpc>
                <a:spcPts val="1680"/>
              </a:lnSpc>
              <a:spcAft>
                <a:spcPts val="420"/>
              </a:spcAft>
              <a:defRPr sz="1400" b="0">
                <a:solidFill>
                  <a:srgbClr val="A6E3A1"/>
                </a:solidFill>
                <a:latin typeface="Cascadia Code"/>
              </a:defRPr>
            </a:pPr>
            <a:r>
              <a:t>design-</a:t>
            </a:r>
            <a:br/>
            <a:r>
              <a:t>document</a:t>
            </a:r>
          </a:p>
        </p:txBody>
      </p:sp>
      <p:sp>
        <p:nvSpPr>
          <p:cNvPr id="16" name="TextBox 15"/>
          <p:cNvSpPr txBox="1"/>
          <p:nvPr/>
        </p:nvSpPr>
        <p:spPr>
          <a:xfrm>
            <a:off x="7421727" y="2286000"/>
            <a:ext cx="731520" cy="457200"/>
          </a:xfrm>
          <a:prstGeom prst="rect">
            <a:avLst/>
          </a:prstGeom>
          <a:noFill/>
        </p:spPr>
        <p:txBody>
          <a:bodyPr wrap="square">
            <a:spAutoFit/>
          </a:bodyPr>
          <a:lstStyle/>
          <a:p>
            <a:pPr algn="ctr">
              <a:lnSpc>
                <a:spcPts val="4320"/>
              </a:lnSpc>
              <a:spcAft>
                <a:spcPts val="1080"/>
              </a:spcAft>
              <a:defRPr sz="3600" b="0">
                <a:solidFill>
                  <a:srgbClr val="6C7086"/>
                </a:solidFill>
                <a:latin typeface="Segoe UI"/>
              </a:defRPr>
            </a:pPr>
            <a:r>
              <a:t>→</a:t>
            </a:r>
          </a:p>
        </p:txBody>
      </p:sp>
      <p:sp>
        <p:nvSpPr>
          <p:cNvPr id="17" name="Rounded Rectangle 16"/>
          <p:cNvSpPr/>
          <p:nvPr/>
        </p:nvSpPr>
        <p:spPr>
          <a:xfrm>
            <a:off x="8107527" y="1554480"/>
            <a:ext cx="2560320" cy="22860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07527" y="1554480"/>
            <a:ext cx="2560320" cy="54864"/>
          </a:xfrm>
          <a:prstGeom prst="rect">
            <a:avLst/>
          </a:prstGeom>
          <a:solidFill>
            <a:srgbClr val="F9E2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98967" y="1783080"/>
            <a:ext cx="2377440" cy="822960"/>
          </a:xfrm>
          <a:prstGeom prst="rect">
            <a:avLst/>
          </a:prstGeom>
          <a:noFill/>
        </p:spPr>
        <p:txBody>
          <a:bodyPr wrap="square">
            <a:spAutoFit/>
          </a:bodyPr>
          <a:lstStyle/>
          <a:p>
            <a:pPr algn="ctr">
              <a:lnSpc>
                <a:spcPts val="1920"/>
              </a:lnSpc>
              <a:spcAft>
                <a:spcPts val="480"/>
              </a:spcAft>
              <a:defRPr sz="1600" b="1">
                <a:solidFill>
                  <a:srgbClr val="CDD6F4"/>
                </a:solidFill>
                <a:latin typeface="Cascadia Code"/>
              </a:defRPr>
            </a:pPr>
            <a:r>
              <a:t>author-</a:t>
            </a:r>
            <a:br/>
            <a:r>
              <a:t>validation-plan</a:t>
            </a:r>
          </a:p>
        </p:txBody>
      </p:sp>
      <p:sp>
        <p:nvSpPr>
          <p:cNvPr id="20" name="TextBox 19"/>
          <p:cNvSpPr txBox="1"/>
          <p:nvPr/>
        </p:nvSpPr>
        <p:spPr>
          <a:xfrm>
            <a:off x="8198967" y="2788920"/>
            <a:ext cx="2377440" cy="274320"/>
          </a:xfrm>
          <a:prstGeom prst="rect">
            <a:avLst/>
          </a:prstGeom>
          <a:noFill/>
        </p:spPr>
        <p:txBody>
          <a:bodyPr wrap="square">
            <a:spAutoFit/>
          </a:bodyPr>
          <a:lstStyle/>
          <a:p>
            <a:pPr algn="ctr">
              <a:lnSpc>
                <a:spcPts val="1439"/>
              </a:lnSpc>
              <a:spcAft>
                <a:spcPts val="359"/>
              </a:spcAft>
              <a:defRPr sz="1200" b="0">
                <a:solidFill>
                  <a:srgbClr val="6C7086"/>
                </a:solidFill>
                <a:latin typeface="Segoe UI"/>
              </a:defRPr>
            </a:pPr>
            <a:r>
              <a:t>produces ↓</a:t>
            </a:r>
          </a:p>
        </p:txBody>
      </p:sp>
      <p:sp>
        <p:nvSpPr>
          <p:cNvPr id="21" name="TextBox 20"/>
          <p:cNvSpPr txBox="1"/>
          <p:nvPr/>
        </p:nvSpPr>
        <p:spPr>
          <a:xfrm>
            <a:off x="8198967" y="3108960"/>
            <a:ext cx="2377440" cy="640080"/>
          </a:xfrm>
          <a:prstGeom prst="rect">
            <a:avLst/>
          </a:prstGeom>
          <a:noFill/>
        </p:spPr>
        <p:txBody>
          <a:bodyPr wrap="square">
            <a:spAutoFit/>
          </a:bodyPr>
          <a:lstStyle/>
          <a:p>
            <a:pPr algn="ctr">
              <a:lnSpc>
                <a:spcPts val="1680"/>
              </a:lnSpc>
              <a:spcAft>
                <a:spcPts val="420"/>
              </a:spcAft>
              <a:defRPr sz="1400" b="0">
                <a:solidFill>
                  <a:srgbClr val="F9E2AF"/>
                </a:solidFill>
                <a:latin typeface="Cascadia Code"/>
              </a:defRPr>
            </a:pPr>
            <a:r>
              <a:t>validation-</a:t>
            </a:r>
            <a:br/>
            <a:r>
              <a:t>plan</a:t>
            </a:r>
          </a:p>
        </p:txBody>
      </p:sp>
      <p:sp>
        <p:nvSpPr>
          <p:cNvPr id="22" name="Rounded Rectangle 21"/>
          <p:cNvSpPr/>
          <p:nvPr/>
        </p:nvSpPr>
        <p:spPr>
          <a:xfrm>
            <a:off x="731520" y="4206240"/>
            <a:ext cx="10698480" cy="219456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4297680"/>
            <a:ext cx="4572000" cy="274320"/>
          </a:xfrm>
          <a:prstGeom prst="rect">
            <a:avLst/>
          </a:prstGeom>
          <a:noFill/>
        </p:spPr>
        <p:txBody>
          <a:bodyPr wrap="square">
            <a:spAutoFit/>
          </a:bodyPr>
          <a:lstStyle/>
          <a:p>
            <a:pPr algn="l">
              <a:lnSpc>
                <a:spcPts val="1920"/>
              </a:lnSpc>
              <a:spcAft>
                <a:spcPts val="480"/>
              </a:spcAft>
              <a:defRPr sz="1600" b="1">
                <a:solidFill>
                  <a:srgbClr val="89B4FA"/>
                </a:solidFill>
                <a:latin typeface="Segoe UI"/>
              </a:defRPr>
            </a:pPr>
            <a:r>
              <a:t>How contracts work:</a:t>
            </a:r>
          </a:p>
        </p:txBody>
      </p:sp>
      <p:sp>
        <p:nvSpPr>
          <p:cNvPr id="24" name="TextBox 23"/>
          <p:cNvSpPr txBox="1"/>
          <p:nvPr/>
        </p:nvSpPr>
        <p:spPr>
          <a:xfrm>
            <a:off x="1005840" y="4709160"/>
            <a:ext cx="365760" cy="274320"/>
          </a:xfrm>
          <a:prstGeom prst="rect">
            <a:avLst/>
          </a:prstGeom>
          <a:noFill/>
        </p:spPr>
        <p:txBody>
          <a:bodyPr wrap="square">
            <a:spAutoFit/>
          </a:bodyPr>
          <a:lstStyle/>
          <a:p>
            <a:pPr algn="l">
              <a:lnSpc>
                <a:spcPts val="1439"/>
              </a:lnSpc>
              <a:spcAft>
                <a:spcPts val="359"/>
              </a:spcAft>
              <a:defRPr sz="1200" b="1">
                <a:solidFill>
                  <a:srgbClr val="89B4FA"/>
                </a:solidFill>
                <a:latin typeface="Segoe UI"/>
              </a:defRPr>
            </a:pPr>
            <a:r>
              <a:t>1.</a:t>
            </a:r>
          </a:p>
        </p:txBody>
      </p:sp>
      <p:sp>
        <p:nvSpPr>
          <p:cNvPr id="25" name="TextBox 24"/>
          <p:cNvSpPr txBox="1"/>
          <p:nvPr/>
        </p:nvSpPr>
        <p:spPr>
          <a:xfrm>
            <a:off x="1371600" y="4709160"/>
            <a:ext cx="2011680" cy="274320"/>
          </a:xfrm>
          <a:prstGeom prst="rect">
            <a:avLst/>
          </a:prstGeom>
          <a:noFill/>
        </p:spPr>
        <p:txBody>
          <a:bodyPr wrap="square">
            <a:spAutoFit/>
          </a:bodyPr>
          <a:lstStyle/>
          <a:p>
            <a:pPr algn="l">
              <a:lnSpc>
                <a:spcPts val="1439"/>
              </a:lnSpc>
              <a:spcAft>
                <a:spcPts val="359"/>
              </a:spcAft>
              <a:defRPr sz="1200" b="0">
                <a:solidFill>
                  <a:srgbClr val="CDD6F4"/>
                </a:solidFill>
                <a:latin typeface="Segoe UI"/>
              </a:defRPr>
            </a:pPr>
            <a:r>
              <a:t>Template declares</a:t>
            </a:r>
          </a:p>
        </p:txBody>
      </p:sp>
      <p:sp>
        <p:nvSpPr>
          <p:cNvPr id="26" name="TextBox 25"/>
          <p:cNvSpPr txBox="1"/>
          <p:nvPr/>
        </p:nvSpPr>
        <p:spPr>
          <a:xfrm>
            <a:off x="3474720" y="4709160"/>
            <a:ext cx="7589520" cy="274320"/>
          </a:xfrm>
          <a:prstGeom prst="rect">
            <a:avLst/>
          </a:prstGeom>
          <a:noFill/>
        </p:spPr>
        <p:txBody>
          <a:bodyPr wrap="square">
            <a:spAutoFit/>
          </a:bodyPr>
          <a:lstStyle/>
          <a:p>
            <a:pPr algn="l">
              <a:lnSpc>
                <a:spcPts val="1320"/>
              </a:lnSpc>
              <a:spcAft>
                <a:spcPts val="330"/>
              </a:spcAft>
              <a:defRPr sz="1100" b="0">
                <a:solidFill>
                  <a:srgbClr val="6C7086"/>
                </a:solidFill>
                <a:latin typeface="Cascadia Code"/>
              </a:defRPr>
            </a:pPr>
            <a:r>
              <a:t>output_contract: { type: requirements-document }</a:t>
            </a:r>
          </a:p>
        </p:txBody>
      </p:sp>
      <p:sp>
        <p:nvSpPr>
          <p:cNvPr id="27" name="TextBox 26"/>
          <p:cNvSpPr txBox="1"/>
          <p:nvPr/>
        </p:nvSpPr>
        <p:spPr>
          <a:xfrm>
            <a:off x="1005840" y="5029200"/>
            <a:ext cx="365760" cy="274320"/>
          </a:xfrm>
          <a:prstGeom prst="rect">
            <a:avLst/>
          </a:prstGeom>
          <a:noFill/>
        </p:spPr>
        <p:txBody>
          <a:bodyPr wrap="square">
            <a:spAutoFit/>
          </a:bodyPr>
          <a:lstStyle/>
          <a:p>
            <a:pPr algn="l">
              <a:lnSpc>
                <a:spcPts val="1439"/>
              </a:lnSpc>
              <a:spcAft>
                <a:spcPts val="359"/>
              </a:spcAft>
              <a:defRPr sz="1200" b="1">
                <a:solidFill>
                  <a:srgbClr val="A6E3A1"/>
                </a:solidFill>
                <a:latin typeface="Segoe UI"/>
              </a:defRPr>
            </a:pPr>
            <a:r>
              <a:t>2.</a:t>
            </a:r>
          </a:p>
        </p:txBody>
      </p:sp>
      <p:sp>
        <p:nvSpPr>
          <p:cNvPr id="28" name="TextBox 27"/>
          <p:cNvSpPr txBox="1"/>
          <p:nvPr/>
        </p:nvSpPr>
        <p:spPr>
          <a:xfrm>
            <a:off x="1371600" y="5029200"/>
            <a:ext cx="2011680" cy="274320"/>
          </a:xfrm>
          <a:prstGeom prst="rect">
            <a:avLst/>
          </a:prstGeom>
          <a:noFill/>
        </p:spPr>
        <p:txBody>
          <a:bodyPr wrap="square">
            <a:spAutoFit/>
          </a:bodyPr>
          <a:lstStyle/>
          <a:p>
            <a:pPr algn="l">
              <a:lnSpc>
                <a:spcPts val="1439"/>
              </a:lnSpc>
              <a:spcAft>
                <a:spcPts val="359"/>
              </a:spcAft>
              <a:defRPr sz="1200" b="0">
                <a:solidFill>
                  <a:srgbClr val="CDD6F4"/>
                </a:solidFill>
                <a:latin typeface="Segoe UI"/>
              </a:defRPr>
            </a:pPr>
            <a:r>
              <a:t>Next template declares</a:t>
            </a:r>
          </a:p>
        </p:txBody>
      </p:sp>
      <p:sp>
        <p:nvSpPr>
          <p:cNvPr id="29" name="TextBox 28"/>
          <p:cNvSpPr txBox="1"/>
          <p:nvPr/>
        </p:nvSpPr>
        <p:spPr>
          <a:xfrm>
            <a:off x="3474720" y="5029200"/>
            <a:ext cx="7589520" cy="274320"/>
          </a:xfrm>
          <a:prstGeom prst="rect">
            <a:avLst/>
          </a:prstGeom>
          <a:noFill/>
        </p:spPr>
        <p:txBody>
          <a:bodyPr wrap="square">
            <a:spAutoFit/>
          </a:bodyPr>
          <a:lstStyle/>
          <a:p>
            <a:pPr algn="l">
              <a:lnSpc>
                <a:spcPts val="1320"/>
              </a:lnSpc>
              <a:spcAft>
                <a:spcPts val="330"/>
              </a:spcAft>
              <a:defRPr sz="1100" b="0">
                <a:solidFill>
                  <a:srgbClr val="6C7086"/>
                </a:solidFill>
                <a:latin typeface="Cascadia Code"/>
              </a:defRPr>
            </a:pPr>
            <a:r>
              <a:t>input_contract: { type: requirements-document }</a:t>
            </a:r>
          </a:p>
        </p:txBody>
      </p:sp>
      <p:sp>
        <p:nvSpPr>
          <p:cNvPr id="30" name="TextBox 29"/>
          <p:cNvSpPr txBox="1"/>
          <p:nvPr/>
        </p:nvSpPr>
        <p:spPr>
          <a:xfrm>
            <a:off x="1005840" y="5349240"/>
            <a:ext cx="365760" cy="274320"/>
          </a:xfrm>
          <a:prstGeom prst="rect">
            <a:avLst/>
          </a:prstGeom>
          <a:noFill/>
        </p:spPr>
        <p:txBody>
          <a:bodyPr wrap="square">
            <a:spAutoFit/>
          </a:bodyPr>
          <a:lstStyle/>
          <a:p>
            <a:pPr algn="l">
              <a:lnSpc>
                <a:spcPts val="1439"/>
              </a:lnSpc>
              <a:spcAft>
                <a:spcPts val="359"/>
              </a:spcAft>
              <a:defRPr sz="1200" b="1">
                <a:solidFill>
                  <a:srgbClr val="F9E2AF"/>
                </a:solidFill>
                <a:latin typeface="Segoe UI"/>
              </a:defRPr>
            </a:pPr>
            <a:r>
              <a:t>3.</a:t>
            </a:r>
          </a:p>
        </p:txBody>
      </p:sp>
      <p:sp>
        <p:nvSpPr>
          <p:cNvPr id="31" name="TextBox 30"/>
          <p:cNvSpPr txBox="1"/>
          <p:nvPr/>
        </p:nvSpPr>
        <p:spPr>
          <a:xfrm>
            <a:off x="1371600" y="5349240"/>
            <a:ext cx="2011680" cy="274320"/>
          </a:xfrm>
          <a:prstGeom prst="rect">
            <a:avLst/>
          </a:prstGeom>
          <a:noFill/>
        </p:spPr>
        <p:txBody>
          <a:bodyPr wrap="square">
            <a:spAutoFit/>
          </a:bodyPr>
          <a:lstStyle/>
          <a:p>
            <a:pPr algn="l">
              <a:lnSpc>
                <a:spcPts val="1439"/>
              </a:lnSpc>
              <a:spcAft>
                <a:spcPts val="359"/>
              </a:spcAft>
              <a:defRPr sz="1200" b="0">
                <a:solidFill>
                  <a:srgbClr val="CDD6F4"/>
                </a:solidFill>
                <a:latin typeface="Segoe UI"/>
              </a:defRPr>
            </a:pPr>
            <a:r>
              <a:t>Manifest defines pipeline</a:t>
            </a:r>
          </a:p>
        </p:txBody>
      </p:sp>
      <p:sp>
        <p:nvSpPr>
          <p:cNvPr id="32" name="TextBox 31"/>
          <p:cNvSpPr txBox="1"/>
          <p:nvPr/>
        </p:nvSpPr>
        <p:spPr>
          <a:xfrm>
            <a:off x="3474720" y="5349240"/>
            <a:ext cx="7589520" cy="274320"/>
          </a:xfrm>
          <a:prstGeom prst="rect">
            <a:avLst/>
          </a:prstGeom>
          <a:noFill/>
        </p:spPr>
        <p:txBody>
          <a:bodyPr wrap="square">
            <a:spAutoFit/>
          </a:bodyPr>
          <a:lstStyle/>
          <a:p>
            <a:pPr algn="l">
              <a:lnSpc>
                <a:spcPts val="1320"/>
              </a:lnSpc>
              <a:spcAft>
                <a:spcPts val="330"/>
              </a:spcAft>
              <a:defRPr sz="1100" b="0">
                <a:solidFill>
                  <a:srgbClr val="6C7086"/>
                </a:solidFill>
                <a:latin typeface="Cascadia Code"/>
              </a:defRPr>
            </a:pPr>
            <a:r>
              <a:t>stages: [{produces: ...}, {consumes: ..., produces: ...}]</a:t>
            </a:r>
          </a:p>
        </p:txBody>
      </p:sp>
      <p:sp>
        <p:nvSpPr>
          <p:cNvPr id="33" name="TextBox 32"/>
          <p:cNvSpPr txBox="1"/>
          <p:nvPr/>
        </p:nvSpPr>
        <p:spPr>
          <a:xfrm>
            <a:off x="1005840" y="5669280"/>
            <a:ext cx="365760" cy="274320"/>
          </a:xfrm>
          <a:prstGeom prst="rect">
            <a:avLst/>
          </a:prstGeom>
          <a:noFill/>
        </p:spPr>
        <p:txBody>
          <a:bodyPr wrap="square">
            <a:spAutoFit/>
          </a:bodyPr>
          <a:lstStyle/>
          <a:p>
            <a:pPr algn="l">
              <a:lnSpc>
                <a:spcPts val="1439"/>
              </a:lnSpc>
              <a:spcAft>
                <a:spcPts val="359"/>
              </a:spcAft>
              <a:defRPr sz="1200" b="1">
                <a:solidFill>
                  <a:srgbClr val="FAB387"/>
                </a:solidFill>
                <a:latin typeface="Segoe UI"/>
              </a:defRPr>
            </a:pPr>
            <a:r>
              <a:t>4.</a:t>
            </a:r>
          </a:p>
        </p:txBody>
      </p:sp>
      <p:sp>
        <p:nvSpPr>
          <p:cNvPr id="34" name="TextBox 33"/>
          <p:cNvSpPr txBox="1"/>
          <p:nvPr/>
        </p:nvSpPr>
        <p:spPr>
          <a:xfrm>
            <a:off x="1371600" y="5669280"/>
            <a:ext cx="2011680" cy="274320"/>
          </a:xfrm>
          <a:prstGeom prst="rect">
            <a:avLst/>
          </a:prstGeom>
          <a:noFill/>
        </p:spPr>
        <p:txBody>
          <a:bodyPr wrap="square">
            <a:spAutoFit/>
          </a:bodyPr>
          <a:lstStyle/>
          <a:p>
            <a:pPr algn="l">
              <a:lnSpc>
                <a:spcPts val="1439"/>
              </a:lnSpc>
              <a:spcAft>
                <a:spcPts val="359"/>
              </a:spcAft>
              <a:defRPr sz="1200" b="0">
                <a:solidFill>
                  <a:srgbClr val="CDD6F4"/>
                </a:solidFill>
                <a:latin typeface="Segoe UI"/>
              </a:defRPr>
            </a:pPr>
            <a:r>
              <a:t>Bootstrap validates</a:t>
            </a:r>
          </a:p>
        </p:txBody>
      </p:sp>
      <p:sp>
        <p:nvSpPr>
          <p:cNvPr id="35" name="TextBox 34"/>
          <p:cNvSpPr txBox="1"/>
          <p:nvPr/>
        </p:nvSpPr>
        <p:spPr>
          <a:xfrm>
            <a:off x="3474720" y="5669280"/>
            <a:ext cx="7589520" cy="274320"/>
          </a:xfrm>
          <a:prstGeom prst="rect">
            <a:avLst/>
          </a:prstGeom>
          <a:noFill/>
        </p:spPr>
        <p:txBody>
          <a:bodyPr wrap="square">
            <a:spAutoFit/>
          </a:bodyPr>
          <a:lstStyle/>
          <a:p>
            <a:pPr algn="l">
              <a:lnSpc>
                <a:spcPts val="1320"/>
              </a:lnSpc>
              <a:spcAft>
                <a:spcPts val="330"/>
              </a:spcAft>
              <a:defRPr sz="1100" b="0">
                <a:solidFill>
                  <a:srgbClr val="6C7086"/>
                </a:solidFill>
                <a:latin typeface="Cascadia Code"/>
              </a:defRPr>
            </a:pPr>
            <a:r>
              <a:t>Previous output matches next input before offering template</a:t>
            </a:r>
          </a:p>
        </p:txBody>
      </p:sp>
      <p:sp>
        <p:nvSpPr>
          <p:cNvPr id="36" name="TextBox 35"/>
          <p:cNvSpPr txBox="1"/>
          <p:nvPr/>
        </p:nvSpPr>
        <p:spPr>
          <a:xfrm>
            <a:off x="1005840" y="5989320"/>
            <a:ext cx="365760" cy="274320"/>
          </a:xfrm>
          <a:prstGeom prst="rect">
            <a:avLst/>
          </a:prstGeom>
          <a:noFill/>
        </p:spPr>
        <p:txBody>
          <a:bodyPr wrap="square">
            <a:spAutoFit/>
          </a:bodyPr>
          <a:lstStyle/>
          <a:p>
            <a:pPr algn="l">
              <a:lnSpc>
                <a:spcPts val="1439"/>
              </a:lnSpc>
              <a:spcAft>
                <a:spcPts val="359"/>
              </a:spcAft>
              <a:defRPr sz="1200" b="1">
                <a:solidFill>
                  <a:srgbClr val="F38BA8"/>
                </a:solidFill>
                <a:latin typeface="Segoe UI"/>
              </a:defRPr>
            </a:pPr>
            <a:r>
              <a:t>5.</a:t>
            </a:r>
          </a:p>
        </p:txBody>
      </p:sp>
      <p:sp>
        <p:nvSpPr>
          <p:cNvPr id="37" name="TextBox 36"/>
          <p:cNvSpPr txBox="1"/>
          <p:nvPr/>
        </p:nvSpPr>
        <p:spPr>
          <a:xfrm>
            <a:off x="1371600" y="5989320"/>
            <a:ext cx="2011680" cy="274320"/>
          </a:xfrm>
          <a:prstGeom prst="rect">
            <a:avLst/>
          </a:prstGeom>
          <a:noFill/>
        </p:spPr>
        <p:txBody>
          <a:bodyPr wrap="square">
            <a:spAutoFit/>
          </a:bodyPr>
          <a:lstStyle/>
          <a:p>
            <a:pPr algn="l">
              <a:lnSpc>
                <a:spcPts val="1439"/>
              </a:lnSpc>
              <a:spcAft>
                <a:spcPts val="359"/>
              </a:spcAft>
              <a:defRPr sz="1200" b="0">
                <a:solidFill>
                  <a:srgbClr val="CDD6F4"/>
                </a:solidFill>
                <a:latin typeface="Segoe UI"/>
              </a:defRPr>
            </a:pPr>
            <a:r>
              <a:t>Artifacts flow forward</a:t>
            </a:r>
          </a:p>
        </p:txBody>
      </p:sp>
      <p:sp>
        <p:nvSpPr>
          <p:cNvPr id="38" name="TextBox 37"/>
          <p:cNvSpPr txBox="1"/>
          <p:nvPr/>
        </p:nvSpPr>
        <p:spPr>
          <a:xfrm>
            <a:off x="3474720" y="5989320"/>
            <a:ext cx="7589520" cy="274320"/>
          </a:xfrm>
          <a:prstGeom prst="rect">
            <a:avLst/>
          </a:prstGeom>
          <a:noFill/>
        </p:spPr>
        <p:txBody>
          <a:bodyPr wrap="square">
            <a:spAutoFit/>
          </a:bodyPr>
          <a:lstStyle/>
          <a:p>
            <a:pPr algn="l">
              <a:lnSpc>
                <a:spcPts val="1320"/>
              </a:lnSpc>
              <a:spcAft>
                <a:spcPts val="330"/>
              </a:spcAft>
              <a:defRPr sz="1100" b="0">
                <a:solidFill>
                  <a:srgbClr val="6C7086"/>
                </a:solidFill>
                <a:latin typeface="Cascadia Code"/>
              </a:defRPr>
            </a:pPr>
            <a:r>
              <a:t>Output of stage N becomes input parameter of stage N+1</a:t>
            </a:r>
          </a:p>
        </p:txBody>
      </p:sp>
      <p:sp>
        <p:nvSpPr>
          <p:cNvPr id="39" name="TextBox 38"/>
          <p:cNvSpPr txBox="1"/>
          <p:nvPr/>
        </p:nvSpPr>
        <p:spPr>
          <a:xfrm>
            <a:off x="11155680" y="6492240"/>
            <a:ext cx="914400" cy="274320"/>
          </a:xfrm>
          <a:prstGeom prst="rect">
            <a:avLst/>
          </a:prstGeom>
          <a:noFill/>
        </p:spPr>
        <p:txBody>
          <a:bodyPr wrap="square">
            <a:spAutoFit/>
          </a:bodyPr>
          <a:lstStyle/>
          <a:p>
            <a:pPr algn="r">
              <a:lnSpc>
                <a:spcPts val="1200"/>
              </a:lnSpc>
              <a:spcAft>
                <a:spcPts val="300"/>
              </a:spcAft>
              <a:defRPr sz="1000" b="0">
                <a:solidFill>
                  <a:srgbClr val="6C7086"/>
                </a:solidFill>
                <a:latin typeface="Segoe UI"/>
              </a:defRPr>
            </a:pPr>
            <a:r>
              <a:t>15 / 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594360"/>
          </a:xfrm>
          <a:prstGeom prst="rect">
            <a:avLst/>
          </a:prstGeom>
          <a:noFill/>
        </p:spPr>
        <p:txBody>
          <a:bodyPr wrap="square">
            <a:spAutoFit/>
          </a:bodyPr>
          <a:lstStyle/>
          <a:p>
            <a:pPr algn="l">
              <a:lnSpc>
                <a:spcPts val="3840"/>
              </a:lnSpc>
              <a:spcAft>
                <a:spcPts val="960"/>
              </a:spcAft>
              <a:defRPr sz="3200" b="1">
                <a:solidFill>
                  <a:srgbClr val="CDD6F4"/>
                </a:solidFill>
                <a:latin typeface="Segoe UI"/>
              </a:defRPr>
            </a:pPr>
            <a:r>
              <a:t>Testing: Reference Comparison Methodology</a:t>
            </a:r>
          </a:p>
        </p:txBody>
      </p:sp>
      <p:sp>
        <p:nvSpPr>
          <p:cNvPr id="4" name="TextBox 3"/>
          <p:cNvSpPr txBox="1"/>
          <p:nvPr/>
        </p:nvSpPr>
        <p:spPr>
          <a:xfrm>
            <a:off x="731520" y="868680"/>
            <a:ext cx="10058400" cy="411480"/>
          </a:xfrm>
          <a:prstGeom prst="rect">
            <a:avLst/>
          </a:prstGeom>
          <a:noFill/>
        </p:spPr>
        <p:txBody>
          <a:bodyPr wrap="square">
            <a:spAutoFit/>
          </a:bodyPr>
          <a:lstStyle/>
          <a:p>
            <a:pPr algn="l">
              <a:lnSpc>
                <a:spcPts val="1920"/>
              </a:lnSpc>
              <a:spcAft>
                <a:spcPts val="480"/>
              </a:spcAft>
              <a:defRPr sz="1600" b="0">
                <a:solidFill>
                  <a:srgbClr val="6C7086"/>
                </a:solidFill>
                <a:latin typeface="Segoe UI"/>
              </a:defRPr>
            </a:pPr>
            <a:r>
              <a:t>How do you test prompts? Compare against known-good references.</a:t>
            </a:r>
          </a:p>
        </p:txBody>
      </p:sp>
      <p:sp>
        <p:nvSpPr>
          <p:cNvPr id="5" name="Rounded Rectangle 4"/>
          <p:cNvSpPr/>
          <p:nvPr/>
        </p:nvSpPr>
        <p:spPr>
          <a:xfrm>
            <a:off x="838047" y="1463040"/>
            <a:ext cx="2286000" cy="100584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38047" y="1463040"/>
            <a:ext cx="2286000" cy="45720"/>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9487" y="1600200"/>
            <a:ext cx="2103120" cy="731520"/>
          </a:xfrm>
          <a:prstGeom prst="rect">
            <a:avLst/>
          </a:prstGeom>
          <a:noFill/>
        </p:spPr>
        <p:txBody>
          <a:bodyPr wrap="square">
            <a:spAutoFit/>
          </a:bodyPr>
          <a:lstStyle/>
          <a:p>
            <a:pPr algn="ctr">
              <a:lnSpc>
                <a:spcPts val="1680"/>
              </a:lnSpc>
              <a:spcAft>
                <a:spcPts val="420"/>
              </a:spcAft>
              <a:defRPr sz="1400" b="1">
                <a:solidFill>
                  <a:srgbClr val="CDD6F4"/>
                </a:solidFill>
                <a:latin typeface="Segoe UI"/>
              </a:defRPr>
            </a:pPr>
            <a:r>
              <a:t>Hand-craft</a:t>
            </a:r>
            <a:br/>
            <a:r>
              <a:t>reference prompt</a:t>
            </a:r>
          </a:p>
        </p:txBody>
      </p:sp>
      <p:sp>
        <p:nvSpPr>
          <p:cNvPr id="8" name="TextBox 7"/>
          <p:cNvSpPr txBox="1"/>
          <p:nvPr/>
        </p:nvSpPr>
        <p:spPr>
          <a:xfrm>
            <a:off x="3197199" y="1737360"/>
            <a:ext cx="365760" cy="365760"/>
          </a:xfrm>
          <a:prstGeom prst="rect">
            <a:avLst/>
          </a:prstGeom>
          <a:noFill/>
        </p:spPr>
        <p:txBody>
          <a:bodyPr wrap="square">
            <a:spAutoFit/>
          </a:bodyPr>
          <a:lstStyle/>
          <a:p>
            <a:pPr algn="ctr">
              <a:lnSpc>
                <a:spcPts val="2879"/>
              </a:lnSpc>
              <a:spcAft>
                <a:spcPts val="719"/>
              </a:spcAft>
              <a:defRPr sz="2400" b="0">
                <a:solidFill>
                  <a:srgbClr val="6C7086"/>
                </a:solidFill>
                <a:latin typeface="Segoe UI"/>
              </a:defRPr>
            </a:pPr>
            <a:r>
              <a:t>→</a:t>
            </a:r>
          </a:p>
        </p:txBody>
      </p:sp>
      <p:sp>
        <p:nvSpPr>
          <p:cNvPr id="9" name="Rounded Rectangle 8"/>
          <p:cNvSpPr/>
          <p:nvPr/>
        </p:nvSpPr>
        <p:spPr>
          <a:xfrm>
            <a:off x="3581247" y="1463040"/>
            <a:ext cx="2286000" cy="100584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581247" y="1463040"/>
            <a:ext cx="2286000" cy="4572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2687" y="1600200"/>
            <a:ext cx="2103120" cy="731520"/>
          </a:xfrm>
          <a:prstGeom prst="rect">
            <a:avLst/>
          </a:prstGeom>
          <a:noFill/>
        </p:spPr>
        <p:txBody>
          <a:bodyPr wrap="square">
            <a:spAutoFit/>
          </a:bodyPr>
          <a:lstStyle/>
          <a:p>
            <a:pPr algn="ctr">
              <a:lnSpc>
                <a:spcPts val="1680"/>
              </a:lnSpc>
              <a:spcAft>
                <a:spcPts val="420"/>
              </a:spcAft>
              <a:defRPr sz="1400" b="1">
                <a:solidFill>
                  <a:srgbClr val="CDD6F4"/>
                </a:solidFill>
                <a:latin typeface="Segoe UI"/>
              </a:defRPr>
            </a:pPr>
            <a:r>
              <a:t>Generate via</a:t>
            </a:r>
            <a:br/>
            <a:r>
              <a:t>PromptKit</a:t>
            </a:r>
          </a:p>
        </p:txBody>
      </p:sp>
      <p:sp>
        <p:nvSpPr>
          <p:cNvPr id="12" name="TextBox 11"/>
          <p:cNvSpPr txBox="1"/>
          <p:nvPr/>
        </p:nvSpPr>
        <p:spPr>
          <a:xfrm>
            <a:off x="5940399" y="1737360"/>
            <a:ext cx="365760" cy="365760"/>
          </a:xfrm>
          <a:prstGeom prst="rect">
            <a:avLst/>
          </a:prstGeom>
          <a:noFill/>
        </p:spPr>
        <p:txBody>
          <a:bodyPr wrap="square">
            <a:spAutoFit/>
          </a:bodyPr>
          <a:lstStyle/>
          <a:p>
            <a:pPr algn="ctr">
              <a:lnSpc>
                <a:spcPts val="2879"/>
              </a:lnSpc>
              <a:spcAft>
                <a:spcPts val="719"/>
              </a:spcAft>
              <a:defRPr sz="2400" b="0">
                <a:solidFill>
                  <a:srgbClr val="6C7086"/>
                </a:solidFill>
                <a:latin typeface="Segoe UI"/>
              </a:defRPr>
            </a:pPr>
            <a:r>
              <a:t>→</a:t>
            </a:r>
          </a:p>
        </p:txBody>
      </p:sp>
      <p:sp>
        <p:nvSpPr>
          <p:cNvPr id="13" name="Rounded Rectangle 12"/>
          <p:cNvSpPr/>
          <p:nvPr/>
        </p:nvSpPr>
        <p:spPr>
          <a:xfrm>
            <a:off x="6324447" y="1463040"/>
            <a:ext cx="2286000" cy="100584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24447" y="1463040"/>
            <a:ext cx="2286000" cy="45720"/>
          </a:xfrm>
          <a:prstGeom prst="rect">
            <a:avLst/>
          </a:prstGeom>
          <a:solidFill>
            <a:srgbClr val="F9E2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5887" y="1600200"/>
            <a:ext cx="2103120" cy="731520"/>
          </a:xfrm>
          <a:prstGeom prst="rect">
            <a:avLst/>
          </a:prstGeom>
          <a:noFill/>
        </p:spPr>
        <p:txBody>
          <a:bodyPr wrap="square">
            <a:spAutoFit/>
          </a:bodyPr>
          <a:lstStyle/>
          <a:p>
            <a:pPr algn="ctr">
              <a:lnSpc>
                <a:spcPts val="1680"/>
              </a:lnSpc>
              <a:spcAft>
                <a:spcPts val="420"/>
              </a:spcAft>
              <a:defRPr sz="1400" b="1">
                <a:solidFill>
                  <a:srgbClr val="CDD6F4"/>
                </a:solidFill>
                <a:latin typeface="Segoe UI"/>
              </a:defRPr>
            </a:pPr>
            <a:r>
              <a:t>Structured</a:t>
            </a:r>
            <a:br/>
            <a:r>
              <a:t>gap analysis</a:t>
            </a:r>
          </a:p>
        </p:txBody>
      </p:sp>
      <p:sp>
        <p:nvSpPr>
          <p:cNvPr id="16" name="TextBox 15"/>
          <p:cNvSpPr txBox="1"/>
          <p:nvPr/>
        </p:nvSpPr>
        <p:spPr>
          <a:xfrm>
            <a:off x="8683599" y="1737360"/>
            <a:ext cx="365760" cy="365760"/>
          </a:xfrm>
          <a:prstGeom prst="rect">
            <a:avLst/>
          </a:prstGeom>
          <a:noFill/>
        </p:spPr>
        <p:txBody>
          <a:bodyPr wrap="square">
            <a:spAutoFit/>
          </a:bodyPr>
          <a:lstStyle/>
          <a:p>
            <a:pPr algn="ctr">
              <a:lnSpc>
                <a:spcPts val="2879"/>
              </a:lnSpc>
              <a:spcAft>
                <a:spcPts val="719"/>
              </a:spcAft>
              <a:defRPr sz="2400" b="0">
                <a:solidFill>
                  <a:srgbClr val="6C7086"/>
                </a:solidFill>
                <a:latin typeface="Segoe UI"/>
              </a:defRPr>
            </a:pPr>
            <a:r>
              <a:t>→</a:t>
            </a:r>
          </a:p>
        </p:txBody>
      </p:sp>
      <p:sp>
        <p:nvSpPr>
          <p:cNvPr id="17" name="Rounded Rectangle 16"/>
          <p:cNvSpPr/>
          <p:nvPr/>
        </p:nvSpPr>
        <p:spPr>
          <a:xfrm>
            <a:off x="9067647" y="1463040"/>
            <a:ext cx="2286000" cy="100584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067647" y="1463040"/>
            <a:ext cx="2286000" cy="45720"/>
          </a:xfrm>
          <a:prstGeom prst="rect">
            <a:avLst/>
          </a:prstGeom>
          <a:solidFill>
            <a:srgbClr val="FAB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59087" y="1600200"/>
            <a:ext cx="2103120" cy="731520"/>
          </a:xfrm>
          <a:prstGeom prst="rect">
            <a:avLst/>
          </a:prstGeom>
          <a:noFill/>
        </p:spPr>
        <p:txBody>
          <a:bodyPr wrap="square">
            <a:spAutoFit/>
          </a:bodyPr>
          <a:lstStyle/>
          <a:p>
            <a:pPr algn="ctr">
              <a:lnSpc>
                <a:spcPts val="1680"/>
              </a:lnSpc>
              <a:spcAft>
                <a:spcPts val="420"/>
              </a:spcAft>
              <a:defRPr sz="1400" b="1">
                <a:solidFill>
                  <a:srgbClr val="CDD6F4"/>
                </a:solidFill>
                <a:latin typeface="Segoe UI"/>
              </a:defRPr>
            </a:pPr>
            <a:r>
              <a:t>Feed gaps back</a:t>
            </a:r>
            <a:br/>
            <a:r>
              <a:t>as improvements</a:t>
            </a:r>
          </a:p>
        </p:txBody>
      </p:sp>
      <p:sp>
        <p:nvSpPr>
          <p:cNvPr id="20" name="TextBox 19"/>
          <p:cNvSpPr txBox="1"/>
          <p:nvPr/>
        </p:nvSpPr>
        <p:spPr>
          <a:xfrm>
            <a:off x="731520" y="2834640"/>
            <a:ext cx="10058400" cy="320040"/>
          </a:xfrm>
          <a:prstGeom prst="rect">
            <a:avLst/>
          </a:prstGeom>
          <a:noFill/>
        </p:spPr>
        <p:txBody>
          <a:bodyPr wrap="square">
            <a:spAutoFit/>
          </a:bodyPr>
          <a:lstStyle/>
          <a:p>
            <a:pPr algn="l">
              <a:lnSpc>
                <a:spcPts val="2400"/>
              </a:lnSpc>
              <a:spcAft>
                <a:spcPts val="600"/>
              </a:spcAft>
              <a:defRPr sz="2000" b="1">
                <a:solidFill>
                  <a:srgbClr val="89B4FA"/>
                </a:solidFill>
                <a:latin typeface="Segoe UI"/>
              </a:defRPr>
            </a:pPr>
            <a:r>
              <a:t>5 Gap Analysis Dimensions</a:t>
            </a:r>
          </a:p>
        </p:txBody>
      </p:sp>
      <p:sp>
        <p:nvSpPr>
          <p:cNvPr id="21" name="Rounded Rectangle 20"/>
          <p:cNvSpPr/>
          <p:nvPr/>
        </p:nvSpPr>
        <p:spPr>
          <a:xfrm>
            <a:off x="586587" y="3291840"/>
            <a:ext cx="2057400" cy="32004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86587" y="3291840"/>
            <a:ext cx="2057400" cy="45720"/>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8027" y="3429000"/>
            <a:ext cx="1874520" cy="502920"/>
          </a:xfrm>
          <a:prstGeom prst="rect">
            <a:avLst/>
          </a:prstGeom>
          <a:noFill/>
        </p:spPr>
        <p:txBody>
          <a:bodyPr wrap="square">
            <a:spAutoFit/>
          </a:bodyPr>
          <a:lstStyle/>
          <a:p>
            <a:pPr algn="ctr">
              <a:lnSpc>
                <a:spcPts val="1560"/>
              </a:lnSpc>
              <a:spcAft>
                <a:spcPts val="390"/>
              </a:spcAft>
              <a:defRPr sz="1300" b="1">
                <a:solidFill>
                  <a:srgbClr val="89B4FA"/>
                </a:solidFill>
                <a:latin typeface="Segoe UI"/>
              </a:defRPr>
            </a:pPr>
            <a:r>
              <a:t>Task Framing</a:t>
            </a:r>
          </a:p>
        </p:txBody>
      </p:sp>
      <p:sp>
        <p:nvSpPr>
          <p:cNvPr id="24" name="TextBox 23"/>
          <p:cNvSpPr txBox="1"/>
          <p:nvPr/>
        </p:nvSpPr>
        <p:spPr>
          <a:xfrm>
            <a:off x="678027" y="4023360"/>
            <a:ext cx="1874520" cy="914400"/>
          </a:xfrm>
          <a:prstGeom prst="rect">
            <a:avLst/>
          </a:prstGeom>
          <a:noFill/>
        </p:spPr>
        <p:txBody>
          <a:bodyPr wrap="square">
            <a:spAutoFit/>
          </a:bodyPr>
          <a:lstStyle/>
          <a:p>
            <a:pPr algn="ctr">
              <a:lnSpc>
                <a:spcPts val="1300"/>
              </a:lnSpc>
              <a:spcAft>
                <a:spcPts val="300"/>
              </a:spcAft>
              <a:defRPr sz="1000" b="0">
                <a:solidFill>
                  <a:srgbClr val="CDD6F4"/>
                </a:solidFill>
                <a:latin typeface="Segoe UI"/>
              </a:defRPr>
            </a:pPr>
            <a:r>
              <a:t>Goal statement, success criteria,</a:t>
            </a:r>
            <a:br/>
            <a:r>
              <a:t>non-goals, context definition</a:t>
            </a:r>
          </a:p>
        </p:txBody>
      </p:sp>
      <p:sp>
        <p:nvSpPr>
          <p:cNvPr id="25" name="TextBox 24"/>
          <p:cNvSpPr txBox="1"/>
          <p:nvPr/>
        </p:nvSpPr>
        <p:spPr>
          <a:xfrm>
            <a:off x="678027" y="5029200"/>
            <a:ext cx="1874520" cy="1097280"/>
          </a:xfrm>
          <a:prstGeom prst="rect">
            <a:avLst/>
          </a:prstGeom>
          <a:noFill/>
        </p:spPr>
        <p:txBody>
          <a:bodyPr wrap="square">
            <a:spAutoFit/>
          </a:bodyPr>
          <a:lstStyle/>
          <a:p>
            <a:pPr algn="ctr">
              <a:lnSpc>
                <a:spcPts val="1170"/>
              </a:lnSpc>
              <a:spcAft>
                <a:spcPts val="270"/>
              </a:spcAft>
              <a:defRPr sz="900" b="0">
                <a:solidFill>
                  <a:srgbClr val="6C7086"/>
                </a:solidFill>
                <a:latin typeface="Segoe UI"/>
              </a:defRPr>
            </a:pPr>
            <a:r>
              <a:t>Is the objective clearly stated?</a:t>
            </a:r>
            <a:br/>
            <a:r>
              <a:t>Is scope explicitly bounded?</a:t>
            </a:r>
          </a:p>
        </p:txBody>
      </p:sp>
      <p:sp>
        <p:nvSpPr>
          <p:cNvPr id="26" name="Rounded Rectangle 25"/>
          <p:cNvSpPr/>
          <p:nvPr/>
        </p:nvSpPr>
        <p:spPr>
          <a:xfrm>
            <a:off x="2826867" y="3291840"/>
            <a:ext cx="2057400" cy="32004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826867" y="3291840"/>
            <a:ext cx="2057400" cy="4572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18307" y="3429000"/>
            <a:ext cx="1874520" cy="502920"/>
          </a:xfrm>
          <a:prstGeom prst="rect">
            <a:avLst/>
          </a:prstGeom>
          <a:noFill/>
        </p:spPr>
        <p:txBody>
          <a:bodyPr wrap="square">
            <a:spAutoFit/>
          </a:bodyPr>
          <a:lstStyle/>
          <a:p>
            <a:pPr algn="ctr">
              <a:lnSpc>
                <a:spcPts val="1560"/>
              </a:lnSpc>
              <a:spcAft>
                <a:spcPts val="390"/>
              </a:spcAft>
              <a:defRPr sz="1300" b="1">
                <a:solidFill>
                  <a:srgbClr val="A6E3A1"/>
                </a:solidFill>
                <a:latin typeface="Segoe UI"/>
              </a:defRPr>
            </a:pPr>
            <a:r>
              <a:t>Reasoning</a:t>
            </a:r>
            <a:br/>
            <a:r>
              <a:t>Methodology</a:t>
            </a:r>
          </a:p>
        </p:txBody>
      </p:sp>
      <p:sp>
        <p:nvSpPr>
          <p:cNvPr id="29" name="TextBox 28"/>
          <p:cNvSpPr txBox="1"/>
          <p:nvPr/>
        </p:nvSpPr>
        <p:spPr>
          <a:xfrm>
            <a:off x="2918307" y="4023360"/>
            <a:ext cx="1874520" cy="914400"/>
          </a:xfrm>
          <a:prstGeom prst="rect">
            <a:avLst/>
          </a:prstGeom>
          <a:noFill/>
        </p:spPr>
        <p:txBody>
          <a:bodyPr wrap="square">
            <a:spAutoFit/>
          </a:bodyPr>
          <a:lstStyle/>
          <a:p>
            <a:pPr algn="ctr">
              <a:lnSpc>
                <a:spcPts val="1300"/>
              </a:lnSpc>
              <a:spcAft>
                <a:spcPts val="300"/>
              </a:spcAft>
              <a:defRPr sz="1000" b="0">
                <a:solidFill>
                  <a:srgbClr val="CDD6F4"/>
                </a:solidFill>
                <a:latin typeface="Segoe UI"/>
              </a:defRPr>
            </a:pPr>
            <a:r>
              <a:t>Systematic analysis, hypothesis</a:t>
            </a:r>
            <a:br/>
            <a:r>
              <a:t>generation, evidence requirements</a:t>
            </a:r>
          </a:p>
        </p:txBody>
      </p:sp>
      <p:sp>
        <p:nvSpPr>
          <p:cNvPr id="30" name="TextBox 29"/>
          <p:cNvSpPr txBox="1"/>
          <p:nvPr/>
        </p:nvSpPr>
        <p:spPr>
          <a:xfrm>
            <a:off x="2918307" y="5029200"/>
            <a:ext cx="1874520" cy="1097280"/>
          </a:xfrm>
          <a:prstGeom prst="rect">
            <a:avLst/>
          </a:prstGeom>
          <a:noFill/>
        </p:spPr>
        <p:txBody>
          <a:bodyPr wrap="square">
            <a:spAutoFit/>
          </a:bodyPr>
          <a:lstStyle/>
          <a:p>
            <a:pPr algn="ctr">
              <a:lnSpc>
                <a:spcPts val="1170"/>
              </a:lnSpc>
              <a:spcAft>
                <a:spcPts val="270"/>
              </a:spcAft>
              <a:defRPr sz="900" b="0">
                <a:solidFill>
                  <a:srgbClr val="6C7086"/>
                </a:solidFill>
                <a:latin typeface="Segoe UI"/>
              </a:defRPr>
            </a:pPr>
            <a:r>
              <a:t>Is anti-hallucination present?</a:t>
            </a:r>
            <a:br/>
            <a:r>
              <a:t>Are multiple hypotheses required?</a:t>
            </a:r>
          </a:p>
        </p:txBody>
      </p:sp>
      <p:sp>
        <p:nvSpPr>
          <p:cNvPr id="31" name="Rounded Rectangle 30"/>
          <p:cNvSpPr/>
          <p:nvPr/>
        </p:nvSpPr>
        <p:spPr>
          <a:xfrm>
            <a:off x="5067147" y="3291840"/>
            <a:ext cx="2057400" cy="32004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67147" y="3291840"/>
            <a:ext cx="2057400" cy="45720"/>
          </a:xfrm>
          <a:prstGeom prst="rect">
            <a:avLst/>
          </a:prstGeom>
          <a:solidFill>
            <a:srgbClr val="F9E2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158587" y="3429000"/>
            <a:ext cx="1874520" cy="502920"/>
          </a:xfrm>
          <a:prstGeom prst="rect">
            <a:avLst/>
          </a:prstGeom>
          <a:noFill/>
        </p:spPr>
        <p:txBody>
          <a:bodyPr wrap="square">
            <a:spAutoFit/>
          </a:bodyPr>
          <a:lstStyle/>
          <a:p>
            <a:pPr algn="ctr">
              <a:lnSpc>
                <a:spcPts val="1560"/>
              </a:lnSpc>
              <a:spcAft>
                <a:spcPts val="390"/>
              </a:spcAft>
              <a:defRPr sz="1300" b="1">
                <a:solidFill>
                  <a:srgbClr val="F9E2AF"/>
                </a:solidFill>
                <a:latin typeface="Segoe UI"/>
              </a:defRPr>
            </a:pPr>
            <a:r>
              <a:t>Output</a:t>
            </a:r>
            <a:br/>
            <a:r>
              <a:t>Specification</a:t>
            </a:r>
          </a:p>
        </p:txBody>
      </p:sp>
      <p:sp>
        <p:nvSpPr>
          <p:cNvPr id="34" name="TextBox 33"/>
          <p:cNvSpPr txBox="1"/>
          <p:nvPr/>
        </p:nvSpPr>
        <p:spPr>
          <a:xfrm>
            <a:off x="5158587" y="4023360"/>
            <a:ext cx="1874520" cy="914400"/>
          </a:xfrm>
          <a:prstGeom prst="rect">
            <a:avLst/>
          </a:prstGeom>
          <a:noFill/>
        </p:spPr>
        <p:txBody>
          <a:bodyPr wrap="square">
            <a:spAutoFit/>
          </a:bodyPr>
          <a:lstStyle/>
          <a:p>
            <a:pPr algn="ctr">
              <a:lnSpc>
                <a:spcPts val="1300"/>
              </a:lnSpc>
              <a:spcAft>
                <a:spcPts val="300"/>
              </a:spcAft>
              <a:defRPr sz="1000" b="0">
                <a:solidFill>
                  <a:srgbClr val="CDD6F4"/>
                </a:solidFill>
                <a:latin typeface="Segoe UI"/>
              </a:defRPr>
            </a:pPr>
            <a:r>
              <a:t>Format structure, artifacts,</a:t>
            </a:r>
            <a:br/>
            <a:r>
              <a:t>taxonomy, severity ranking</a:t>
            </a:r>
          </a:p>
        </p:txBody>
      </p:sp>
      <p:sp>
        <p:nvSpPr>
          <p:cNvPr id="35" name="TextBox 34"/>
          <p:cNvSpPr txBox="1"/>
          <p:nvPr/>
        </p:nvSpPr>
        <p:spPr>
          <a:xfrm>
            <a:off x="5158587" y="5029200"/>
            <a:ext cx="1874520" cy="1097280"/>
          </a:xfrm>
          <a:prstGeom prst="rect">
            <a:avLst/>
          </a:prstGeom>
          <a:noFill/>
        </p:spPr>
        <p:txBody>
          <a:bodyPr wrap="square">
            <a:spAutoFit/>
          </a:bodyPr>
          <a:lstStyle/>
          <a:p>
            <a:pPr algn="ctr">
              <a:lnSpc>
                <a:spcPts val="1170"/>
              </a:lnSpc>
              <a:spcAft>
                <a:spcPts val="270"/>
              </a:spcAft>
              <a:defRPr sz="900" b="0">
                <a:solidFill>
                  <a:srgbClr val="6C7086"/>
                </a:solidFill>
                <a:latin typeface="Segoe UI"/>
              </a:defRPr>
            </a:pPr>
            <a:r>
              <a:t>Is the deliverable structure defined?</a:t>
            </a:r>
            <a:br/>
            <a:r>
              <a:t>Are classification schemes provided?</a:t>
            </a:r>
          </a:p>
        </p:txBody>
      </p:sp>
      <p:sp>
        <p:nvSpPr>
          <p:cNvPr id="36" name="Rounded Rectangle 35"/>
          <p:cNvSpPr/>
          <p:nvPr/>
        </p:nvSpPr>
        <p:spPr>
          <a:xfrm>
            <a:off x="7307427" y="3291840"/>
            <a:ext cx="2057400" cy="32004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07427" y="3291840"/>
            <a:ext cx="2057400" cy="45720"/>
          </a:xfrm>
          <a:prstGeom prst="rect">
            <a:avLst/>
          </a:prstGeom>
          <a:solidFill>
            <a:srgbClr val="FAB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98867" y="3429000"/>
            <a:ext cx="1874520" cy="502920"/>
          </a:xfrm>
          <a:prstGeom prst="rect">
            <a:avLst/>
          </a:prstGeom>
          <a:noFill/>
        </p:spPr>
        <p:txBody>
          <a:bodyPr wrap="square">
            <a:spAutoFit/>
          </a:bodyPr>
          <a:lstStyle/>
          <a:p>
            <a:pPr algn="ctr">
              <a:lnSpc>
                <a:spcPts val="1560"/>
              </a:lnSpc>
              <a:spcAft>
                <a:spcPts val="390"/>
              </a:spcAft>
              <a:defRPr sz="1300" b="1">
                <a:solidFill>
                  <a:srgbClr val="FAB387"/>
                </a:solidFill>
                <a:latin typeface="Segoe UI"/>
              </a:defRPr>
            </a:pPr>
            <a:r>
              <a:t>Operational</a:t>
            </a:r>
            <a:br/>
            <a:r>
              <a:t>Guidance</a:t>
            </a:r>
          </a:p>
        </p:txBody>
      </p:sp>
      <p:sp>
        <p:nvSpPr>
          <p:cNvPr id="39" name="TextBox 38"/>
          <p:cNvSpPr txBox="1"/>
          <p:nvPr/>
        </p:nvSpPr>
        <p:spPr>
          <a:xfrm>
            <a:off x="7398867" y="4023360"/>
            <a:ext cx="1874520" cy="914400"/>
          </a:xfrm>
          <a:prstGeom prst="rect">
            <a:avLst/>
          </a:prstGeom>
          <a:noFill/>
        </p:spPr>
        <p:txBody>
          <a:bodyPr wrap="square">
            <a:spAutoFit/>
          </a:bodyPr>
          <a:lstStyle/>
          <a:p>
            <a:pPr algn="ctr">
              <a:lnSpc>
                <a:spcPts val="1300"/>
              </a:lnSpc>
              <a:spcAft>
                <a:spcPts val="300"/>
              </a:spcAft>
              <a:defRPr sz="1000" b="0">
                <a:solidFill>
                  <a:srgbClr val="CDD6F4"/>
                </a:solidFill>
                <a:latin typeface="Segoe UI"/>
              </a:defRPr>
            </a:pPr>
            <a:r>
              <a:t>Scoping strategy, tool usage,</a:t>
            </a:r>
            <a:br/>
            <a:r>
              <a:t>step-by-step plan</a:t>
            </a:r>
          </a:p>
        </p:txBody>
      </p:sp>
      <p:sp>
        <p:nvSpPr>
          <p:cNvPr id="40" name="TextBox 39"/>
          <p:cNvSpPr txBox="1"/>
          <p:nvPr/>
        </p:nvSpPr>
        <p:spPr>
          <a:xfrm>
            <a:off x="7398867" y="5029200"/>
            <a:ext cx="1874520" cy="1097280"/>
          </a:xfrm>
          <a:prstGeom prst="rect">
            <a:avLst/>
          </a:prstGeom>
          <a:noFill/>
        </p:spPr>
        <p:txBody>
          <a:bodyPr wrap="square">
            <a:spAutoFit/>
          </a:bodyPr>
          <a:lstStyle/>
          <a:p>
            <a:pPr algn="ctr">
              <a:lnSpc>
                <a:spcPts val="1170"/>
              </a:lnSpc>
              <a:spcAft>
                <a:spcPts val="270"/>
              </a:spcAft>
              <a:defRPr sz="900" b="0">
                <a:solidFill>
                  <a:srgbClr val="6C7086"/>
                </a:solidFill>
                <a:latin typeface="Segoe UI"/>
              </a:defRPr>
            </a:pPr>
            <a:r>
              <a:t>Does it guide how to scope work?</a:t>
            </a:r>
            <a:br/>
            <a:r>
              <a:t>Is a procedural plan provided?</a:t>
            </a:r>
          </a:p>
        </p:txBody>
      </p:sp>
      <p:sp>
        <p:nvSpPr>
          <p:cNvPr id="41" name="Rounded Rectangle 40"/>
          <p:cNvSpPr/>
          <p:nvPr/>
        </p:nvSpPr>
        <p:spPr>
          <a:xfrm>
            <a:off x="9547707" y="3291840"/>
            <a:ext cx="2057400" cy="32004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547707" y="3291840"/>
            <a:ext cx="2057400" cy="45720"/>
          </a:xfrm>
          <a:prstGeom prst="rect">
            <a:avLst/>
          </a:prstGeom>
          <a:solidFill>
            <a:srgbClr val="F38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639147" y="3429000"/>
            <a:ext cx="1874520" cy="502920"/>
          </a:xfrm>
          <a:prstGeom prst="rect">
            <a:avLst/>
          </a:prstGeom>
          <a:noFill/>
        </p:spPr>
        <p:txBody>
          <a:bodyPr wrap="square">
            <a:spAutoFit/>
          </a:bodyPr>
          <a:lstStyle/>
          <a:p>
            <a:pPr algn="ctr">
              <a:lnSpc>
                <a:spcPts val="1560"/>
              </a:lnSpc>
              <a:spcAft>
                <a:spcPts val="390"/>
              </a:spcAft>
              <a:defRPr sz="1300" b="1">
                <a:solidFill>
                  <a:srgbClr val="F38BA8"/>
                </a:solidFill>
                <a:latin typeface="Segoe UI"/>
              </a:defRPr>
            </a:pPr>
            <a:r>
              <a:t>Quality</a:t>
            </a:r>
            <a:br/>
            <a:r>
              <a:t>Assurance</a:t>
            </a:r>
          </a:p>
        </p:txBody>
      </p:sp>
      <p:sp>
        <p:nvSpPr>
          <p:cNvPr id="44" name="TextBox 43"/>
          <p:cNvSpPr txBox="1"/>
          <p:nvPr/>
        </p:nvSpPr>
        <p:spPr>
          <a:xfrm>
            <a:off x="9639147" y="4023360"/>
            <a:ext cx="1874520" cy="914400"/>
          </a:xfrm>
          <a:prstGeom prst="rect">
            <a:avLst/>
          </a:prstGeom>
          <a:noFill/>
        </p:spPr>
        <p:txBody>
          <a:bodyPr wrap="square">
            <a:spAutoFit/>
          </a:bodyPr>
          <a:lstStyle/>
          <a:p>
            <a:pPr algn="ctr">
              <a:lnSpc>
                <a:spcPts val="1300"/>
              </a:lnSpc>
              <a:spcAft>
                <a:spcPts val="300"/>
              </a:spcAft>
              <a:defRPr sz="1000" b="0">
                <a:solidFill>
                  <a:srgbClr val="CDD6F4"/>
                </a:solidFill>
                <a:latin typeface="Segoe UI"/>
              </a:defRPr>
            </a:pPr>
            <a:r>
              <a:t>Self-verification, sampling,</a:t>
            </a:r>
            <a:br/>
            <a:r>
              <a:t>coverage, consistency</a:t>
            </a:r>
          </a:p>
        </p:txBody>
      </p:sp>
      <p:sp>
        <p:nvSpPr>
          <p:cNvPr id="45" name="TextBox 44"/>
          <p:cNvSpPr txBox="1"/>
          <p:nvPr/>
        </p:nvSpPr>
        <p:spPr>
          <a:xfrm>
            <a:off x="9639147" y="5029200"/>
            <a:ext cx="1874520" cy="1097280"/>
          </a:xfrm>
          <a:prstGeom prst="rect">
            <a:avLst/>
          </a:prstGeom>
          <a:noFill/>
        </p:spPr>
        <p:txBody>
          <a:bodyPr wrap="square">
            <a:spAutoFit/>
          </a:bodyPr>
          <a:lstStyle/>
          <a:p>
            <a:pPr algn="ctr">
              <a:lnSpc>
                <a:spcPts val="1170"/>
              </a:lnSpc>
              <a:spcAft>
                <a:spcPts val="270"/>
              </a:spcAft>
              <a:defRPr sz="900" b="0">
                <a:solidFill>
                  <a:srgbClr val="6C7086"/>
                </a:solidFill>
                <a:latin typeface="Segoe UI"/>
              </a:defRPr>
            </a:pPr>
            <a:r>
              <a:t>Must LLM verify its output?</a:t>
            </a:r>
            <a:br/>
            <a:r>
              <a:t>Must it document what it examined?</a:t>
            </a:r>
          </a:p>
        </p:txBody>
      </p:sp>
      <p:sp>
        <p:nvSpPr>
          <p:cNvPr id="46" name="TextBox 45"/>
          <p:cNvSpPr txBox="1"/>
          <p:nvPr/>
        </p:nvSpPr>
        <p:spPr>
          <a:xfrm>
            <a:off x="11155680" y="6492240"/>
            <a:ext cx="914400" cy="274320"/>
          </a:xfrm>
          <a:prstGeom prst="rect">
            <a:avLst/>
          </a:prstGeom>
          <a:noFill/>
        </p:spPr>
        <p:txBody>
          <a:bodyPr wrap="square">
            <a:spAutoFit/>
          </a:bodyPr>
          <a:lstStyle/>
          <a:p>
            <a:pPr algn="r">
              <a:lnSpc>
                <a:spcPts val="1200"/>
              </a:lnSpc>
              <a:spcAft>
                <a:spcPts val="300"/>
              </a:spcAft>
              <a:defRPr sz="1000" b="0">
                <a:solidFill>
                  <a:srgbClr val="6C7086"/>
                </a:solidFill>
                <a:latin typeface="Segoe UI"/>
              </a:defRPr>
            </a:pPr>
            <a:r>
              <a:t>16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594360"/>
          </a:xfrm>
          <a:prstGeom prst="rect">
            <a:avLst/>
          </a:prstGeom>
          <a:noFill/>
        </p:spPr>
        <p:txBody>
          <a:bodyPr wrap="square">
            <a:spAutoFit/>
          </a:bodyPr>
          <a:lstStyle/>
          <a:p>
            <a:pPr algn="l">
              <a:lnSpc>
                <a:spcPts val="3840"/>
              </a:lnSpc>
              <a:spcAft>
                <a:spcPts val="960"/>
              </a:spcAft>
              <a:defRPr sz="3200" b="1">
                <a:solidFill>
                  <a:srgbClr val="CDD6F4"/>
                </a:solidFill>
                <a:latin typeface="Segoe UI"/>
              </a:defRPr>
            </a:pPr>
            <a:r>
              <a:t>Get Started Today</a:t>
            </a:r>
          </a:p>
        </p:txBody>
      </p:sp>
      <p:sp>
        <p:nvSpPr>
          <p:cNvPr id="4" name="Rectangle 3"/>
          <p:cNvSpPr/>
          <p:nvPr/>
        </p:nvSpPr>
        <p:spPr>
          <a:xfrm>
            <a:off x="822960" y="1417320"/>
            <a:ext cx="54864" cy="822960"/>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399032"/>
            <a:ext cx="3657600" cy="320040"/>
          </a:xfrm>
          <a:prstGeom prst="rect">
            <a:avLst/>
          </a:prstGeom>
          <a:noFill/>
        </p:spPr>
        <p:txBody>
          <a:bodyPr wrap="square">
            <a:spAutoFit/>
          </a:bodyPr>
          <a:lstStyle/>
          <a:p>
            <a:pPr algn="l">
              <a:lnSpc>
                <a:spcPts val="2400"/>
              </a:lnSpc>
              <a:spcAft>
                <a:spcPts val="600"/>
              </a:spcAft>
              <a:defRPr sz="2000" b="1">
                <a:solidFill>
                  <a:srgbClr val="89B4FA"/>
                </a:solidFill>
                <a:latin typeface="Segoe UI"/>
              </a:defRPr>
            </a:pPr>
            <a:r>
              <a:t>Try it now</a:t>
            </a:r>
          </a:p>
        </p:txBody>
      </p:sp>
      <p:sp>
        <p:nvSpPr>
          <p:cNvPr id="6" name="TextBox 5"/>
          <p:cNvSpPr txBox="1"/>
          <p:nvPr/>
        </p:nvSpPr>
        <p:spPr>
          <a:xfrm>
            <a:off x="1097280" y="1737360"/>
            <a:ext cx="4572000" cy="320040"/>
          </a:xfrm>
          <a:prstGeom prst="rect">
            <a:avLst/>
          </a:prstGeom>
          <a:noFill/>
        </p:spPr>
        <p:txBody>
          <a:bodyPr wrap="square">
            <a:spAutoFit/>
          </a:bodyPr>
          <a:lstStyle/>
          <a:p>
            <a:pPr algn="l">
              <a:lnSpc>
                <a:spcPts val="1680"/>
              </a:lnSpc>
              <a:spcAft>
                <a:spcPts val="420"/>
              </a:spcAft>
              <a:defRPr sz="1400" b="0">
                <a:solidFill>
                  <a:srgbClr val="CDD6F4"/>
                </a:solidFill>
                <a:latin typeface="Cascadia Code"/>
              </a:defRPr>
            </a:pPr>
            <a:r>
              <a:t>npx @alan-jowett/promptkit</a:t>
            </a:r>
          </a:p>
        </p:txBody>
      </p:sp>
      <p:sp>
        <p:nvSpPr>
          <p:cNvPr id="7" name="TextBox 6"/>
          <p:cNvSpPr txBox="1"/>
          <p:nvPr/>
        </p:nvSpPr>
        <p:spPr>
          <a:xfrm>
            <a:off x="6400800" y="1463040"/>
            <a:ext cx="5029200" cy="731520"/>
          </a:xfrm>
          <a:prstGeom prst="rect">
            <a:avLst/>
          </a:prstGeom>
          <a:noFill/>
        </p:spPr>
        <p:txBody>
          <a:bodyPr wrap="square">
            <a:spAutoFit/>
          </a:bodyPr>
          <a:lstStyle/>
          <a:p>
            <a:pPr algn="l">
              <a:lnSpc>
                <a:spcPts val="1560"/>
              </a:lnSpc>
              <a:spcAft>
                <a:spcPts val="390"/>
              </a:spcAft>
              <a:defRPr sz="1300" b="0">
                <a:solidFill>
                  <a:srgbClr val="6C7086"/>
                </a:solidFill>
                <a:latin typeface="Segoe UI"/>
              </a:defRPr>
            </a:pPr>
            <a:r>
              <a:t>Zero install — walks you through template</a:t>
            </a:r>
            <a:br/>
            <a:r>
              <a:t>selection and prompt assembly.</a:t>
            </a:r>
          </a:p>
        </p:txBody>
      </p:sp>
      <p:sp>
        <p:nvSpPr>
          <p:cNvPr id="8" name="Rectangle 7"/>
          <p:cNvSpPr/>
          <p:nvPr/>
        </p:nvSpPr>
        <p:spPr>
          <a:xfrm>
            <a:off x="822960" y="2651760"/>
            <a:ext cx="54864" cy="82296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33472"/>
            <a:ext cx="3657600" cy="320040"/>
          </a:xfrm>
          <a:prstGeom prst="rect">
            <a:avLst/>
          </a:prstGeom>
          <a:noFill/>
        </p:spPr>
        <p:txBody>
          <a:bodyPr wrap="square">
            <a:spAutoFit/>
          </a:bodyPr>
          <a:lstStyle/>
          <a:p>
            <a:pPr algn="l">
              <a:lnSpc>
                <a:spcPts val="2400"/>
              </a:lnSpc>
              <a:spcAft>
                <a:spcPts val="600"/>
              </a:spcAft>
              <a:defRPr sz="2000" b="1">
                <a:solidFill>
                  <a:srgbClr val="A6E3A1"/>
                </a:solidFill>
                <a:latin typeface="Segoe UI"/>
              </a:defRPr>
            </a:pPr>
            <a:r>
              <a:t>Browse the repo</a:t>
            </a:r>
          </a:p>
        </p:txBody>
      </p:sp>
      <p:sp>
        <p:nvSpPr>
          <p:cNvPr id="10" name="TextBox 9"/>
          <p:cNvSpPr txBox="1"/>
          <p:nvPr/>
        </p:nvSpPr>
        <p:spPr>
          <a:xfrm>
            <a:off x="1097280" y="2971800"/>
            <a:ext cx="4572000" cy="320040"/>
          </a:xfrm>
          <a:prstGeom prst="rect">
            <a:avLst/>
          </a:prstGeom>
          <a:noFill/>
        </p:spPr>
        <p:txBody>
          <a:bodyPr wrap="square">
            <a:spAutoFit/>
          </a:bodyPr>
          <a:lstStyle/>
          <a:p>
            <a:pPr algn="l">
              <a:lnSpc>
                <a:spcPts val="1680"/>
              </a:lnSpc>
              <a:spcAft>
                <a:spcPts val="420"/>
              </a:spcAft>
              <a:defRPr sz="1400" b="0">
                <a:solidFill>
                  <a:srgbClr val="CDD6F4"/>
                </a:solidFill>
                <a:latin typeface="Cascadia Code"/>
              </a:defRPr>
            </a:pPr>
            <a:r>
              <a:t>aka.ms/PromptKit</a:t>
            </a:r>
          </a:p>
        </p:txBody>
      </p:sp>
      <p:sp>
        <p:nvSpPr>
          <p:cNvPr id="11" name="TextBox 10"/>
          <p:cNvSpPr txBox="1"/>
          <p:nvPr/>
        </p:nvSpPr>
        <p:spPr>
          <a:xfrm>
            <a:off x="6400800" y="2697480"/>
            <a:ext cx="5029200" cy="731520"/>
          </a:xfrm>
          <a:prstGeom prst="rect">
            <a:avLst/>
          </a:prstGeom>
          <a:noFill/>
        </p:spPr>
        <p:txBody>
          <a:bodyPr wrap="square">
            <a:spAutoFit/>
          </a:bodyPr>
          <a:lstStyle/>
          <a:p>
            <a:pPr algn="l">
              <a:lnSpc>
                <a:spcPts val="1560"/>
              </a:lnSpc>
              <a:spcAft>
                <a:spcPts val="390"/>
              </a:spcAft>
              <a:defRPr sz="1300" b="0">
                <a:solidFill>
                  <a:srgbClr val="6C7086"/>
                </a:solidFill>
                <a:latin typeface="Segoe UI"/>
              </a:defRPr>
            </a:pPr>
            <a:r>
              <a:t>Read the templates, protocols, personas.</a:t>
            </a:r>
            <a:br/>
            <a:r>
              <a:t>Understand the composition model.</a:t>
            </a:r>
          </a:p>
        </p:txBody>
      </p:sp>
      <p:sp>
        <p:nvSpPr>
          <p:cNvPr id="12" name="Rectangle 11"/>
          <p:cNvSpPr/>
          <p:nvPr/>
        </p:nvSpPr>
        <p:spPr>
          <a:xfrm>
            <a:off x="822960" y="3886200"/>
            <a:ext cx="54864" cy="822960"/>
          </a:xfrm>
          <a:prstGeom prst="rect">
            <a:avLst/>
          </a:prstGeom>
          <a:solidFill>
            <a:srgbClr val="F9E2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867912"/>
            <a:ext cx="3657600" cy="320040"/>
          </a:xfrm>
          <a:prstGeom prst="rect">
            <a:avLst/>
          </a:prstGeom>
          <a:noFill/>
        </p:spPr>
        <p:txBody>
          <a:bodyPr wrap="square">
            <a:spAutoFit/>
          </a:bodyPr>
          <a:lstStyle/>
          <a:p>
            <a:pPr algn="l">
              <a:lnSpc>
                <a:spcPts val="2400"/>
              </a:lnSpc>
              <a:spcAft>
                <a:spcPts val="600"/>
              </a:spcAft>
              <a:defRPr sz="2000" b="1">
                <a:solidFill>
                  <a:srgbClr val="F9E2AF"/>
                </a:solidFill>
                <a:latin typeface="Segoe UI"/>
              </a:defRPr>
            </a:pPr>
            <a:r>
              <a:t>Contribute</a:t>
            </a:r>
          </a:p>
        </p:txBody>
      </p:sp>
      <p:sp>
        <p:nvSpPr>
          <p:cNvPr id="14" name="TextBox 13"/>
          <p:cNvSpPr txBox="1"/>
          <p:nvPr/>
        </p:nvSpPr>
        <p:spPr>
          <a:xfrm>
            <a:off x="1097280" y="4206240"/>
            <a:ext cx="4572000" cy="320040"/>
          </a:xfrm>
          <a:prstGeom prst="rect">
            <a:avLst/>
          </a:prstGeom>
          <a:noFill/>
        </p:spPr>
        <p:txBody>
          <a:bodyPr wrap="square">
            <a:spAutoFit/>
          </a:bodyPr>
          <a:lstStyle/>
          <a:p>
            <a:pPr algn="l">
              <a:lnSpc>
                <a:spcPts val="1680"/>
              </a:lnSpc>
              <a:spcAft>
                <a:spcPts val="420"/>
              </a:spcAft>
              <a:defRPr sz="1400" b="0">
                <a:solidFill>
                  <a:srgbClr val="CDD6F4"/>
                </a:solidFill>
                <a:latin typeface="Cascadia Code"/>
              </a:defRPr>
            </a:pPr>
            <a:r>
              <a:t>Use the extend-library template</a:t>
            </a:r>
          </a:p>
        </p:txBody>
      </p:sp>
      <p:sp>
        <p:nvSpPr>
          <p:cNvPr id="15" name="TextBox 14"/>
          <p:cNvSpPr txBox="1"/>
          <p:nvPr/>
        </p:nvSpPr>
        <p:spPr>
          <a:xfrm>
            <a:off x="6400800" y="3931920"/>
            <a:ext cx="5029200" cy="731520"/>
          </a:xfrm>
          <a:prstGeom prst="rect">
            <a:avLst/>
          </a:prstGeom>
          <a:noFill/>
        </p:spPr>
        <p:txBody>
          <a:bodyPr wrap="square">
            <a:spAutoFit/>
          </a:bodyPr>
          <a:lstStyle/>
          <a:p>
            <a:pPr algn="l">
              <a:lnSpc>
                <a:spcPts val="1560"/>
              </a:lnSpc>
              <a:spcAft>
                <a:spcPts val="390"/>
              </a:spcAft>
              <a:defRPr sz="1300" b="0">
                <a:solidFill>
                  <a:srgbClr val="6C7086"/>
                </a:solidFill>
                <a:latin typeface="Segoe UI"/>
              </a:defRPr>
            </a:pPr>
            <a:r>
              <a:t>PromptKit eats its own dog food — the</a:t>
            </a:r>
            <a:br/>
            <a:r>
              <a:t>contribution workflow is a PromptKit template.</a:t>
            </a:r>
          </a:p>
        </p:txBody>
      </p:sp>
      <p:sp>
        <p:nvSpPr>
          <p:cNvPr id="16" name="Rectangle 15"/>
          <p:cNvSpPr/>
          <p:nvPr/>
        </p:nvSpPr>
        <p:spPr>
          <a:xfrm>
            <a:off x="822960" y="5120640"/>
            <a:ext cx="54864" cy="822960"/>
          </a:xfrm>
          <a:prstGeom prst="rect">
            <a:avLst/>
          </a:prstGeom>
          <a:solidFill>
            <a:srgbClr val="FAB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102352"/>
            <a:ext cx="3657600" cy="320040"/>
          </a:xfrm>
          <a:prstGeom prst="rect">
            <a:avLst/>
          </a:prstGeom>
          <a:noFill/>
        </p:spPr>
        <p:txBody>
          <a:bodyPr wrap="square">
            <a:spAutoFit/>
          </a:bodyPr>
          <a:lstStyle/>
          <a:p>
            <a:pPr algn="l">
              <a:lnSpc>
                <a:spcPts val="2400"/>
              </a:lnSpc>
              <a:spcAft>
                <a:spcPts val="600"/>
              </a:spcAft>
              <a:defRPr sz="2000" b="1">
                <a:solidFill>
                  <a:srgbClr val="FAB387"/>
                </a:solidFill>
                <a:latin typeface="Segoe UI"/>
              </a:defRPr>
            </a:pPr>
            <a:r>
              <a:t>Share feedback</a:t>
            </a:r>
          </a:p>
        </p:txBody>
      </p:sp>
      <p:sp>
        <p:nvSpPr>
          <p:cNvPr id="18" name="TextBox 17"/>
          <p:cNvSpPr txBox="1"/>
          <p:nvPr/>
        </p:nvSpPr>
        <p:spPr>
          <a:xfrm>
            <a:off x="1097280" y="5440680"/>
            <a:ext cx="4572000" cy="320040"/>
          </a:xfrm>
          <a:prstGeom prst="rect">
            <a:avLst/>
          </a:prstGeom>
          <a:noFill/>
        </p:spPr>
        <p:txBody>
          <a:bodyPr wrap="square">
            <a:spAutoFit/>
          </a:bodyPr>
          <a:lstStyle/>
          <a:p>
            <a:pPr algn="l">
              <a:lnSpc>
                <a:spcPts val="1680"/>
              </a:lnSpc>
              <a:spcAft>
                <a:spcPts val="420"/>
              </a:spcAft>
              <a:defRPr sz="1400" b="0">
                <a:solidFill>
                  <a:srgbClr val="CDD6F4"/>
                </a:solidFill>
                <a:latin typeface="Cascadia Code"/>
              </a:defRPr>
            </a:pPr>
            <a:r>
              <a:t>File issues or start discussions</a:t>
            </a:r>
          </a:p>
        </p:txBody>
      </p:sp>
      <p:sp>
        <p:nvSpPr>
          <p:cNvPr id="19" name="TextBox 18"/>
          <p:cNvSpPr txBox="1"/>
          <p:nvPr/>
        </p:nvSpPr>
        <p:spPr>
          <a:xfrm>
            <a:off x="6400800" y="5166360"/>
            <a:ext cx="5029200" cy="731520"/>
          </a:xfrm>
          <a:prstGeom prst="rect">
            <a:avLst/>
          </a:prstGeom>
          <a:noFill/>
        </p:spPr>
        <p:txBody>
          <a:bodyPr wrap="square">
            <a:spAutoFit/>
          </a:bodyPr>
          <a:lstStyle/>
          <a:p>
            <a:pPr algn="l">
              <a:lnSpc>
                <a:spcPts val="1560"/>
              </a:lnSpc>
              <a:spcAft>
                <a:spcPts val="390"/>
              </a:spcAft>
              <a:defRPr sz="1300" b="0">
                <a:solidFill>
                  <a:srgbClr val="6C7086"/>
                </a:solidFill>
                <a:latin typeface="Segoe UI"/>
              </a:defRPr>
            </a:pPr>
            <a:r>
              <a:t>What templates are missing? What workflows</a:t>
            </a:r>
            <a:br/>
            <a:r>
              <a:t>do you wish PromptKit supported?</a:t>
            </a:r>
          </a:p>
        </p:txBody>
      </p:sp>
      <p:sp>
        <p:nvSpPr>
          <p:cNvPr id="20" name="TextBox 19"/>
          <p:cNvSpPr txBox="1"/>
          <p:nvPr/>
        </p:nvSpPr>
        <p:spPr>
          <a:xfrm>
            <a:off x="11155680" y="6492240"/>
            <a:ext cx="914400" cy="274320"/>
          </a:xfrm>
          <a:prstGeom prst="rect">
            <a:avLst/>
          </a:prstGeom>
          <a:noFill/>
        </p:spPr>
        <p:txBody>
          <a:bodyPr wrap="square">
            <a:spAutoFit/>
          </a:bodyPr>
          <a:lstStyle/>
          <a:p>
            <a:pPr algn="r">
              <a:lnSpc>
                <a:spcPts val="1200"/>
              </a:lnSpc>
              <a:spcAft>
                <a:spcPts val="300"/>
              </a:spcAft>
              <a:defRPr sz="1000" b="0">
                <a:solidFill>
                  <a:srgbClr val="6C7086"/>
                </a:solidFill>
                <a:latin typeface="Segoe UI"/>
              </a:defRPr>
            </a:pPr>
            <a:r>
              <a:t>17 /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