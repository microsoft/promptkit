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83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041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This is the deep-dive version covering architecture, component internals, assembly engine, testing methodology, and pipeline chaining.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through each pain point. The core insight: prompts are the primary interface to AI tools, but we treat them as throwaway text.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engineering principles. Modularity = compose layers. Version control = full Git history. Testable = reference comparison methodology. Extensible = anyone can contribute new components.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composition stack. Each layer constrains the next. Templates declare their dependencies in YAML frontmatter — persona, protocols, format. The narrowing visual shows how the stack funnels into a specific task.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Personas define identity, domain expertise, tone, and behavioral constraints. The YAML frontmatter is machine-readable; the markdown body contains the actual prompt content. Key: behavioral constraints reinforce the protocols.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protocol categories with different scoping rules. Guardrails are cross-cutting (apply to every task). Analysis protocols are language/domain-specific. Reasoning protocols define systematic methodologies. Separate files, not conditional blocks.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Deep dive into the anti-hallucination protocol. This is the single most impactful guardrail. Epistemic labeling forces the LLM to be honest about what it knows vs infers vs assumes. The 30% threshold prevents assumption-heavy outputs.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RCA protocol enforces systematic debugging. The ≥3 hypothesis rule prevents anchoring bias. The root vs proximate distinction is critical — most quick fixes only address the proximate cause and leave the root cause to produce more bugs.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Formats define the output structure. The investigation-report format has 9 sections with strict ordering rules. The 'produces' field enables pipeline chaining — formats declare what artifact type they generate.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Template frontmatter is the composition declaration. The key insight: protocols use category/name paths (guardrails/anti-hallucination) while the manifest uses short names (anti-hallucination). CI validates they stay in sync.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manifest is the component registry. Critical detail: protocols have a naming duality — templates use category/name paths, manifest uses short names. CI (validate-manifest.py) enforces sync. This is the only automated check in the repo.</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bootstrap flow is the core UX. bootstrap.md is itself a meta-prompt — it instructs the LLM how to use PromptKit. Two modes: single-shot writes a file you paste elsewhere; interactive executes the prompt live in the current session.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assembly engine is deliberately simple. It reads the manifest to resolve component paths, loads each .md file, strips YAML frontmatter and SPDX headers, wraps in section headers, joins with horizontal rules, and substitutes parameters. No template language, no recursion, no magic — just concatenation in a specific order.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Pipeline chaining is the power feature. Templates declare input_contract and output_contract with artifact types. The manifest defines pipeline stages. The bootstrap engine validates contracts before offering the next template. This replaces ad-hoc copy-paste between tools with a structured workflow.</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Testing prompts is hard because output is non-deterministic. The reference comparison methodology sidesteps this: compare prompt structure, not LLM output. Each dimension gets ✅ Covered / ⚠️ Partial / ❌ Missing classification. Gaps feed back into the library as improvements.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Call to action. The barrier to entry is one npx command. The extend-library template is meta: you use PromptKit to contribute to PromptKit.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73152"/>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PromptKit-logo.png"/>
          <p:cNvPicPr>
            <a:picLocks noChangeAspect="1"/>
          </p:cNvPicPr>
          <p:nvPr/>
        </p:nvPicPr>
        <p:blipFill>
          <a:blip r:embed="rId3"/>
          <a:stretch>
            <a:fillRect/>
          </a:stretch>
        </p:blipFill>
        <p:spPr>
          <a:xfrm>
            <a:off x="822960" y="1097280"/>
            <a:ext cx="2286000" cy="2286000"/>
          </a:xfrm>
          <a:prstGeom prst="rect">
            <a:avLst/>
          </a:prstGeom>
        </p:spPr>
      </p:pic>
      <p:sp>
        <p:nvSpPr>
          <p:cNvPr id="4" name="TextBox 3"/>
          <p:cNvSpPr txBox="1"/>
          <p:nvPr/>
        </p:nvSpPr>
        <p:spPr>
          <a:xfrm>
            <a:off x="3383280" y="1463040"/>
            <a:ext cx="8229600" cy="1097280"/>
          </a:xfrm>
          <a:prstGeom prst="rect">
            <a:avLst/>
          </a:prstGeom>
          <a:noFill/>
        </p:spPr>
        <p:txBody>
          <a:bodyPr wrap="square">
            <a:spAutoFit/>
          </a:bodyPr>
          <a:lstStyle/>
          <a:p>
            <a:pPr algn="l">
              <a:lnSpc>
                <a:spcPts val="7680"/>
              </a:lnSpc>
              <a:spcAft>
                <a:spcPts val="1920"/>
              </a:spcAft>
              <a:defRPr sz="6400" b="1">
                <a:solidFill>
                  <a:srgbClr val="CDD6F4"/>
                </a:solidFill>
                <a:latin typeface="Segoe UI"/>
              </a:defRPr>
            </a:pPr>
            <a:r>
              <a:t>PromptKit</a:t>
            </a:r>
          </a:p>
        </p:txBody>
      </p:sp>
      <p:sp>
        <p:nvSpPr>
          <p:cNvPr id="5" name="TextBox 4"/>
          <p:cNvSpPr txBox="1"/>
          <p:nvPr/>
        </p:nvSpPr>
        <p:spPr>
          <a:xfrm>
            <a:off x="3383280" y="2560320"/>
            <a:ext cx="8229600" cy="731520"/>
          </a:xfrm>
          <a:prstGeom prst="rect">
            <a:avLst/>
          </a:prstGeom>
          <a:noFill/>
        </p:spPr>
        <p:txBody>
          <a:bodyPr wrap="square">
            <a:spAutoFit/>
          </a:bodyPr>
          <a:lstStyle/>
          <a:p>
            <a:pPr algn="l">
              <a:lnSpc>
                <a:spcPts val="2879"/>
              </a:lnSpc>
              <a:spcAft>
                <a:spcPts val="719"/>
              </a:spcAft>
              <a:defRPr sz="2400" b="0">
                <a:solidFill>
                  <a:srgbClr val="89B4FA"/>
                </a:solidFill>
                <a:latin typeface="Segoe UI"/>
              </a:defRPr>
            </a:pPr>
            <a:r>
              <a:t>Composable, version-controlled prompts</a:t>
            </a:r>
            <a:br/>
            <a:r>
              <a:t>for AI-assisted software engineering</a:t>
            </a:r>
          </a:p>
        </p:txBody>
      </p:sp>
      <p:sp>
        <p:nvSpPr>
          <p:cNvPr id="6" name="TextBox 5"/>
          <p:cNvSpPr txBox="1"/>
          <p:nvPr/>
        </p:nvSpPr>
        <p:spPr>
          <a:xfrm>
            <a:off x="3383280" y="3749039"/>
            <a:ext cx="8229600" cy="45720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github.com/microsoft/promptkit  ·  MIT License  ·  v0.1.0</a:t>
            </a:r>
          </a:p>
        </p:txBody>
      </p:sp>
      <p:sp>
        <p:nvSpPr>
          <p:cNvPr id="7" name="TextBox 6"/>
          <p:cNvSpPr txBox="1"/>
          <p:nvPr/>
        </p:nvSpPr>
        <p:spPr>
          <a:xfrm>
            <a:off x="822960" y="5669280"/>
            <a:ext cx="10058400" cy="365760"/>
          </a:xfrm>
          <a:prstGeom prst="rect">
            <a:avLst/>
          </a:prstGeom>
          <a:noFill/>
        </p:spPr>
        <p:txBody>
          <a:bodyPr wrap="square">
            <a:spAutoFit/>
          </a:bodyPr>
          <a:lstStyle/>
          <a:p>
            <a:pPr algn="l">
              <a:lnSpc>
                <a:spcPts val="1680"/>
              </a:lnSpc>
              <a:spcAft>
                <a:spcPts val="420"/>
              </a:spcAft>
              <a:defRPr sz="1400" b="0">
                <a:solidFill>
                  <a:srgbClr val="6C7086"/>
                </a:solidFill>
                <a:latin typeface="Segoe UI"/>
              </a:defRPr>
            </a:pPr>
            <a:r>
              <a:t>Deep Dive  ·  Architecture &amp; Internals</a:t>
            </a:r>
          </a:p>
        </p:txBody>
      </p:sp>
      <p:sp>
        <p:nvSpPr>
          <p:cNvPr id="8" name="TextBox 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 / 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Problem with Ad-Hoc Prompts</a:t>
            </a:r>
          </a:p>
        </p:txBody>
      </p:sp>
      <p:sp>
        <p:nvSpPr>
          <p:cNvPr id="4" name="Rectangle 3"/>
          <p:cNvSpPr/>
          <p:nvPr/>
        </p:nvSpPr>
        <p:spPr>
          <a:xfrm>
            <a:off x="822960" y="1508760"/>
            <a:ext cx="54864" cy="5486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1560" y="14813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Written once, pasted everywhere</a:t>
            </a:r>
          </a:p>
        </p:txBody>
      </p:sp>
      <p:sp>
        <p:nvSpPr>
          <p:cNvPr id="6" name="TextBox 5"/>
          <p:cNvSpPr txBox="1"/>
          <p:nvPr/>
        </p:nvSpPr>
        <p:spPr>
          <a:xfrm>
            <a:off x="1051560" y="18013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iteration, no improvement loop, no review process</a:t>
            </a:r>
          </a:p>
        </p:txBody>
      </p:sp>
      <p:sp>
        <p:nvSpPr>
          <p:cNvPr id="7" name="Rectangle 6"/>
          <p:cNvSpPr/>
          <p:nvPr/>
        </p:nvSpPr>
        <p:spPr>
          <a:xfrm>
            <a:off x="822960" y="2423160"/>
            <a:ext cx="54864" cy="5486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23957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version control</a:t>
            </a:r>
          </a:p>
        </p:txBody>
      </p:sp>
      <p:sp>
        <p:nvSpPr>
          <p:cNvPr id="9" name="TextBox 8"/>
          <p:cNvSpPr txBox="1"/>
          <p:nvPr/>
        </p:nvSpPr>
        <p:spPr>
          <a:xfrm>
            <a:off x="1051560" y="27157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Can't diff, blame, or revert prompt changes</a:t>
            </a:r>
          </a:p>
        </p:txBody>
      </p:sp>
      <p:sp>
        <p:nvSpPr>
          <p:cNvPr id="10" name="Rectangle 9"/>
          <p:cNvSpPr/>
          <p:nvPr/>
        </p:nvSpPr>
        <p:spPr>
          <a:xfrm>
            <a:off x="822960" y="3337560"/>
            <a:ext cx="54864" cy="5486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51560" y="33101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reuse</a:t>
            </a:r>
          </a:p>
        </p:txBody>
      </p:sp>
      <p:sp>
        <p:nvSpPr>
          <p:cNvPr id="12" name="TextBox 11"/>
          <p:cNvSpPr txBox="1"/>
          <p:nvPr/>
        </p:nvSpPr>
        <p:spPr>
          <a:xfrm>
            <a:off x="1051560" y="36301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Every engineer reinvents persona, guardrails, output format</a:t>
            </a:r>
          </a:p>
        </p:txBody>
      </p:sp>
      <p:sp>
        <p:nvSpPr>
          <p:cNvPr id="13" name="Rectangle 12"/>
          <p:cNvSpPr/>
          <p:nvPr/>
        </p:nvSpPr>
        <p:spPr>
          <a:xfrm>
            <a:off x="822960" y="4251960"/>
            <a:ext cx="54864" cy="5486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42245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No testing</a:t>
            </a:r>
          </a:p>
        </p:txBody>
      </p:sp>
      <p:sp>
        <p:nvSpPr>
          <p:cNvPr id="15" name="TextBox 14"/>
          <p:cNvSpPr txBox="1"/>
          <p:nvPr/>
        </p:nvSpPr>
        <p:spPr>
          <a:xfrm>
            <a:off x="1051560" y="45445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No way to verify quality or catch regressions</a:t>
            </a:r>
          </a:p>
        </p:txBody>
      </p:sp>
      <p:sp>
        <p:nvSpPr>
          <p:cNvPr id="16" name="Rectangle 15"/>
          <p:cNvSpPr/>
          <p:nvPr/>
        </p:nvSpPr>
        <p:spPr>
          <a:xfrm>
            <a:off x="822960" y="5166360"/>
            <a:ext cx="54864" cy="5486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51560" y="5138928"/>
            <a:ext cx="3657600" cy="320040"/>
          </a:xfrm>
          <a:prstGeom prst="rect">
            <a:avLst/>
          </a:prstGeom>
          <a:noFill/>
        </p:spPr>
        <p:txBody>
          <a:bodyPr wrap="square">
            <a:spAutoFit/>
          </a:bodyPr>
          <a:lstStyle/>
          <a:p>
            <a:pPr algn="l">
              <a:lnSpc>
                <a:spcPts val="2400"/>
              </a:lnSpc>
              <a:spcAft>
                <a:spcPts val="600"/>
              </a:spcAft>
              <a:defRPr sz="2000" b="1">
                <a:solidFill>
                  <a:srgbClr val="CDD6F4"/>
                </a:solidFill>
                <a:latin typeface="Segoe UI"/>
              </a:defRPr>
            </a:pPr>
            <a:r>
              <a:t>Inconsistent outputs</a:t>
            </a:r>
          </a:p>
        </p:txBody>
      </p:sp>
      <p:sp>
        <p:nvSpPr>
          <p:cNvPr id="18" name="TextBox 17"/>
          <p:cNvSpPr txBox="1"/>
          <p:nvPr/>
        </p:nvSpPr>
        <p:spPr>
          <a:xfrm>
            <a:off x="1051560" y="5458968"/>
            <a:ext cx="9144000" cy="320040"/>
          </a:xfrm>
          <a:prstGeom prst="rect">
            <a:avLst/>
          </a:prstGeom>
          <a:noFill/>
        </p:spPr>
        <p:txBody>
          <a:bodyPr wrap="square">
            <a:spAutoFit/>
          </a:bodyPr>
          <a:lstStyle/>
          <a:p>
            <a:pPr algn="l">
              <a:lnSpc>
                <a:spcPts val="1800"/>
              </a:lnSpc>
              <a:spcAft>
                <a:spcPts val="450"/>
              </a:spcAft>
              <a:defRPr sz="1500" b="0">
                <a:solidFill>
                  <a:srgbClr val="6C7086"/>
                </a:solidFill>
                <a:latin typeface="Segoe UI"/>
              </a:defRPr>
            </a:pPr>
            <a:r>
              <a:t>Same task → wildly different results across the team</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2 / 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Fix: Treat Prompts as Code</a:t>
            </a:r>
          </a:p>
        </p:txBody>
      </p:sp>
      <p:sp>
        <p:nvSpPr>
          <p:cNvPr id="4" name="Rounded Rectangle 3"/>
          <p:cNvSpPr/>
          <p:nvPr/>
        </p:nvSpPr>
        <p:spPr>
          <a:xfrm>
            <a:off x="86090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60907" y="1828800"/>
            <a:ext cx="23774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43787" y="2103120"/>
            <a:ext cx="2011680" cy="457200"/>
          </a:xfrm>
          <a:prstGeom prst="rect">
            <a:avLst/>
          </a:prstGeom>
          <a:noFill/>
        </p:spPr>
        <p:txBody>
          <a:bodyPr wrap="square">
            <a:spAutoFit/>
          </a:bodyPr>
          <a:lstStyle/>
          <a:p>
            <a:pPr algn="ctr">
              <a:lnSpc>
                <a:spcPts val="2400"/>
              </a:lnSpc>
              <a:spcAft>
                <a:spcPts val="600"/>
              </a:spcAft>
              <a:defRPr sz="2000" b="1">
                <a:solidFill>
                  <a:srgbClr val="89B4FA"/>
                </a:solidFill>
                <a:latin typeface="Segoe UI"/>
              </a:defRPr>
            </a:pPr>
            <a:r>
              <a:t>Modular</a:t>
            </a:r>
          </a:p>
        </p:txBody>
      </p:sp>
      <p:sp>
        <p:nvSpPr>
          <p:cNvPr id="7" name="TextBox 6"/>
          <p:cNvSpPr txBox="1"/>
          <p:nvPr/>
        </p:nvSpPr>
        <p:spPr>
          <a:xfrm>
            <a:off x="104378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Compose from reusable</a:t>
            </a:r>
            <a:br/>
            <a:r>
              <a:t>building blocks</a:t>
            </a:r>
          </a:p>
        </p:txBody>
      </p:sp>
      <p:sp>
        <p:nvSpPr>
          <p:cNvPr id="8" name="Rounded Rectangle 7"/>
          <p:cNvSpPr/>
          <p:nvPr/>
        </p:nvSpPr>
        <p:spPr>
          <a:xfrm>
            <a:off x="355838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558387" y="1828800"/>
            <a:ext cx="23774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741267" y="2103120"/>
            <a:ext cx="2011680" cy="457200"/>
          </a:xfrm>
          <a:prstGeom prst="rect">
            <a:avLst/>
          </a:prstGeom>
          <a:noFill/>
        </p:spPr>
        <p:txBody>
          <a:bodyPr wrap="square">
            <a:spAutoFit/>
          </a:bodyPr>
          <a:lstStyle/>
          <a:p>
            <a:pPr algn="ctr">
              <a:lnSpc>
                <a:spcPts val="2400"/>
              </a:lnSpc>
              <a:spcAft>
                <a:spcPts val="600"/>
              </a:spcAft>
              <a:defRPr sz="2000" b="1">
                <a:solidFill>
                  <a:srgbClr val="A6E3A1"/>
                </a:solidFill>
                <a:latin typeface="Segoe UI"/>
              </a:defRPr>
            </a:pPr>
            <a:r>
              <a:t>Version-</a:t>
            </a:r>
            <a:br/>
            <a:r>
              <a:t>Controlled</a:t>
            </a:r>
          </a:p>
        </p:txBody>
      </p:sp>
      <p:sp>
        <p:nvSpPr>
          <p:cNvPr id="11" name="TextBox 10"/>
          <p:cNvSpPr txBox="1"/>
          <p:nvPr/>
        </p:nvSpPr>
        <p:spPr>
          <a:xfrm>
            <a:off x="374126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Track changes in Git</a:t>
            </a:r>
            <a:br/>
            <a:r>
              <a:t>like any code</a:t>
            </a:r>
          </a:p>
        </p:txBody>
      </p:sp>
      <p:sp>
        <p:nvSpPr>
          <p:cNvPr id="12" name="Rounded Rectangle 11"/>
          <p:cNvSpPr/>
          <p:nvPr/>
        </p:nvSpPr>
        <p:spPr>
          <a:xfrm>
            <a:off x="625586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55867" y="1828800"/>
            <a:ext cx="23774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38747" y="2103120"/>
            <a:ext cx="2011680" cy="457200"/>
          </a:xfrm>
          <a:prstGeom prst="rect">
            <a:avLst/>
          </a:prstGeom>
          <a:noFill/>
        </p:spPr>
        <p:txBody>
          <a:bodyPr wrap="square">
            <a:spAutoFit/>
          </a:bodyPr>
          <a:lstStyle/>
          <a:p>
            <a:pPr algn="ctr">
              <a:lnSpc>
                <a:spcPts val="2400"/>
              </a:lnSpc>
              <a:spcAft>
                <a:spcPts val="600"/>
              </a:spcAft>
              <a:defRPr sz="2000" b="1">
                <a:solidFill>
                  <a:srgbClr val="F9E2AF"/>
                </a:solidFill>
                <a:latin typeface="Segoe UI"/>
              </a:defRPr>
            </a:pPr>
            <a:r>
              <a:t>Testable</a:t>
            </a:r>
          </a:p>
        </p:txBody>
      </p:sp>
      <p:sp>
        <p:nvSpPr>
          <p:cNvPr id="15" name="TextBox 14"/>
          <p:cNvSpPr txBox="1"/>
          <p:nvPr/>
        </p:nvSpPr>
        <p:spPr>
          <a:xfrm>
            <a:off x="643874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Reference-compare</a:t>
            </a:r>
            <a:br/>
            <a:r>
              <a:t>against known-good</a:t>
            </a:r>
          </a:p>
        </p:txBody>
      </p:sp>
      <p:sp>
        <p:nvSpPr>
          <p:cNvPr id="16" name="Rounded Rectangle 15"/>
          <p:cNvSpPr/>
          <p:nvPr/>
        </p:nvSpPr>
        <p:spPr>
          <a:xfrm>
            <a:off x="8953347" y="1828800"/>
            <a:ext cx="237744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953347" y="1828800"/>
            <a:ext cx="23774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36227" y="2103120"/>
            <a:ext cx="2011680" cy="457200"/>
          </a:xfrm>
          <a:prstGeom prst="rect">
            <a:avLst/>
          </a:prstGeom>
          <a:noFill/>
        </p:spPr>
        <p:txBody>
          <a:bodyPr wrap="square">
            <a:spAutoFit/>
          </a:bodyPr>
          <a:lstStyle/>
          <a:p>
            <a:pPr algn="ctr">
              <a:lnSpc>
                <a:spcPts val="2400"/>
              </a:lnSpc>
              <a:spcAft>
                <a:spcPts val="600"/>
              </a:spcAft>
              <a:defRPr sz="2000" b="1">
                <a:solidFill>
                  <a:srgbClr val="FAB387"/>
                </a:solidFill>
                <a:latin typeface="Segoe UI"/>
              </a:defRPr>
            </a:pPr>
            <a:r>
              <a:t>Extensible</a:t>
            </a:r>
          </a:p>
        </p:txBody>
      </p:sp>
      <p:sp>
        <p:nvSpPr>
          <p:cNvPr id="19" name="TextBox 18"/>
          <p:cNvSpPr txBox="1"/>
          <p:nvPr/>
        </p:nvSpPr>
        <p:spPr>
          <a:xfrm>
            <a:off x="9136227" y="2743200"/>
            <a:ext cx="2011680" cy="1097280"/>
          </a:xfrm>
          <a:prstGeom prst="rect">
            <a:avLst/>
          </a:prstGeom>
          <a:noFill/>
        </p:spPr>
        <p:txBody>
          <a:bodyPr wrap="square">
            <a:spAutoFit/>
          </a:bodyPr>
          <a:lstStyle/>
          <a:p>
            <a:pPr algn="ctr">
              <a:lnSpc>
                <a:spcPts val="1800"/>
              </a:lnSpc>
              <a:spcAft>
                <a:spcPts val="450"/>
              </a:spcAft>
              <a:defRPr sz="1500" b="0">
                <a:solidFill>
                  <a:srgbClr val="CDD6F4"/>
                </a:solidFill>
                <a:latin typeface="Segoe UI"/>
              </a:defRPr>
            </a:pPr>
            <a:r>
              <a:t>Add your own</a:t>
            </a:r>
            <a:br/>
            <a:r>
              <a:t>components via PR</a:t>
            </a:r>
          </a:p>
        </p:txBody>
      </p:sp>
      <p:sp>
        <p:nvSpPr>
          <p:cNvPr id="20" name="TextBox 19"/>
          <p:cNvSpPr txBox="1"/>
          <p:nvPr/>
        </p:nvSpPr>
        <p:spPr>
          <a:xfrm>
            <a:off x="1371600" y="4754880"/>
            <a:ext cx="9144000" cy="731520"/>
          </a:xfrm>
          <a:prstGeom prst="rect">
            <a:avLst/>
          </a:prstGeom>
          <a:noFill/>
        </p:spPr>
        <p:txBody>
          <a:bodyPr wrap="square">
            <a:spAutoFit/>
          </a:bodyPr>
          <a:lstStyle/>
          <a:p>
            <a:pPr algn="ctr">
              <a:lnSpc>
                <a:spcPts val="1920"/>
              </a:lnSpc>
              <a:spcAft>
                <a:spcPts val="480"/>
              </a:spcAft>
              <a:defRPr sz="1600" b="0">
                <a:solidFill>
                  <a:srgbClr val="6C7086"/>
                </a:solidFill>
                <a:latin typeface="Segoe UI"/>
              </a:defRPr>
            </a:pPr>
            <a:r>
              <a:t>PromptKit applies the same engineering discipline you use for software</a:t>
            </a:r>
            <a:br/>
            <a:r>
              <a:t>to the prompts that build it.</a:t>
            </a:r>
          </a:p>
        </p:txBody>
      </p:sp>
      <p:sp>
        <p:nvSpPr>
          <p:cNvPr id="21" name="TextBox 20"/>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3 / 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Architecture: The 5-Layer Composition Stack</a:t>
            </a:r>
          </a:p>
        </p:txBody>
      </p:sp>
      <p:sp>
        <p:nvSpPr>
          <p:cNvPr id="4" name="Rounded Rectangle 3"/>
          <p:cNvSpPr/>
          <p:nvPr/>
        </p:nvSpPr>
        <p:spPr>
          <a:xfrm>
            <a:off x="838047" y="1417320"/>
            <a:ext cx="1051560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38047" y="1417320"/>
            <a:ext cx="64008"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66647" y="1463040"/>
            <a:ext cx="2011680" cy="36576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① Persona</a:t>
            </a:r>
          </a:p>
        </p:txBody>
      </p:sp>
      <p:sp>
        <p:nvSpPr>
          <p:cNvPr id="7" name="TextBox 6"/>
          <p:cNvSpPr txBox="1"/>
          <p:nvPr/>
        </p:nvSpPr>
        <p:spPr>
          <a:xfrm>
            <a:off x="3124047" y="146304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Who the LLM becomes</a:t>
            </a:r>
          </a:p>
        </p:txBody>
      </p:sp>
      <p:sp>
        <p:nvSpPr>
          <p:cNvPr id="8" name="TextBox 7"/>
          <p:cNvSpPr txBox="1"/>
          <p:nvPr/>
        </p:nvSpPr>
        <p:spPr>
          <a:xfrm>
            <a:off x="3124047" y="1801368"/>
            <a:ext cx="804672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systems-engineer, security-auditor …</a:t>
            </a:r>
          </a:p>
        </p:txBody>
      </p:sp>
      <p:sp>
        <p:nvSpPr>
          <p:cNvPr id="9" name="Rounded Rectangle 8"/>
          <p:cNvSpPr/>
          <p:nvPr/>
        </p:nvSpPr>
        <p:spPr>
          <a:xfrm>
            <a:off x="1112367" y="2377440"/>
            <a:ext cx="996696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112367" y="2377440"/>
            <a:ext cx="64008"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40967" y="2423160"/>
            <a:ext cx="2011680" cy="36576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② Protocols</a:t>
            </a:r>
          </a:p>
        </p:txBody>
      </p:sp>
      <p:sp>
        <p:nvSpPr>
          <p:cNvPr id="12" name="TextBox 11"/>
          <p:cNvSpPr txBox="1"/>
          <p:nvPr/>
        </p:nvSpPr>
        <p:spPr>
          <a:xfrm>
            <a:off x="3398367" y="242316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How it reasons + guardrails</a:t>
            </a:r>
          </a:p>
        </p:txBody>
      </p:sp>
      <p:sp>
        <p:nvSpPr>
          <p:cNvPr id="13" name="TextBox 12"/>
          <p:cNvSpPr txBox="1"/>
          <p:nvPr/>
        </p:nvSpPr>
        <p:spPr>
          <a:xfrm>
            <a:off x="3398367" y="2761488"/>
            <a:ext cx="749808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anti-hallucination, root-cause-analysis …</a:t>
            </a:r>
          </a:p>
        </p:txBody>
      </p:sp>
      <p:sp>
        <p:nvSpPr>
          <p:cNvPr id="14" name="Rounded Rectangle 13"/>
          <p:cNvSpPr/>
          <p:nvPr/>
        </p:nvSpPr>
        <p:spPr>
          <a:xfrm>
            <a:off x="1386687" y="3337560"/>
            <a:ext cx="941832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386687" y="3337560"/>
            <a:ext cx="64008"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15287" y="3383280"/>
            <a:ext cx="2011680" cy="36576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③ Format</a:t>
            </a:r>
          </a:p>
        </p:txBody>
      </p:sp>
      <p:sp>
        <p:nvSpPr>
          <p:cNvPr id="17" name="TextBox 16"/>
          <p:cNvSpPr txBox="1"/>
          <p:nvPr/>
        </p:nvSpPr>
        <p:spPr>
          <a:xfrm>
            <a:off x="3672687" y="338328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Output structure &amp; rules</a:t>
            </a:r>
          </a:p>
        </p:txBody>
      </p:sp>
      <p:sp>
        <p:nvSpPr>
          <p:cNvPr id="18" name="TextBox 17"/>
          <p:cNvSpPr txBox="1"/>
          <p:nvPr/>
        </p:nvSpPr>
        <p:spPr>
          <a:xfrm>
            <a:off x="3672687" y="3721608"/>
            <a:ext cx="694944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investigation-report, design-doc …</a:t>
            </a:r>
          </a:p>
        </p:txBody>
      </p:sp>
      <p:sp>
        <p:nvSpPr>
          <p:cNvPr id="19" name="Rounded Rectangle 18"/>
          <p:cNvSpPr/>
          <p:nvPr/>
        </p:nvSpPr>
        <p:spPr>
          <a:xfrm>
            <a:off x="1661007" y="4297680"/>
            <a:ext cx="886968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661007" y="4297680"/>
            <a:ext cx="64008"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889607" y="4343400"/>
            <a:ext cx="2011680" cy="36576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④ Taxonomy</a:t>
            </a:r>
          </a:p>
        </p:txBody>
      </p:sp>
      <p:sp>
        <p:nvSpPr>
          <p:cNvPr id="22" name="TextBox 21"/>
          <p:cNvSpPr txBox="1"/>
          <p:nvPr/>
        </p:nvSpPr>
        <p:spPr>
          <a:xfrm>
            <a:off x="3947007" y="434340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Domain classification (opt.)</a:t>
            </a:r>
          </a:p>
        </p:txBody>
      </p:sp>
      <p:sp>
        <p:nvSpPr>
          <p:cNvPr id="23" name="TextBox 22"/>
          <p:cNvSpPr txBox="1"/>
          <p:nvPr/>
        </p:nvSpPr>
        <p:spPr>
          <a:xfrm>
            <a:off x="3947007" y="4681728"/>
            <a:ext cx="640080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severity tiers, risk categories</a:t>
            </a:r>
          </a:p>
        </p:txBody>
      </p:sp>
      <p:sp>
        <p:nvSpPr>
          <p:cNvPr id="24" name="Rounded Rectangle 23"/>
          <p:cNvSpPr/>
          <p:nvPr/>
        </p:nvSpPr>
        <p:spPr>
          <a:xfrm>
            <a:off x="1935327" y="5257800"/>
            <a:ext cx="8321040" cy="7772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935327" y="5257800"/>
            <a:ext cx="64008"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163927" y="5303520"/>
            <a:ext cx="2011680" cy="36576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⑤ Template</a:t>
            </a:r>
          </a:p>
        </p:txBody>
      </p:sp>
      <p:sp>
        <p:nvSpPr>
          <p:cNvPr id="27" name="TextBox 26"/>
          <p:cNvSpPr txBox="1"/>
          <p:nvPr/>
        </p:nvSpPr>
        <p:spPr>
          <a:xfrm>
            <a:off x="4221327" y="5303520"/>
            <a:ext cx="2743200" cy="365760"/>
          </a:xfrm>
          <a:prstGeom prst="rect">
            <a:avLst/>
          </a:prstGeom>
          <a:noFill/>
        </p:spPr>
        <p:txBody>
          <a:bodyPr wrap="square">
            <a:spAutoFit/>
          </a:bodyPr>
          <a:lstStyle/>
          <a:p>
            <a:pPr algn="l">
              <a:lnSpc>
                <a:spcPts val="1800"/>
              </a:lnSpc>
              <a:spcAft>
                <a:spcPts val="450"/>
              </a:spcAft>
              <a:defRPr sz="1500" b="0">
                <a:solidFill>
                  <a:srgbClr val="CDD6F4"/>
                </a:solidFill>
                <a:latin typeface="Segoe UI"/>
              </a:defRPr>
            </a:pPr>
            <a:r>
              <a:t>The task with {{params}}</a:t>
            </a:r>
          </a:p>
        </p:txBody>
      </p:sp>
      <p:sp>
        <p:nvSpPr>
          <p:cNvPr id="28" name="TextBox 27"/>
          <p:cNvSpPr txBox="1"/>
          <p:nvPr/>
        </p:nvSpPr>
        <p:spPr>
          <a:xfrm>
            <a:off x="4221327" y="5641848"/>
            <a:ext cx="5852160" cy="36576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investigate-bug, review-code …</a:t>
            </a:r>
          </a:p>
        </p:txBody>
      </p:sp>
      <p:sp>
        <p:nvSpPr>
          <p:cNvPr id="29" name="TextBox 28"/>
          <p:cNvSpPr txBox="1"/>
          <p:nvPr/>
        </p:nvSpPr>
        <p:spPr>
          <a:xfrm>
            <a:off x="914400" y="6309360"/>
            <a:ext cx="10058400" cy="365760"/>
          </a:xfrm>
          <a:prstGeom prst="rect">
            <a:avLst/>
          </a:prstGeom>
          <a:noFill/>
        </p:spPr>
        <p:txBody>
          <a:bodyPr wrap="square">
            <a:spAutoFit/>
          </a:bodyPr>
          <a:lstStyle/>
          <a:p>
            <a:pPr algn="ctr">
              <a:lnSpc>
                <a:spcPts val="1560"/>
              </a:lnSpc>
              <a:spcAft>
                <a:spcPts val="390"/>
              </a:spcAft>
              <a:defRPr sz="1300" b="0">
                <a:solidFill>
                  <a:srgbClr val="6C7086"/>
                </a:solidFill>
                <a:latin typeface="Segoe UI"/>
              </a:defRPr>
            </a:pPr>
            <a:r>
              <a:t>Templates declare which components to compose via YAML frontmatter  →  the bootstrap engine snaps them together</a:t>
            </a:r>
          </a:p>
        </p:txBody>
      </p:sp>
      <p:sp>
        <p:nvSpPr>
          <p:cNvPr id="30" name="TextBox 2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4 / 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Personas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① — Who the LLM becomes</a:t>
            </a:r>
          </a:p>
        </p:txBody>
      </p:sp>
      <p:sp>
        <p:nvSpPr>
          <p:cNvPr id="5" name="Rounded Rectangle 4"/>
          <p:cNvSpPr/>
          <p:nvPr/>
        </p:nvSpPr>
        <p:spPr>
          <a:xfrm>
            <a:off x="731520" y="1371600"/>
            <a:ext cx="5029200" cy="27432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463040"/>
            <a:ext cx="4663440" cy="2560320"/>
          </a:xfrm>
          <a:prstGeom prst="rect">
            <a:avLst/>
          </a:prstGeom>
          <a:noFill/>
        </p:spPr>
        <p:txBody>
          <a:bodyPr wrap="square">
            <a:spAutoFit/>
          </a:bodyPr>
          <a:lstStyle/>
          <a:p>
            <a:pPr algn="l">
              <a:lnSpc>
                <a:spcPts val="1950"/>
              </a:lnSpc>
              <a:spcAft>
                <a:spcPts val="390"/>
              </a:spcAft>
              <a:defRPr sz="1300" b="0">
                <a:solidFill>
                  <a:srgbClr val="A6E3A1"/>
                </a:solidFill>
                <a:latin typeface="Cascadia Code"/>
              </a:defRPr>
            </a:pPr>
            <a:r>
              <a:t>---</a:t>
            </a:r>
            <a:br/>
            <a:r>
              <a:t>name: systems-engineer</a:t>
            </a:r>
            <a:br/>
            <a:r>
              <a:t>description: &gt;</a:t>
            </a:r>
            <a:br/>
            <a:r>
              <a:t>  Senior systems engineer with deep</a:t>
            </a:r>
            <a:br/>
            <a:r>
              <a:t>  expertise in memory management,</a:t>
            </a:r>
            <a:br/>
            <a:r>
              <a:t>  concurrency, and performance.</a:t>
            </a:r>
            <a:br/>
            <a:r>
              <a:t>domain:</a:t>
            </a:r>
            <a:br/>
            <a:r>
              <a:t>  - systems programming</a:t>
            </a:r>
            <a:br/>
            <a:r>
              <a:t>  - debugging</a:t>
            </a:r>
            <a:br/>
            <a:r>
              <a:t>  - performance analysis</a:t>
            </a:r>
            <a:br/>
            <a:r>
              <a:t>tone: precise, technical, methodical</a:t>
            </a:r>
            <a:br/>
            <a:r>
              <a: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Behavioral Constraints</a:t>
            </a:r>
          </a:p>
        </p:txBody>
      </p:sp>
      <p:sp>
        <p:nvSpPr>
          <p:cNvPr id="8" name="TextBox 7"/>
          <p:cNvSpPr txBox="1"/>
          <p:nvPr/>
        </p:nvSpPr>
        <p:spPr>
          <a:xfrm>
            <a:off x="6217920" y="192024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Reason from first principles — trace causality, never guess</a:t>
            </a:r>
          </a:p>
        </p:txBody>
      </p:sp>
      <p:sp>
        <p:nvSpPr>
          <p:cNvPr id="9" name="TextBox 8"/>
          <p:cNvSpPr txBox="1"/>
          <p:nvPr/>
        </p:nvSpPr>
        <p:spPr>
          <a:xfrm>
            <a:off x="6217920" y="242316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Distinguish epistemic states — label KNOWN / INFERRED / ASSUMED</a:t>
            </a:r>
          </a:p>
        </p:txBody>
      </p:sp>
      <p:sp>
        <p:nvSpPr>
          <p:cNvPr id="10" name="TextBox 9"/>
          <p:cNvSpPr txBox="1"/>
          <p:nvPr/>
        </p:nvSpPr>
        <p:spPr>
          <a:xfrm>
            <a:off x="6217920" y="292608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Prefer correctness over cleverness</a:t>
            </a:r>
          </a:p>
        </p:txBody>
      </p:sp>
      <p:sp>
        <p:nvSpPr>
          <p:cNvPr id="11" name="TextBox 10"/>
          <p:cNvSpPr txBox="1"/>
          <p:nvPr/>
        </p:nvSpPr>
        <p:spPr>
          <a:xfrm>
            <a:off x="6217920" y="342900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Explicit uncertainty — say what's missing</a:t>
            </a:r>
          </a:p>
        </p:txBody>
      </p:sp>
      <p:sp>
        <p:nvSpPr>
          <p:cNvPr id="12" name="TextBox 11"/>
          <p:cNvSpPr txBox="1"/>
          <p:nvPr/>
        </p:nvSpPr>
        <p:spPr>
          <a:xfrm>
            <a:off x="6217920" y="3931920"/>
            <a:ext cx="5303520" cy="45720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  •  No hallucination — refuse to fabricate</a:t>
            </a:r>
          </a:p>
        </p:txBody>
      </p:sp>
      <p:sp>
        <p:nvSpPr>
          <p:cNvPr id="13" name="Rounded Rectangle 12"/>
          <p:cNvSpPr/>
          <p:nvPr/>
        </p:nvSpPr>
        <p:spPr>
          <a:xfrm>
            <a:off x="731520" y="4754880"/>
            <a:ext cx="10698480" cy="14630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4846320"/>
            <a:ext cx="10058400" cy="320040"/>
          </a:xfrm>
          <a:prstGeom prst="rect">
            <a:avLst/>
          </a:prstGeom>
          <a:noFill/>
        </p:spPr>
        <p:txBody>
          <a:bodyPr wrap="square">
            <a:spAutoFit/>
          </a:bodyPr>
          <a:lstStyle/>
          <a:p>
            <a:pPr algn="l">
              <a:lnSpc>
                <a:spcPts val="1920"/>
              </a:lnSpc>
              <a:spcAft>
                <a:spcPts val="480"/>
              </a:spcAft>
              <a:defRPr sz="1600" b="1">
                <a:solidFill>
                  <a:srgbClr val="F9E2AF"/>
                </a:solidFill>
                <a:latin typeface="Segoe UI"/>
              </a:defRPr>
            </a:pPr>
            <a:r>
              <a:t>Available Personas</a:t>
            </a:r>
          </a:p>
        </p:txBody>
      </p:sp>
      <p:sp>
        <p:nvSpPr>
          <p:cNvPr id="15" name="TextBox 14"/>
          <p:cNvSpPr txBox="1"/>
          <p:nvPr/>
        </p:nvSpPr>
        <p:spPr>
          <a:xfrm>
            <a:off x="1005840" y="52578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systems-engineer</a:t>
            </a:r>
          </a:p>
        </p:txBody>
      </p:sp>
      <p:sp>
        <p:nvSpPr>
          <p:cNvPr id="16" name="TextBox 15"/>
          <p:cNvSpPr txBox="1"/>
          <p:nvPr/>
        </p:nvSpPr>
        <p:spPr>
          <a:xfrm>
            <a:off x="2697480" y="52578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Memory, concurrency, debugging</a:t>
            </a:r>
          </a:p>
        </p:txBody>
      </p:sp>
      <p:sp>
        <p:nvSpPr>
          <p:cNvPr id="17" name="TextBox 16"/>
          <p:cNvSpPr txBox="1"/>
          <p:nvPr/>
        </p:nvSpPr>
        <p:spPr>
          <a:xfrm>
            <a:off x="4572000" y="52578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security-auditor</a:t>
            </a:r>
          </a:p>
        </p:txBody>
      </p:sp>
      <p:sp>
        <p:nvSpPr>
          <p:cNvPr id="18" name="TextBox 17"/>
          <p:cNvSpPr txBox="1"/>
          <p:nvPr/>
        </p:nvSpPr>
        <p:spPr>
          <a:xfrm>
            <a:off x="6263640" y="52578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Vulnerability discovery, threat modeling</a:t>
            </a:r>
          </a:p>
        </p:txBody>
      </p:sp>
      <p:sp>
        <p:nvSpPr>
          <p:cNvPr id="19" name="TextBox 18"/>
          <p:cNvSpPr txBox="1"/>
          <p:nvPr/>
        </p:nvSpPr>
        <p:spPr>
          <a:xfrm>
            <a:off x="8138160" y="52578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software-architect</a:t>
            </a:r>
          </a:p>
        </p:txBody>
      </p:sp>
      <p:sp>
        <p:nvSpPr>
          <p:cNvPr id="20" name="TextBox 19"/>
          <p:cNvSpPr txBox="1"/>
          <p:nvPr/>
        </p:nvSpPr>
        <p:spPr>
          <a:xfrm>
            <a:off x="9829800" y="52578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System design, API contracts, tradeoffs</a:t>
            </a:r>
          </a:p>
        </p:txBody>
      </p:sp>
      <p:sp>
        <p:nvSpPr>
          <p:cNvPr id="21" name="TextBox 20"/>
          <p:cNvSpPr txBox="1"/>
          <p:nvPr/>
        </p:nvSpPr>
        <p:spPr>
          <a:xfrm>
            <a:off x="1005840" y="57150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devops-engineer</a:t>
            </a:r>
          </a:p>
        </p:txBody>
      </p:sp>
      <p:sp>
        <p:nvSpPr>
          <p:cNvPr id="22" name="TextBox 21"/>
          <p:cNvSpPr txBox="1"/>
          <p:nvPr/>
        </p:nvSpPr>
        <p:spPr>
          <a:xfrm>
            <a:off x="2697480" y="57150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CI/CD, release engineering, IaC</a:t>
            </a:r>
          </a:p>
        </p:txBody>
      </p:sp>
      <p:sp>
        <p:nvSpPr>
          <p:cNvPr id="23" name="TextBox 22"/>
          <p:cNvSpPr txBox="1"/>
          <p:nvPr/>
        </p:nvSpPr>
        <p:spPr>
          <a:xfrm>
            <a:off x="4572000" y="57150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reverse-engineer</a:t>
            </a:r>
          </a:p>
        </p:txBody>
      </p:sp>
      <p:sp>
        <p:nvSpPr>
          <p:cNvPr id="24" name="TextBox 23"/>
          <p:cNvSpPr txBox="1"/>
          <p:nvPr/>
        </p:nvSpPr>
        <p:spPr>
          <a:xfrm>
            <a:off x="6263640" y="57150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Spec extraction from existing code</a:t>
            </a:r>
          </a:p>
        </p:txBody>
      </p:sp>
      <p:sp>
        <p:nvSpPr>
          <p:cNvPr id="25" name="TextBox 24"/>
          <p:cNvSpPr txBox="1"/>
          <p:nvPr/>
        </p:nvSpPr>
        <p:spPr>
          <a:xfrm>
            <a:off x="8138160" y="5715000"/>
            <a:ext cx="1645920" cy="32004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spl-contributor</a:t>
            </a:r>
          </a:p>
        </p:txBody>
      </p:sp>
      <p:sp>
        <p:nvSpPr>
          <p:cNvPr id="26" name="TextBox 25"/>
          <p:cNvSpPr txBox="1"/>
          <p:nvPr/>
        </p:nvSpPr>
        <p:spPr>
          <a:xfrm>
            <a:off x="9829800" y="5715000"/>
            <a:ext cx="1828800" cy="320040"/>
          </a:xfrm>
          <a:prstGeom prst="rect">
            <a:avLst/>
          </a:prstGeom>
          <a:noFill/>
        </p:spPr>
        <p:txBody>
          <a:bodyPr wrap="square">
            <a:spAutoFit/>
          </a:bodyPr>
          <a:lstStyle/>
          <a:p>
            <a:pPr algn="l">
              <a:lnSpc>
                <a:spcPts val="1320"/>
              </a:lnSpc>
              <a:spcAft>
                <a:spcPts val="330"/>
              </a:spcAft>
              <a:defRPr sz="1100" b="0">
                <a:solidFill>
                  <a:srgbClr val="6C7086"/>
                </a:solidFill>
                <a:latin typeface="Segoe UI"/>
              </a:defRPr>
            </a:pPr>
            <a:r>
              <a:t>Library architecture, conventions</a:t>
            </a:r>
          </a:p>
        </p:txBody>
      </p:sp>
      <p:sp>
        <p:nvSpPr>
          <p:cNvPr id="27" name="TextBox 26"/>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5 / 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Protocols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② — How the LLM reasons</a:t>
            </a:r>
          </a:p>
        </p:txBody>
      </p:sp>
      <p:sp>
        <p:nvSpPr>
          <p:cNvPr id="5" name="Rounded Rectangle 4"/>
          <p:cNvSpPr/>
          <p:nvPr/>
        </p:nvSpPr>
        <p:spPr>
          <a:xfrm>
            <a:off x="70088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0887" y="1371600"/>
            <a:ext cx="338328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8047" y="1508760"/>
            <a:ext cx="3108960" cy="320040"/>
          </a:xfrm>
          <a:prstGeom prst="rect">
            <a:avLst/>
          </a:prstGeom>
          <a:noFill/>
        </p:spPr>
        <p:txBody>
          <a:bodyPr wrap="square">
            <a:spAutoFit/>
          </a:bodyPr>
          <a:lstStyle/>
          <a:p>
            <a:pPr algn="ctr">
              <a:lnSpc>
                <a:spcPts val="2640"/>
              </a:lnSpc>
              <a:spcAft>
                <a:spcPts val="660"/>
              </a:spcAft>
              <a:defRPr sz="2200" b="1">
                <a:solidFill>
                  <a:srgbClr val="89B4FA"/>
                </a:solidFill>
                <a:latin typeface="Segoe UI"/>
              </a:defRPr>
            </a:pPr>
            <a:r>
              <a:t>Guardrails</a:t>
            </a:r>
          </a:p>
        </p:txBody>
      </p:sp>
      <p:sp>
        <p:nvSpPr>
          <p:cNvPr id="8" name="TextBox 7"/>
          <p:cNvSpPr txBox="1"/>
          <p:nvPr/>
        </p:nvSpPr>
        <p:spPr>
          <a:xfrm>
            <a:off x="83804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Cross-cutting, apply to all tasks</a:t>
            </a:r>
          </a:p>
        </p:txBody>
      </p:sp>
      <p:sp>
        <p:nvSpPr>
          <p:cNvPr id="9" name="Rounded Rectangle 8"/>
          <p:cNvSpPr/>
          <p:nvPr/>
        </p:nvSpPr>
        <p:spPr>
          <a:xfrm>
            <a:off x="810615" y="233172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29487" y="237744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anti-hallucination</a:t>
            </a:r>
          </a:p>
        </p:txBody>
      </p:sp>
      <p:sp>
        <p:nvSpPr>
          <p:cNvPr id="11" name="TextBox 10"/>
          <p:cNvSpPr txBox="1"/>
          <p:nvPr/>
        </p:nvSpPr>
        <p:spPr>
          <a:xfrm>
            <a:off x="92948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Epistemic labeling, refusal</a:t>
            </a:r>
            <a:br/>
            <a:r>
              <a:t>to fabricate, source attribution</a:t>
            </a:r>
          </a:p>
        </p:txBody>
      </p:sp>
      <p:sp>
        <p:nvSpPr>
          <p:cNvPr id="12" name="Rounded Rectangle 11"/>
          <p:cNvSpPr/>
          <p:nvPr/>
        </p:nvSpPr>
        <p:spPr>
          <a:xfrm>
            <a:off x="810615" y="342900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9487" y="347472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self-verification</a:t>
            </a:r>
          </a:p>
        </p:txBody>
      </p:sp>
      <p:sp>
        <p:nvSpPr>
          <p:cNvPr id="14" name="TextBox 13"/>
          <p:cNvSpPr txBox="1"/>
          <p:nvPr/>
        </p:nvSpPr>
        <p:spPr>
          <a:xfrm>
            <a:off x="929487" y="377647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LLM verifies its own output</a:t>
            </a:r>
            <a:br/>
            <a:r>
              <a:t>before finalizing</a:t>
            </a:r>
          </a:p>
        </p:txBody>
      </p:sp>
      <p:sp>
        <p:nvSpPr>
          <p:cNvPr id="15" name="Rounded Rectangle 14"/>
          <p:cNvSpPr/>
          <p:nvPr/>
        </p:nvSpPr>
        <p:spPr>
          <a:xfrm>
            <a:off x="810615" y="452628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29487" y="4572000"/>
            <a:ext cx="2926080" cy="274320"/>
          </a:xfrm>
          <a:prstGeom prst="rect">
            <a:avLst/>
          </a:prstGeom>
          <a:noFill/>
        </p:spPr>
        <p:txBody>
          <a:bodyPr wrap="square">
            <a:spAutoFit/>
          </a:bodyPr>
          <a:lstStyle/>
          <a:p>
            <a:pPr algn="l">
              <a:lnSpc>
                <a:spcPts val="1320"/>
              </a:lnSpc>
              <a:spcAft>
                <a:spcPts val="330"/>
              </a:spcAft>
              <a:defRPr sz="1100" b="1">
                <a:solidFill>
                  <a:srgbClr val="89B4FA"/>
                </a:solidFill>
                <a:latin typeface="Cascadia Code"/>
              </a:defRPr>
            </a:pPr>
            <a:r>
              <a:t>operational-constraints</a:t>
            </a:r>
          </a:p>
        </p:txBody>
      </p:sp>
      <p:sp>
        <p:nvSpPr>
          <p:cNvPr id="17" name="TextBox 16"/>
          <p:cNvSpPr txBox="1"/>
          <p:nvPr/>
        </p:nvSpPr>
        <p:spPr>
          <a:xfrm>
            <a:off x="929487" y="487375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Scoping, tool usage,</a:t>
            </a:r>
            <a:br/>
            <a:r>
              <a:t>reproducibility</a:t>
            </a:r>
          </a:p>
        </p:txBody>
      </p:sp>
      <p:sp>
        <p:nvSpPr>
          <p:cNvPr id="18" name="Rounded Rectangle 17"/>
          <p:cNvSpPr/>
          <p:nvPr/>
        </p:nvSpPr>
        <p:spPr>
          <a:xfrm>
            <a:off x="440420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4404207" y="1371600"/>
            <a:ext cx="338328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41367" y="1508760"/>
            <a:ext cx="3108960" cy="320040"/>
          </a:xfrm>
          <a:prstGeom prst="rect">
            <a:avLst/>
          </a:prstGeom>
          <a:noFill/>
        </p:spPr>
        <p:txBody>
          <a:bodyPr wrap="square">
            <a:spAutoFit/>
          </a:bodyPr>
          <a:lstStyle/>
          <a:p>
            <a:pPr algn="ctr">
              <a:lnSpc>
                <a:spcPts val="2640"/>
              </a:lnSpc>
              <a:spcAft>
                <a:spcPts val="660"/>
              </a:spcAft>
              <a:defRPr sz="2200" b="1">
                <a:solidFill>
                  <a:srgbClr val="A6E3A1"/>
                </a:solidFill>
                <a:latin typeface="Segoe UI"/>
              </a:defRPr>
            </a:pPr>
            <a:r>
              <a:t>Analysis</a:t>
            </a:r>
          </a:p>
        </p:txBody>
      </p:sp>
      <p:sp>
        <p:nvSpPr>
          <p:cNvPr id="21" name="TextBox 20"/>
          <p:cNvSpPr txBox="1"/>
          <p:nvPr/>
        </p:nvSpPr>
        <p:spPr>
          <a:xfrm>
            <a:off x="454136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Domain/language-specific checks</a:t>
            </a:r>
          </a:p>
        </p:txBody>
      </p:sp>
      <p:sp>
        <p:nvSpPr>
          <p:cNvPr id="22" name="Rounded Rectangle 21"/>
          <p:cNvSpPr/>
          <p:nvPr/>
        </p:nvSpPr>
        <p:spPr>
          <a:xfrm>
            <a:off x="4513935" y="233172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32807" y="237744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memory-safety-c</a:t>
            </a:r>
          </a:p>
        </p:txBody>
      </p:sp>
      <p:sp>
        <p:nvSpPr>
          <p:cNvPr id="24" name="TextBox 23"/>
          <p:cNvSpPr txBox="1"/>
          <p:nvPr/>
        </p:nvSpPr>
        <p:spPr>
          <a:xfrm>
            <a:off x="463280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Allocation, pointers, buffers</a:t>
            </a:r>
          </a:p>
        </p:txBody>
      </p:sp>
      <p:sp>
        <p:nvSpPr>
          <p:cNvPr id="25" name="Rounded Rectangle 24"/>
          <p:cNvSpPr/>
          <p:nvPr/>
        </p:nvSpPr>
        <p:spPr>
          <a:xfrm>
            <a:off x="4513935" y="342900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32807" y="347472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memory-safety-rust</a:t>
            </a:r>
          </a:p>
        </p:txBody>
      </p:sp>
      <p:sp>
        <p:nvSpPr>
          <p:cNvPr id="27" name="TextBox 26"/>
          <p:cNvSpPr txBox="1"/>
          <p:nvPr/>
        </p:nvSpPr>
        <p:spPr>
          <a:xfrm>
            <a:off x="4632807" y="377647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unsafe blocks, FFI, interior mut</a:t>
            </a:r>
          </a:p>
        </p:txBody>
      </p:sp>
      <p:sp>
        <p:nvSpPr>
          <p:cNvPr id="28" name="Rounded Rectangle 27"/>
          <p:cNvSpPr/>
          <p:nvPr/>
        </p:nvSpPr>
        <p:spPr>
          <a:xfrm>
            <a:off x="4513935" y="452628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632807" y="4572000"/>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thread-safety</a:t>
            </a:r>
          </a:p>
        </p:txBody>
      </p:sp>
      <p:sp>
        <p:nvSpPr>
          <p:cNvPr id="30" name="TextBox 29"/>
          <p:cNvSpPr txBox="1"/>
          <p:nvPr/>
        </p:nvSpPr>
        <p:spPr>
          <a:xfrm>
            <a:off x="4632807" y="487375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Races, deadlocks, atomics</a:t>
            </a:r>
          </a:p>
        </p:txBody>
      </p:sp>
      <p:sp>
        <p:nvSpPr>
          <p:cNvPr id="31" name="Rounded Rectangle 30"/>
          <p:cNvSpPr/>
          <p:nvPr/>
        </p:nvSpPr>
        <p:spPr>
          <a:xfrm>
            <a:off x="4513935" y="5623559"/>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632807" y="5669279"/>
            <a:ext cx="2926080" cy="274320"/>
          </a:xfrm>
          <a:prstGeom prst="rect">
            <a:avLst/>
          </a:prstGeom>
          <a:noFill/>
        </p:spPr>
        <p:txBody>
          <a:bodyPr wrap="square">
            <a:spAutoFit/>
          </a:bodyPr>
          <a:lstStyle/>
          <a:p>
            <a:pPr algn="l">
              <a:lnSpc>
                <a:spcPts val="1320"/>
              </a:lnSpc>
              <a:spcAft>
                <a:spcPts val="330"/>
              </a:spcAft>
              <a:defRPr sz="1100" b="1">
                <a:solidFill>
                  <a:srgbClr val="A6E3A1"/>
                </a:solidFill>
                <a:latin typeface="Cascadia Code"/>
              </a:defRPr>
            </a:pPr>
            <a:r>
              <a:t>security-vulnerability</a:t>
            </a:r>
          </a:p>
        </p:txBody>
      </p:sp>
      <p:sp>
        <p:nvSpPr>
          <p:cNvPr id="33" name="TextBox 32"/>
          <p:cNvSpPr txBox="1"/>
          <p:nvPr/>
        </p:nvSpPr>
        <p:spPr>
          <a:xfrm>
            <a:off x="4632807" y="5971031"/>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Trust boundaries, auth, crypto</a:t>
            </a:r>
          </a:p>
        </p:txBody>
      </p:sp>
      <p:sp>
        <p:nvSpPr>
          <p:cNvPr id="34" name="Rounded Rectangle 33"/>
          <p:cNvSpPr/>
          <p:nvPr/>
        </p:nvSpPr>
        <p:spPr>
          <a:xfrm>
            <a:off x="8107527" y="1371600"/>
            <a:ext cx="3383280" cy="50292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8107527" y="1371600"/>
            <a:ext cx="338328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244687" y="1508760"/>
            <a:ext cx="3108960" cy="320040"/>
          </a:xfrm>
          <a:prstGeom prst="rect">
            <a:avLst/>
          </a:prstGeom>
          <a:noFill/>
        </p:spPr>
        <p:txBody>
          <a:bodyPr wrap="square">
            <a:spAutoFit/>
          </a:bodyPr>
          <a:lstStyle/>
          <a:p>
            <a:pPr algn="ctr">
              <a:lnSpc>
                <a:spcPts val="2640"/>
              </a:lnSpc>
              <a:spcAft>
                <a:spcPts val="660"/>
              </a:spcAft>
              <a:defRPr sz="2200" b="1">
                <a:solidFill>
                  <a:srgbClr val="F9E2AF"/>
                </a:solidFill>
                <a:latin typeface="Segoe UI"/>
              </a:defRPr>
            </a:pPr>
            <a:r>
              <a:t>Reasoning</a:t>
            </a:r>
          </a:p>
        </p:txBody>
      </p:sp>
      <p:sp>
        <p:nvSpPr>
          <p:cNvPr id="37" name="TextBox 36"/>
          <p:cNvSpPr txBox="1"/>
          <p:nvPr/>
        </p:nvSpPr>
        <p:spPr>
          <a:xfrm>
            <a:off x="8244687" y="1874520"/>
            <a:ext cx="3108960" cy="27432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Systematic approaches</a:t>
            </a:r>
          </a:p>
        </p:txBody>
      </p:sp>
      <p:sp>
        <p:nvSpPr>
          <p:cNvPr id="38" name="Rounded Rectangle 37"/>
          <p:cNvSpPr/>
          <p:nvPr/>
        </p:nvSpPr>
        <p:spPr>
          <a:xfrm>
            <a:off x="8217255" y="233172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336127" y="237744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root-cause-analysis</a:t>
            </a:r>
          </a:p>
        </p:txBody>
      </p:sp>
      <p:sp>
        <p:nvSpPr>
          <p:cNvPr id="40" name="TextBox 39"/>
          <p:cNvSpPr txBox="1"/>
          <p:nvPr/>
        </p:nvSpPr>
        <p:spPr>
          <a:xfrm>
            <a:off x="8336127" y="267919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Hypothesis → evidence →</a:t>
            </a:r>
            <a:br/>
            <a:r>
              <a:t>elimination → root cause</a:t>
            </a:r>
          </a:p>
        </p:txBody>
      </p:sp>
      <p:sp>
        <p:nvSpPr>
          <p:cNvPr id="41" name="Rounded Rectangle 40"/>
          <p:cNvSpPr/>
          <p:nvPr/>
        </p:nvSpPr>
        <p:spPr>
          <a:xfrm>
            <a:off x="8217255" y="342900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336127" y="347472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requirements-elicitation</a:t>
            </a:r>
          </a:p>
        </p:txBody>
      </p:sp>
      <p:sp>
        <p:nvSpPr>
          <p:cNvPr id="43" name="TextBox 42"/>
          <p:cNvSpPr txBox="1"/>
          <p:nvPr/>
        </p:nvSpPr>
        <p:spPr>
          <a:xfrm>
            <a:off x="8336127" y="377647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Atomic, testable REQ-IDs</a:t>
            </a:r>
            <a:br/>
            <a:r>
              <a:t>with RFC 2119 keywords</a:t>
            </a:r>
          </a:p>
        </p:txBody>
      </p:sp>
      <p:sp>
        <p:nvSpPr>
          <p:cNvPr id="44" name="Rounded Rectangle 43"/>
          <p:cNvSpPr/>
          <p:nvPr/>
        </p:nvSpPr>
        <p:spPr>
          <a:xfrm>
            <a:off x="8217255" y="4526280"/>
            <a:ext cx="3163824" cy="9144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336127" y="4572000"/>
            <a:ext cx="2926080" cy="274320"/>
          </a:xfrm>
          <a:prstGeom prst="rect">
            <a:avLst/>
          </a:prstGeom>
          <a:noFill/>
        </p:spPr>
        <p:txBody>
          <a:bodyPr wrap="square">
            <a:spAutoFit/>
          </a:bodyPr>
          <a:lstStyle/>
          <a:p>
            <a:pPr algn="l">
              <a:lnSpc>
                <a:spcPts val="1320"/>
              </a:lnSpc>
              <a:spcAft>
                <a:spcPts val="330"/>
              </a:spcAft>
              <a:defRPr sz="1100" b="1">
                <a:solidFill>
                  <a:srgbClr val="F9E2AF"/>
                </a:solidFill>
                <a:latin typeface="Cascadia Code"/>
              </a:defRPr>
            </a:pPr>
            <a:r>
              <a:t>iterative-refinement</a:t>
            </a:r>
          </a:p>
        </p:txBody>
      </p:sp>
      <p:sp>
        <p:nvSpPr>
          <p:cNvPr id="46" name="TextBox 45"/>
          <p:cNvSpPr txBox="1"/>
          <p:nvPr/>
        </p:nvSpPr>
        <p:spPr>
          <a:xfrm>
            <a:off x="8336127" y="4873752"/>
            <a:ext cx="2926080" cy="5029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Structure-preserving</a:t>
            </a:r>
            <a:br/>
            <a:r>
              <a:t>feedback cycles</a:t>
            </a:r>
          </a:p>
        </p:txBody>
      </p:sp>
      <p:sp>
        <p:nvSpPr>
          <p:cNvPr id="47" name="TextBox 46"/>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6 / 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Anti-Hallucination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The most important guardrail — prevents fabrication</a:t>
            </a:r>
          </a:p>
        </p:txBody>
      </p:sp>
      <p:sp>
        <p:nvSpPr>
          <p:cNvPr id="5" name="Rectangle 4"/>
          <p:cNvSpPr/>
          <p:nvPr/>
        </p:nvSpPr>
        <p:spPr>
          <a:xfrm>
            <a:off x="731520" y="1371600"/>
            <a:ext cx="54864" cy="77724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1353312"/>
            <a:ext cx="2743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Epistemic Labeling</a:t>
            </a:r>
          </a:p>
        </p:txBody>
      </p:sp>
      <p:sp>
        <p:nvSpPr>
          <p:cNvPr id="7" name="TextBox 6"/>
          <p:cNvSpPr txBox="1"/>
          <p:nvPr/>
        </p:nvSpPr>
        <p:spPr>
          <a:xfrm>
            <a:off x="3657600" y="1389888"/>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Every claim tagged: KNOWN (directly stated), INFERRED (reasoned with explicit chain), or ASSUMED (flagged with justification).</a:t>
            </a:r>
            <a:br/>
            <a:r>
              <a:t>If ASSUMED &gt; ~30% → stop and request more context.</a:t>
            </a:r>
          </a:p>
        </p:txBody>
      </p:sp>
      <p:sp>
        <p:nvSpPr>
          <p:cNvPr id="8" name="Rectangle 7"/>
          <p:cNvSpPr/>
          <p:nvPr/>
        </p:nvSpPr>
        <p:spPr>
          <a:xfrm>
            <a:off x="731520" y="2395728"/>
            <a:ext cx="54864" cy="77724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2377440"/>
            <a:ext cx="2743200" cy="274320"/>
          </a:xfrm>
          <a:prstGeom prst="rect">
            <a:avLst/>
          </a:prstGeom>
          <a:noFill/>
        </p:spPr>
        <p:txBody>
          <a:bodyPr wrap="square">
            <a:spAutoFit/>
          </a:bodyPr>
          <a:lstStyle/>
          <a:p>
            <a:pPr algn="l">
              <a:lnSpc>
                <a:spcPts val="2160"/>
              </a:lnSpc>
              <a:spcAft>
                <a:spcPts val="540"/>
              </a:spcAft>
              <a:defRPr sz="1800" b="1">
                <a:solidFill>
                  <a:srgbClr val="FAB387"/>
                </a:solidFill>
                <a:latin typeface="Segoe UI"/>
              </a:defRPr>
            </a:pPr>
            <a:r>
              <a:t>Refusal to Fabricate</a:t>
            </a:r>
          </a:p>
        </p:txBody>
      </p:sp>
      <p:sp>
        <p:nvSpPr>
          <p:cNvPr id="10" name="TextBox 9"/>
          <p:cNvSpPr txBox="1"/>
          <p:nvPr/>
        </p:nvSpPr>
        <p:spPr>
          <a:xfrm>
            <a:off x="3657600" y="2414016"/>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Do NOT invent function names, API signatures, config values, file paths, or version numbers.</a:t>
            </a:r>
            <a:br/>
            <a:r>
              <a:t>Use [UNKNOWN: &lt;what is missing&gt;] as placeholder.</a:t>
            </a:r>
          </a:p>
        </p:txBody>
      </p:sp>
      <p:sp>
        <p:nvSpPr>
          <p:cNvPr id="11" name="Rectangle 10"/>
          <p:cNvSpPr/>
          <p:nvPr/>
        </p:nvSpPr>
        <p:spPr>
          <a:xfrm>
            <a:off x="731520" y="3419856"/>
            <a:ext cx="54864" cy="77724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3401568"/>
            <a:ext cx="2743200" cy="27432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Uncertainty Disclosure</a:t>
            </a:r>
          </a:p>
        </p:txBody>
      </p:sp>
      <p:sp>
        <p:nvSpPr>
          <p:cNvPr id="13" name="TextBox 12"/>
          <p:cNvSpPr txBox="1"/>
          <p:nvPr/>
        </p:nvSpPr>
        <p:spPr>
          <a:xfrm>
            <a:off x="3657600" y="3438144"/>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Enumerate multiple interpretations rather than choosing silently. State: "Low confidence — depends on [assumption]. Verify by [action]."</a:t>
            </a:r>
          </a:p>
        </p:txBody>
      </p:sp>
      <p:sp>
        <p:nvSpPr>
          <p:cNvPr id="14" name="Rectangle 13"/>
          <p:cNvSpPr/>
          <p:nvPr/>
        </p:nvSpPr>
        <p:spPr>
          <a:xfrm>
            <a:off x="731520" y="4443984"/>
            <a:ext cx="54864" cy="77724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4425696"/>
            <a:ext cx="2743200" cy="274320"/>
          </a:xfrm>
          <a:prstGeom prst="rect">
            <a:avLst/>
          </a:prstGeom>
          <a:noFill/>
        </p:spPr>
        <p:txBody>
          <a:bodyPr wrap="square">
            <a:spAutoFit/>
          </a:bodyPr>
          <a:lstStyle/>
          <a:p>
            <a:pPr algn="l">
              <a:lnSpc>
                <a:spcPts val="2160"/>
              </a:lnSpc>
              <a:spcAft>
                <a:spcPts val="540"/>
              </a:spcAft>
              <a:defRPr sz="1800" b="1">
                <a:solidFill>
                  <a:srgbClr val="A6E3A1"/>
                </a:solidFill>
                <a:latin typeface="Segoe UI"/>
              </a:defRPr>
            </a:pPr>
            <a:r>
              <a:t>Source Attribution</a:t>
            </a:r>
          </a:p>
        </p:txBody>
      </p:sp>
      <p:sp>
        <p:nvSpPr>
          <p:cNvPr id="16" name="TextBox 15"/>
          <p:cNvSpPr txBox="1"/>
          <p:nvPr/>
        </p:nvSpPr>
        <p:spPr>
          <a:xfrm>
            <a:off x="3657600" y="4462272"/>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Indicate provenance: "per requirements doc §3.2" or "line 42 of auth.c".</a:t>
            </a:r>
            <a:br/>
            <a:r>
              <a:t>Do NOT cite sources not provided.</a:t>
            </a:r>
          </a:p>
        </p:txBody>
      </p:sp>
      <p:sp>
        <p:nvSpPr>
          <p:cNvPr id="17" name="Rectangle 16"/>
          <p:cNvSpPr/>
          <p:nvPr/>
        </p:nvSpPr>
        <p:spPr>
          <a:xfrm>
            <a:off x="731520" y="5468112"/>
            <a:ext cx="54864" cy="77724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5840" y="5449824"/>
            <a:ext cx="2743200" cy="274320"/>
          </a:xfrm>
          <a:prstGeom prst="rect">
            <a:avLst/>
          </a:prstGeom>
          <a:noFill/>
        </p:spPr>
        <p:txBody>
          <a:bodyPr wrap="square">
            <a:spAutoFit/>
          </a:bodyPr>
          <a:lstStyle/>
          <a:p>
            <a:pPr algn="l">
              <a:lnSpc>
                <a:spcPts val="2160"/>
              </a:lnSpc>
              <a:spcAft>
                <a:spcPts val="540"/>
              </a:spcAft>
              <a:defRPr sz="1800" b="1">
                <a:solidFill>
                  <a:srgbClr val="F38BA8"/>
                </a:solidFill>
                <a:latin typeface="Segoe UI"/>
              </a:defRPr>
            </a:pPr>
            <a:r>
              <a:t>Scope Boundaries</a:t>
            </a:r>
          </a:p>
        </p:txBody>
      </p:sp>
      <p:sp>
        <p:nvSpPr>
          <p:cNvPr id="19" name="TextBox 18"/>
          <p:cNvSpPr txBox="1"/>
          <p:nvPr/>
        </p:nvSpPr>
        <p:spPr>
          <a:xfrm>
            <a:off x="3657600" y="5486400"/>
            <a:ext cx="7772400" cy="77724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If question falls outside provided context, say so explicitly.</a:t>
            </a:r>
            <a:br/>
            <a:r>
              <a:t>List what additional information is needed.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7 / 16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Spotlight: Root Cause Analysis Protocol</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5-phase structured reasoning methodology</a:t>
            </a:r>
          </a:p>
        </p:txBody>
      </p:sp>
      <p:sp>
        <p:nvSpPr>
          <p:cNvPr id="5" name="Rounded Rectangle 4"/>
          <p:cNvSpPr/>
          <p:nvPr/>
        </p:nvSpPr>
        <p:spPr>
          <a:xfrm>
            <a:off x="74660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46607" y="1554480"/>
            <a:ext cx="192024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3804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1</a:t>
            </a:r>
          </a:p>
        </p:txBody>
      </p:sp>
      <p:sp>
        <p:nvSpPr>
          <p:cNvPr id="8" name="TextBox 7"/>
          <p:cNvSpPr txBox="1"/>
          <p:nvPr/>
        </p:nvSpPr>
        <p:spPr>
          <a:xfrm>
            <a:off x="838047" y="2011680"/>
            <a:ext cx="1737360" cy="640080"/>
          </a:xfrm>
          <a:prstGeom prst="rect">
            <a:avLst/>
          </a:prstGeom>
          <a:noFill/>
        </p:spPr>
        <p:txBody>
          <a:bodyPr wrap="square">
            <a:spAutoFit/>
          </a:bodyPr>
          <a:lstStyle/>
          <a:p>
            <a:pPr algn="ctr">
              <a:lnSpc>
                <a:spcPts val="1920"/>
              </a:lnSpc>
              <a:spcAft>
                <a:spcPts val="480"/>
              </a:spcAft>
              <a:defRPr sz="1600" b="1">
                <a:solidFill>
                  <a:srgbClr val="89B4FA"/>
                </a:solidFill>
                <a:latin typeface="Segoe UI"/>
              </a:defRPr>
            </a:pPr>
            <a:r>
              <a:t>Symptom</a:t>
            </a:r>
            <a:br/>
            <a:r>
              <a:t>Characterization</a:t>
            </a:r>
          </a:p>
        </p:txBody>
      </p:sp>
      <p:sp>
        <p:nvSpPr>
          <p:cNvPr id="9" name="TextBox 8"/>
          <p:cNvSpPr txBox="1"/>
          <p:nvPr/>
        </p:nvSpPr>
        <p:spPr>
          <a:xfrm>
            <a:off x="83804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Observed vs expected, timeline,</a:t>
            </a:r>
            <a:br/>
            <a:r>
              <a:t>blast radius, deterministic?</a:t>
            </a:r>
          </a:p>
        </p:txBody>
      </p:sp>
      <p:sp>
        <p:nvSpPr>
          <p:cNvPr id="10" name="TextBox 9"/>
          <p:cNvSpPr txBox="1"/>
          <p:nvPr/>
        </p:nvSpPr>
        <p:spPr>
          <a:xfrm>
            <a:off x="268513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1" name="Rounded Rectangle 10"/>
          <p:cNvSpPr/>
          <p:nvPr/>
        </p:nvSpPr>
        <p:spPr>
          <a:xfrm>
            <a:off x="294116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941167" y="1554480"/>
            <a:ext cx="192024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3260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2</a:t>
            </a:r>
          </a:p>
        </p:txBody>
      </p:sp>
      <p:sp>
        <p:nvSpPr>
          <p:cNvPr id="14" name="TextBox 13"/>
          <p:cNvSpPr txBox="1"/>
          <p:nvPr/>
        </p:nvSpPr>
        <p:spPr>
          <a:xfrm>
            <a:off x="3032607" y="2011680"/>
            <a:ext cx="1737360" cy="640080"/>
          </a:xfrm>
          <a:prstGeom prst="rect">
            <a:avLst/>
          </a:prstGeom>
          <a:noFill/>
        </p:spPr>
        <p:txBody>
          <a:bodyPr wrap="square">
            <a:spAutoFit/>
          </a:bodyPr>
          <a:lstStyle/>
          <a:p>
            <a:pPr algn="ctr">
              <a:lnSpc>
                <a:spcPts val="1920"/>
              </a:lnSpc>
              <a:spcAft>
                <a:spcPts val="480"/>
              </a:spcAft>
              <a:defRPr sz="1600" b="1">
                <a:solidFill>
                  <a:srgbClr val="A6E3A1"/>
                </a:solidFill>
                <a:latin typeface="Segoe UI"/>
              </a:defRPr>
            </a:pPr>
            <a:r>
              <a:t>Hypothesis</a:t>
            </a:r>
            <a:br/>
            <a:r>
              <a:t>Generation</a:t>
            </a:r>
          </a:p>
        </p:txBody>
      </p:sp>
      <p:sp>
        <p:nvSpPr>
          <p:cNvPr id="15" name="TextBox 14"/>
          <p:cNvSpPr txBox="1"/>
          <p:nvPr/>
        </p:nvSpPr>
        <p:spPr>
          <a:xfrm>
            <a:off x="303260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≥3 ranked hypotheses before</a:t>
            </a:r>
            <a:br/>
            <a:r>
              <a:t>investigating any. Include 1 non-obvious.</a:t>
            </a:r>
          </a:p>
        </p:txBody>
      </p:sp>
      <p:sp>
        <p:nvSpPr>
          <p:cNvPr id="16" name="TextBox 15"/>
          <p:cNvSpPr txBox="1"/>
          <p:nvPr/>
        </p:nvSpPr>
        <p:spPr>
          <a:xfrm>
            <a:off x="487969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513572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135727" y="1554480"/>
            <a:ext cx="192024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2716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3</a:t>
            </a:r>
          </a:p>
        </p:txBody>
      </p:sp>
      <p:sp>
        <p:nvSpPr>
          <p:cNvPr id="20" name="TextBox 19"/>
          <p:cNvSpPr txBox="1"/>
          <p:nvPr/>
        </p:nvSpPr>
        <p:spPr>
          <a:xfrm>
            <a:off x="5227167" y="2011680"/>
            <a:ext cx="1737360" cy="640080"/>
          </a:xfrm>
          <a:prstGeom prst="rect">
            <a:avLst/>
          </a:prstGeom>
          <a:noFill/>
        </p:spPr>
        <p:txBody>
          <a:bodyPr wrap="square">
            <a:spAutoFit/>
          </a:bodyPr>
          <a:lstStyle/>
          <a:p>
            <a:pPr algn="ctr">
              <a:lnSpc>
                <a:spcPts val="1920"/>
              </a:lnSpc>
              <a:spcAft>
                <a:spcPts val="480"/>
              </a:spcAft>
              <a:defRPr sz="1600" b="1">
                <a:solidFill>
                  <a:srgbClr val="F9E2AF"/>
                </a:solidFill>
                <a:latin typeface="Segoe UI"/>
              </a:defRPr>
            </a:pPr>
            <a:r>
              <a:t>Evidence &amp;</a:t>
            </a:r>
            <a:br/>
            <a:r>
              <a:t>Elimination</a:t>
            </a:r>
          </a:p>
        </p:txBody>
      </p:sp>
      <p:sp>
        <p:nvSpPr>
          <p:cNvPr id="21" name="TextBox 20"/>
          <p:cNvSpPr txBox="1"/>
          <p:nvPr/>
        </p:nvSpPr>
        <p:spPr>
          <a:xfrm>
            <a:off x="522716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Minimal investigation per hypothesis.</a:t>
            </a:r>
            <a:br/>
            <a:r>
              <a:t>CONFIRMED / ELIMINATED / INCONCLUSIVE</a:t>
            </a:r>
          </a:p>
        </p:txBody>
      </p:sp>
      <p:sp>
        <p:nvSpPr>
          <p:cNvPr id="22" name="TextBox 21"/>
          <p:cNvSpPr txBox="1"/>
          <p:nvPr/>
        </p:nvSpPr>
        <p:spPr>
          <a:xfrm>
            <a:off x="707425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3" name="Rounded Rectangle 22"/>
          <p:cNvSpPr/>
          <p:nvPr/>
        </p:nvSpPr>
        <p:spPr>
          <a:xfrm>
            <a:off x="733028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330287" y="1554480"/>
            <a:ext cx="1920240" cy="54864"/>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2172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4</a:t>
            </a:r>
          </a:p>
        </p:txBody>
      </p:sp>
      <p:sp>
        <p:nvSpPr>
          <p:cNvPr id="26" name="TextBox 25"/>
          <p:cNvSpPr txBox="1"/>
          <p:nvPr/>
        </p:nvSpPr>
        <p:spPr>
          <a:xfrm>
            <a:off x="7421727" y="2011680"/>
            <a:ext cx="1737360" cy="640080"/>
          </a:xfrm>
          <a:prstGeom prst="rect">
            <a:avLst/>
          </a:prstGeom>
          <a:noFill/>
        </p:spPr>
        <p:txBody>
          <a:bodyPr wrap="square">
            <a:spAutoFit/>
          </a:bodyPr>
          <a:lstStyle/>
          <a:p>
            <a:pPr algn="ctr">
              <a:lnSpc>
                <a:spcPts val="1920"/>
              </a:lnSpc>
              <a:spcAft>
                <a:spcPts val="480"/>
              </a:spcAft>
              <a:defRPr sz="1600" b="1">
                <a:solidFill>
                  <a:srgbClr val="FAB387"/>
                </a:solidFill>
                <a:latin typeface="Segoe UI"/>
              </a:defRPr>
            </a:pPr>
            <a:r>
              <a:t>Root Cause</a:t>
            </a:r>
            <a:br/>
            <a:r>
              <a:t>Identification</a:t>
            </a:r>
          </a:p>
        </p:txBody>
      </p:sp>
      <p:sp>
        <p:nvSpPr>
          <p:cNvPr id="27" name="TextBox 26"/>
          <p:cNvSpPr txBox="1"/>
          <p:nvPr/>
        </p:nvSpPr>
        <p:spPr>
          <a:xfrm>
            <a:off x="742172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Distinguish root from proximate.</a:t>
            </a:r>
            <a:br/>
            <a:r>
              <a:t>Trace full causal chain.</a:t>
            </a:r>
          </a:p>
        </p:txBody>
      </p:sp>
      <p:sp>
        <p:nvSpPr>
          <p:cNvPr id="28" name="TextBox 27"/>
          <p:cNvSpPr txBox="1"/>
          <p:nvPr/>
        </p:nvSpPr>
        <p:spPr>
          <a:xfrm>
            <a:off x="9268815" y="2834640"/>
            <a:ext cx="27432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29" name="Rounded Rectangle 28"/>
          <p:cNvSpPr/>
          <p:nvPr/>
        </p:nvSpPr>
        <p:spPr>
          <a:xfrm>
            <a:off x="9524847" y="1554480"/>
            <a:ext cx="192024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9524847" y="1554480"/>
            <a:ext cx="1920240" cy="54864"/>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616287" y="1737360"/>
            <a:ext cx="1737360" cy="228600"/>
          </a:xfrm>
          <a:prstGeom prst="rect">
            <a:avLst/>
          </a:prstGeom>
          <a:noFill/>
        </p:spPr>
        <p:txBody>
          <a:bodyPr wrap="square">
            <a:spAutoFit/>
          </a:bodyPr>
          <a:lstStyle/>
          <a:p>
            <a:pPr algn="ctr">
              <a:lnSpc>
                <a:spcPts val="1320"/>
              </a:lnSpc>
              <a:spcAft>
                <a:spcPts val="330"/>
              </a:spcAft>
              <a:defRPr sz="1100" b="0">
                <a:solidFill>
                  <a:srgbClr val="6C7086"/>
                </a:solidFill>
                <a:latin typeface="Segoe UI"/>
              </a:defRPr>
            </a:pPr>
            <a:r>
              <a:t>Phase 5</a:t>
            </a:r>
          </a:p>
        </p:txBody>
      </p:sp>
      <p:sp>
        <p:nvSpPr>
          <p:cNvPr id="32" name="TextBox 31"/>
          <p:cNvSpPr txBox="1"/>
          <p:nvPr/>
        </p:nvSpPr>
        <p:spPr>
          <a:xfrm>
            <a:off x="9616287" y="2011680"/>
            <a:ext cx="1737360" cy="640080"/>
          </a:xfrm>
          <a:prstGeom prst="rect">
            <a:avLst/>
          </a:prstGeom>
          <a:noFill/>
        </p:spPr>
        <p:txBody>
          <a:bodyPr wrap="square">
            <a:spAutoFit/>
          </a:bodyPr>
          <a:lstStyle/>
          <a:p>
            <a:pPr algn="ctr">
              <a:lnSpc>
                <a:spcPts val="1920"/>
              </a:lnSpc>
              <a:spcAft>
                <a:spcPts val="480"/>
              </a:spcAft>
              <a:defRPr sz="1600" b="1">
                <a:solidFill>
                  <a:srgbClr val="F38BA8"/>
                </a:solidFill>
                <a:latin typeface="Segoe UI"/>
              </a:defRPr>
            </a:pPr>
            <a:r>
              <a:t>Remediation</a:t>
            </a:r>
          </a:p>
        </p:txBody>
      </p:sp>
      <p:sp>
        <p:nvSpPr>
          <p:cNvPr id="33" name="TextBox 32"/>
          <p:cNvSpPr txBox="1"/>
          <p:nvPr/>
        </p:nvSpPr>
        <p:spPr>
          <a:xfrm>
            <a:off x="9616287" y="2926080"/>
            <a:ext cx="1737360" cy="1463040"/>
          </a:xfrm>
          <a:prstGeom prst="rect">
            <a:avLst/>
          </a:prstGeom>
          <a:noFill/>
        </p:spPr>
        <p:txBody>
          <a:bodyPr wrap="square">
            <a:spAutoFit/>
          </a:bodyPr>
          <a:lstStyle/>
          <a:p>
            <a:pPr algn="ctr">
              <a:lnSpc>
                <a:spcPts val="1539"/>
              </a:lnSpc>
              <a:spcAft>
                <a:spcPts val="330"/>
              </a:spcAft>
              <a:defRPr sz="1100" b="0">
                <a:solidFill>
                  <a:srgbClr val="CDD6F4"/>
                </a:solidFill>
                <a:latin typeface="Segoe UI"/>
              </a:defRPr>
            </a:pPr>
            <a:r>
              <a:t>Fix root, not symptom.</a:t>
            </a:r>
            <a:br/>
            <a:r>
              <a:t>Secondary fixes + risk assessment.</a:t>
            </a:r>
          </a:p>
        </p:txBody>
      </p:sp>
      <p:sp>
        <p:nvSpPr>
          <p:cNvPr id="34" name="Rounded Rectangle 33"/>
          <p:cNvSpPr/>
          <p:nvPr/>
        </p:nvSpPr>
        <p:spPr>
          <a:xfrm>
            <a:off x="1371600" y="5120640"/>
            <a:ext cx="9418320" cy="10972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645920" y="5212080"/>
            <a:ext cx="8869680" cy="914400"/>
          </a:xfrm>
          <a:prstGeom prst="rect">
            <a:avLst/>
          </a:prstGeom>
          <a:noFill/>
        </p:spPr>
        <p:txBody>
          <a:bodyPr wrap="square">
            <a:spAutoFit/>
          </a:bodyPr>
          <a:lstStyle/>
          <a:p>
            <a:pPr algn="ctr">
              <a:lnSpc>
                <a:spcPts val="1820"/>
              </a:lnSpc>
              <a:spcAft>
                <a:spcPts val="390"/>
              </a:spcAft>
              <a:defRPr sz="1300" b="0">
                <a:solidFill>
                  <a:srgbClr val="CDD6F4"/>
                </a:solidFill>
                <a:latin typeface="Segoe UI"/>
              </a:defRPr>
            </a:pPr>
            <a:r>
              <a:t>Key rule: "If we fix only the proximate cause, will the root cause</a:t>
            </a:r>
            <a:br/>
            <a:r>
              <a:t>produce other failures?" → If yes, the fix is incomplete.</a:t>
            </a:r>
            <a:br/>
            <a:br/>
            <a:r>
              <a:t>Example: Proximate = "null deref at line 42" · Root = "init silently fails when config missing"</a:t>
            </a:r>
          </a:p>
        </p:txBody>
      </p:sp>
      <p:sp>
        <p:nvSpPr>
          <p:cNvPr id="36" name="TextBox 3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8 / 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Output Formats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③ — Structured deliverables</a:t>
            </a:r>
          </a:p>
        </p:txBody>
      </p:sp>
      <p:sp>
        <p:nvSpPr>
          <p:cNvPr id="5" name="Rounded Rectangle 4"/>
          <p:cNvSpPr/>
          <p:nvPr/>
        </p:nvSpPr>
        <p:spPr>
          <a:xfrm>
            <a:off x="731520" y="1371600"/>
            <a:ext cx="3840480" cy="13716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463040"/>
            <a:ext cx="3474720" cy="1188720"/>
          </a:xfrm>
          <a:prstGeom prst="rect">
            <a:avLst/>
          </a:prstGeom>
          <a:noFill/>
        </p:spPr>
        <p:txBody>
          <a:bodyPr wrap="square">
            <a:spAutoFit/>
          </a:bodyPr>
          <a:lstStyle/>
          <a:p>
            <a:pPr algn="l">
              <a:lnSpc>
                <a:spcPts val="1950"/>
              </a:lnSpc>
              <a:spcAft>
                <a:spcPts val="390"/>
              </a:spcAft>
              <a:defRPr sz="1300" b="0">
                <a:solidFill>
                  <a:srgbClr val="A6E3A1"/>
                </a:solidFill>
                <a:latin typeface="Cascadia Code"/>
              </a:defRPr>
            </a:pPr>
            <a:r>
              <a:t>---</a:t>
            </a:r>
            <a:br/>
            <a:r>
              <a:t>name: investigation-report</a:t>
            </a:r>
            <a:br/>
            <a:r>
              <a:t>type: format</a:t>
            </a:r>
            <a:br/>
            <a:r>
              <a:t>produces: investigation-report</a:t>
            </a:r>
            <a:br/>
            <a:r>
              <a:t>---</a:t>
            </a:r>
          </a:p>
        </p:txBody>
      </p:sp>
      <p:sp>
        <p:nvSpPr>
          <p:cNvPr id="7" name="TextBox 6"/>
          <p:cNvSpPr txBox="1"/>
          <p:nvPr/>
        </p:nvSpPr>
        <p:spPr>
          <a:xfrm>
            <a:off x="731520" y="3017520"/>
            <a:ext cx="3840480" cy="320040"/>
          </a:xfrm>
          <a:prstGeom prst="rect">
            <a:avLst/>
          </a:prstGeom>
          <a:noFill/>
        </p:spPr>
        <p:txBody>
          <a:bodyPr wrap="square">
            <a:spAutoFit/>
          </a:bodyPr>
          <a:lstStyle/>
          <a:p>
            <a:pPr algn="l">
              <a:lnSpc>
                <a:spcPts val="1920"/>
              </a:lnSpc>
              <a:spcAft>
                <a:spcPts val="480"/>
              </a:spcAft>
              <a:defRPr sz="1600" b="1">
                <a:solidFill>
                  <a:srgbClr val="89B4FA"/>
                </a:solidFill>
                <a:latin typeface="Segoe UI"/>
              </a:defRPr>
            </a:pPr>
            <a:r>
              <a:t>Investigation Report Structure</a:t>
            </a:r>
          </a:p>
        </p:txBody>
      </p:sp>
      <p:sp>
        <p:nvSpPr>
          <p:cNvPr id="8" name="TextBox 7"/>
          <p:cNvSpPr txBox="1"/>
          <p:nvPr/>
        </p:nvSpPr>
        <p:spPr>
          <a:xfrm>
            <a:off x="731520" y="3474720"/>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1. Executive Summary (2-4 sentences)</a:t>
            </a:r>
          </a:p>
        </p:txBody>
      </p:sp>
      <p:sp>
        <p:nvSpPr>
          <p:cNvPr id="9" name="TextBox 8"/>
          <p:cNvSpPr txBox="1"/>
          <p:nvPr/>
        </p:nvSpPr>
        <p:spPr>
          <a:xfrm>
            <a:off x="731520" y="3803904"/>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2. Problem Statement</a:t>
            </a:r>
          </a:p>
        </p:txBody>
      </p:sp>
      <p:sp>
        <p:nvSpPr>
          <p:cNvPr id="10" name="TextBox 9"/>
          <p:cNvSpPr txBox="1"/>
          <p:nvPr/>
        </p:nvSpPr>
        <p:spPr>
          <a:xfrm>
            <a:off x="731520" y="4133087"/>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3. Investigation Scope + limitations</a:t>
            </a:r>
          </a:p>
        </p:txBody>
      </p:sp>
      <p:sp>
        <p:nvSpPr>
          <p:cNvPr id="11" name="TextBox 10"/>
          <p:cNvSpPr txBox="1"/>
          <p:nvPr/>
        </p:nvSpPr>
        <p:spPr>
          <a:xfrm>
            <a:off x="731520" y="4462272"/>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4. Findings (F-NNN, severity-ordered)</a:t>
            </a:r>
          </a:p>
        </p:txBody>
      </p:sp>
      <p:sp>
        <p:nvSpPr>
          <p:cNvPr id="12" name="TextBox 11"/>
          <p:cNvSpPr txBox="1"/>
          <p:nvPr/>
        </p:nvSpPr>
        <p:spPr>
          <a:xfrm>
            <a:off x="731520" y="4791456"/>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5. Root Cause Analysis (causal chain)</a:t>
            </a:r>
          </a:p>
        </p:txBody>
      </p:sp>
      <p:sp>
        <p:nvSpPr>
          <p:cNvPr id="13" name="TextBox 12"/>
          <p:cNvSpPr txBox="1"/>
          <p:nvPr/>
        </p:nvSpPr>
        <p:spPr>
          <a:xfrm>
            <a:off x="731520" y="5120640"/>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6. Remediation Plan (priority table)</a:t>
            </a:r>
          </a:p>
        </p:txBody>
      </p:sp>
      <p:sp>
        <p:nvSpPr>
          <p:cNvPr id="14" name="TextBox 13"/>
          <p:cNvSpPr txBox="1"/>
          <p:nvPr/>
        </p:nvSpPr>
        <p:spPr>
          <a:xfrm>
            <a:off x="731520" y="5449824"/>
            <a:ext cx="3840480" cy="32004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7. Prevention (code + process + tooling)</a:t>
            </a:r>
          </a:p>
        </p:txBody>
      </p:sp>
      <p:sp>
        <p:nvSpPr>
          <p:cNvPr id="15" name="TextBox 14"/>
          <p:cNvSpPr txBox="1"/>
          <p:nvPr/>
        </p:nvSpPr>
        <p:spPr>
          <a:xfrm>
            <a:off x="731520" y="5779008"/>
            <a:ext cx="384048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8. Open Questions</a:t>
            </a:r>
          </a:p>
        </p:txBody>
      </p:sp>
      <p:sp>
        <p:nvSpPr>
          <p:cNvPr id="16" name="TextBox 15"/>
          <p:cNvSpPr txBox="1"/>
          <p:nvPr/>
        </p:nvSpPr>
        <p:spPr>
          <a:xfrm>
            <a:off x="731520" y="6108192"/>
            <a:ext cx="3840480" cy="320040"/>
          </a:xfrm>
          <a:prstGeom prst="rect">
            <a:avLst/>
          </a:prstGeom>
          <a:noFill/>
        </p:spPr>
        <p:txBody>
          <a:bodyPr wrap="square">
            <a:spAutoFit/>
          </a:bodyPr>
          <a:lstStyle/>
          <a:p>
            <a:pPr algn="l">
              <a:lnSpc>
                <a:spcPts val="1439"/>
              </a:lnSpc>
              <a:spcAft>
                <a:spcPts val="359"/>
              </a:spcAft>
              <a:defRPr sz="1200" b="0">
                <a:solidFill>
                  <a:srgbClr val="6C7086"/>
                </a:solidFill>
                <a:latin typeface="Segoe UI"/>
              </a:defRPr>
            </a:pPr>
            <a:r>
              <a:t>9. Revision History</a:t>
            </a:r>
          </a:p>
        </p:txBody>
      </p:sp>
      <p:sp>
        <p:nvSpPr>
          <p:cNvPr id="17" name="TextBox 16"/>
          <p:cNvSpPr txBox="1"/>
          <p:nvPr/>
        </p:nvSpPr>
        <p:spPr>
          <a:xfrm>
            <a:off x="5029200" y="1371600"/>
            <a:ext cx="6400800" cy="320040"/>
          </a:xfrm>
          <a:prstGeom prst="rect">
            <a:avLst/>
          </a:prstGeom>
          <a:noFill/>
        </p:spPr>
        <p:txBody>
          <a:bodyPr wrap="square">
            <a:spAutoFit/>
          </a:bodyPr>
          <a:lstStyle/>
          <a:p>
            <a:pPr algn="l">
              <a:lnSpc>
                <a:spcPts val="2160"/>
              </a:lnSpc>
              <a:spcAft>
                <a:spcPts val="540"/>
              </a:spcAft>
              <a:defRPr sz="1800" b="1">
                <a:solidFill>
                  <a:srgbClr val="F9E2AF"/>
                </a:solidFill>
                <a:latin typeface="Segoe UI"/>
              </a:defRPr>
            </a:pPr>
            <a:r>
              <a:t>All Available Formats</a:t>
            </a:r>
          </a:p>
        </p:txBody>
      </p:sp>
      <p:sp>
        <p:nvSpPr>
          <p:cNvPr id="18" name="Rounded Rectangle 17"/>
          <p:cNvSpPr/>
          <p:nvPr/>
        </p:nvSpPr>
        <p:spPr>
          <a:xfrm>
            <a:off x="5029200" y="1828800"/>
            <a:ext cx="6675120" cy="365760"/>
          </a:xfrm>
          <a:prstGeom prst="roundRect">
            <a:avLst/>
          </a:prstGeom>
          <a:solidFill>
            <a:srgbClr val="89B4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212080" y="1874519"/>
            <a:ext cx="2011680" cy="274320"/>
          </a:xfrm>
          <a:prstGeom prst="rect">
            <a:avLst/>
          </a:prstGeom>
          <a:noFill/>
        </p:spPr>
        <p:txBody>
          <a:bodyPr wrap="square">
            <a:spAutoFit/>
          </a:bodyPr>
          <a:lstStyle/>
          <a:p>
            <a:pPr algn="l">
              <a:lnSpc>
                <a:spcPts val="1439"/>
              </a:lnSpc>
              <a:spcAft>
                <a:spcPts val="359"/>
              </a:spcAft>
              <a:defRPr sz="1200" b="1">
                <a:solidFill>
                  <a:srgbClr val="1E1E2E"/>
                </a:solidFill>
                <a:latin typeface="Segoe UI"/>
              </a:defRPr>
            </a:pPr>
            <a:r>
              <a:t>Format</a:t>
            </a:r>
          </a:p>
        </p:txBody>
      </p:sp>
      <p:sp>
        <p:nvSpPr>
          <p:cNvPr id="20" name="TextBox 19"/>
          <p:cNvSpPr txBox="1"/>
          <p:nvPr/>
        </p:nvSpPr>
        <p:spPr>
          <a:xfrm>
            <a:off x="7223760" y="1874519"/>
            <a:ext cx="2560320" cy="274320"/>
          </a:xfrm>
          <a:prstGeom prst="rect">
            <a:avLst/>
          </a:prstGeom>
          <a:noFill/>
        </p:spPr>
        <p:txBody>
          <a:bodyPr wrap="square">
            <a:spAutoFit/>
          </a:bodyPr>
          <a:lstStyle/>
          <a:p>
            <a:pPr algn="l">
              <a:lnSpc>
                <a:spcPts val="1439"/>
              </a:lnSpc>
              <a:spcAft>
                <a:spcPts val="359"/>
              </a:spcAft>
              <a:defRPr sz="1200" b="1">
                <a:solidFill>
                  <a:srgbClr val="1E1E2E"/>
                </a:solidFill>
                <a:latin typeface="Segoe UI"/>
              </a:defRPr>
            </a:pPr>
            <a:r>
              <a:t>Produces</a:t>
            </a:r>
          </a:p>
        </p:txBody>
      </p:sp>
      <p:sp>
        <p:nvSpPr>
          <p:cNvPr id="21" name="TextBox 20"/>
          <p:cNvSpPr txBox="1"/>
          <p:nvPr/>
        </p:nvSpPr>
        <p:spPr>
          <a:xfrm>
            <a:off x="9784080" y="1874519"/>
            <a:ext cx="1828800" cy="274320"/>
          </a:xfrm>
          <a:prstGeom prst="rect">
            <a:avLst/>
          </a:prstGeom>
          <a:noFill/>
        </p:spPr>
        <p:txBody>
          <a:bodyPr wrap="square">
            <a:spAutoFit/>
          </a:bodyPr>
          <a:lstStyle/>
          <a:p>
            <a:pPr algn="l">
              <a:lnSpc>
                <a:spcPts val="1439"/>
              </a:lnSpc>
              <a:spcAft>
                <a:spcPts val="359"/>
              </a:spcAft>
              <a:defRPr sz="1200" b="1">
                <a:solidFill>
                  <a:srgbClr val="1E1E2E"/>
                </a:solidFill>
                <a:latin typeface="Segoe UI"/>
              </a:defRPr>
            </a:pPr>
            <a:r>
              <a:t>Artifact Type</a:t>
            </a:r>
          </a:p>
        </p:txBody>
      </p:sp>
      <p:sp>
        <p:nvSpPr>
          <p:cNvPr id="22" name="Rounded Rectangle 21"/>
          <p:cNvSpPr/>
          <p:nvPr/>
        </p:nvSpPr>
        <p:spPr>
          <a:xfrm>
            <a:off x="5029200" y="2286000"/>
            <a:ext cx="6675120" cy="384048"/>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212080" y="2331720"/>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requirements-doc</a:t>
            </a:r>
          </a:p>
        </p:txBody>
      </p:sp>
      <p:sp>
        <p:nvSpPr>
          <p:cNvPr id="24" name="TextBox 23"/>
          <p:cNvSpPr txBox="1"/>
          <p:nvPr/>
        </p:nvSpPr>
        <p:spPr>
          <a:xfrm>
            <a:off x="7223760" y="2331720"/>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Numbered REQ-IDs + acceptance criteria</a:t>
            </a:r>
          </a:p>
        </p:txBody>
      </p:sp>
      <p:sp>
        <p:nvSpPr>
          <p:cNvPr id="25" name="TextBox 24"/>
          <p:cNvSpPr txBox="1"/>
          <p:nvPr/>
        </p:nvSpPr>
        <p:spPr>
          <a:xfrm>
            <a:off x="9784080" y="2331720"/>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requirements-document</a:t>
            </a:r>
          </a:p>
        </p:txBody>
      </p:sp>
      <p:sp>
        <p:nvSpPr>
          <p:cNvPr id="26" name="Rounded Rectangle 25"/>
          <p:cNvSpPr/>
          <p:nvPr/>
        </p:nvSpPr>
        <p:spPr>
          <a:xfrm>
            <a:off x="5029200" y="2724912"/>
            <a:ext cx="6675120" cy="384048"/>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212080" y="2770632"/>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design-doc</a:t>
            </a:r>
          </a:p>
        </p:txBody>
      </p:sp>
      <p:sp>
        <p:nvSpPr>
          <p:cNvPr id="28" name="TextBox 27"/>
          <p:cNvSpPr txBox="1"/>
          <p:nvPr/>
        </p:nvSpPr>
        <p:spPr>
          <a:xfrm>
            <a:off x="7223760" y="2770632"/>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Architecture, APIs, tradeoff analysis</a:t>
            </a:r>
          </a:p>
        </p:txBody>
      </p:sp>
      <p:sp>
        <p:nvSpPr>
          <p:cNvPr id="29" name="TextBox 28"/>
          <p:cNvSpPr txBox="1"/>
          <p:nvPr/>
        </p:nvSpPr>
        <p:spPr>
          <a:xfrm>
            <a:off x="9784080" y="2770632"/>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design-document</a:t>
            </a:r>
          </a:p>
        </p:txBody>
      </p:sp>
      <p:sp>
        <p:nvSpPr>
          <p:cNvPr id="30" name="Rounded Rectangle 29"/>
          <p:cNvSpPr/>
          <p:nvPr/>
        </p:nvSpPr>
        <p:spPr>
          <a:xfrm>
            <a:off x="5029200" y="3163824"/>
            <a:ext cx="6675120" cy="384048"/>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212080" y="3209544"/>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validation-plan</a:t>
            </a:r>
          </a:p>
        </p:txBody>
      </p:sp>
      <p:sp>
        <p:nvSpPr>
          <p:cNvPr id="32" name="TextBox 31"/>
          <p:cNvSpPr txBox="1"/>
          <p:nvPr/>
        </p:nvSpPr>
        <p:spPr>
          <a:xfrm>
            <a:off x="7223760" y="3209544"/>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Test cases + traceability matrix</a:t>
            </a:r>
          </a:p>
        </p:txBody>
      </p:sp>
      <p:sp>
        <p:nvSpPr>
          <p:cNvPr id="33" name="TextBox 32"/>
          <p:cNvSpPr txBox="1"/>
          <p:nvPr/>
        </p:nvSpPr>
        <p:spPr>
          <a:xfrm>
            <a:off x="9784080" y="3209544"/>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validation-plan</a:t>
            </a:r>
          </a:p>
        </p:txBody>
      </p:sp>
      <p:sp>
        <p:nvSpPr>
          <p:cNvPr id="34" name="Rounded Rectangle 33"/>
          <p:cNvSpPr/>
          <p:nvPr/>
        </p:nvSpPr>
        <p:spPr>
          <a:xfrm>
            <a:off x="5029200" y="3602736"/>
            <a:ext cx="6675120" cy="384048"/>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212080" y="3648456"/>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investigation-report</a:t>
            </a:r>
          </a:p>
        </p:txBody>
      </p:sp>
      <p:sp>
        <p:nvSpPr>
          <p:cNvPr id="36" name="TextBox 35"/>
          <p:cNvSpPr txBox="1"/>
          <p:nvPr/>
        </p:nvSpPr>
        <p:spPr>
          <a:xfrm>
            <a:off x="7223760" y="3648456"/>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Findings, RCA, remediation</a:t>
            </a:r>
          </a:p>
        </p:txBody>
      </p:sp>
      <p:sp>
        <p:nvSpPr>
          <p:cNvPr id="37" name="TextBox 36"/>
          <p:cNvSpPr txBox="1"/>
          <p:nvPr/>
        </p:nvSpPr>
        <p:spPr>
          <a:xfrm>
            <a:off x="9784080" y="3648456"/>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investigation-report</a:t>
            </a:r>
          </a:p>
        </p:txBody>
      </p:sp>
      <p:sp>
        <p:nvSpPr>
          <p:cNvPr id="38" name="Rounded Rectangle 37"/>
          <p:cNvSpPr/>
          <p:nvPr/>
        </p:nvSpPr>
        <p:spPr>
          <a:xfrm>
            <a:off x="5029200" y="4041648"/>
            <a:ext cx="6675120" cy="384048"/>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212080" y="4087368"/>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implementation-plan</a:t>
            </a:r>
          </a:p>
        </p:txBody>
      </p:sp>
      <p:sp>
        <p:nvSpPr>
          <p:cNvPr id="40" name="TextBox 39"/>
          <p:cNvSpPr txBox="1"/>
          <p:nvPr/>
        </p:nvSpPr>
        <p:spPr>
          <a:xfrm>
            <a:off x="7223760" y="4087368"/>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Task breakdown + dependencies</a:t>
            </a:r>
          </a:p>
        </p:txBody>
      </p:sp>
      <p:sp>
        <p:nvSpPr>
          <p:cNvPr id="41" name="TextBox 40"/>
          <p:cNvSpPr txBox="1"/>
          <p:nvPr/>
        </p:nvSpPr>
        <p:spPr>
          <a:xfrm>
            <a:off x="9784080" y="4087368"/>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implementation-plan</a:t>
            </a:r>
          </a:p>
        </p:txBody>
      </p:sp>
      <p:sp>
        <p:nvSpPr>
          <p:cNvPr id="42" name="Rounded Rectangle 41"/>
          <p:cNvSpPr/>
          <p:nvPr/>
        </p:nvSpPr>
        <p:spPr>
          <a:xfrm>
            <a:off x="5029200" y="4480560"/>
            <a:ext cx="6675120" cy="384048"/>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212080" y="4526280"/>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agent-instructions</a:t>
            </a:r>
          </a:p>
        </p:txBody>
      </p:sp>
      <p:sp>
        <p:nvSpPr>
          <p:cNvPr id="44" name="TextBox 43"/>
          <p:cNvSpPr txBox="1"/>
          <p:nvPr/>
        </p:nvSpPr>
        <p:spPr>
          <a:xfrm>
            <a:off x="7223760" y="4526280"/>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.github/instructions/, CLAUDE.md, .cursorrules</a:t>
            </a:r>
          </a:p>
        </p:txBody>
      </p:sp>
      <p:sp>
        <p:nvSpPr>
          <p:cNvPr id="45" name="TextBox 44"/>
          <p:cNvSpPr txBox="1"/>
          <p:nvPr/>
        </p:nvSpPr>
        <p:spPr>
          <a:xfrm>
            <a:off x="9784080" y="4526280"/>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agent-instructions</a:t>
            </a:r>
          </a:p>
        </p:txBody>
      </p:sp>
      <p:sp>
        <p:nvSpPr>
          <p:cNvPr id="46" name="Rounded Rectangle 45"/>
          <p:cNvSpPr/>
          <p:nvPr/>
        </p:nvSpPr>
        <p:spPr>
          <a:xfrm>
            <a:off x="5029200" y="4919472"/>
            <a:ext cx="6675120" cy="384048"/>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212080" y="4965192"/>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pipeline-spec</a:t>
            </a:r>
          </a:p>
        </p:txBody>
      </p:sp>
      <p:sp>
        <p:nvSpPr>
          <p:cNvPr id="48" name="TextBox 47"/>
          <p:cNvSpPr txBox="1"/>
          <p:nvPr/>
        </p:nvSpPr>
        <p:spPr>
          <a:xfrm>
            <a:off x="7223760" y="4965192"/>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YAML pipelines + design rationale</a:t>
            </a:r>
          </a:p>
        </p:txBody>
      </p:sp>
      <p:sp>
        <p:nvSpPr>
          <p:cNvPr id="49" name="TextBox 48"/>
          <p:cNvSpPr txBox="1"/>
          <p:nvPr/>
        </p:nvSpPr>
        <p:spPr>
          <a:xfrm>
            <a:off x="9784080" y="4965192"/>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pipeline-spec</a:t>
            </a:r>
          </a:p>
        </p:txBody>
      </p:sp>
      <p:sp>
        <p:nvSpPr>
          <p:cNvPr id="50" name="Rounded Rectangle 49"/>
          <p:cNvSpPr/>
          <p:nvPr/>
        </p:nvSpPr>
        <p:spPr>
          <a:xfrm>
            <a:off x="5029200" y="5358383"/>
            <a:ext cx="6675120" cy="384048"/>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5212080" y="5404103"/>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release-notes</a:t>
            </a:r>
          </a:p>
        </p:txBody>
      </p:sp>
      <p:sp>
        <p:nvSpPr>
          <p:cNvPr id="52" name="TextBox 51"/>
          <p:cNvSpPr txBox="1"/>
          <p:nvPr/>
        </p:nvSpPr>
        <p:spPr>
          <a:xfrm>
            <a:off x="7223760" y="5404103"/>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Changelog, breaking changes, upgrade path</a:t>
            </a:r>
          </a:p>
        </p:txBody>
      </p:sp>
      <p:sp>
        <p:nvSpPr>
          <p:cNvPr id="53" name="TextBox 52"/>
          <p:cNvSpPr txBox="1"/>
          <p:nvPr/>
        </p:nvSpPr>
        <p:spPr>
          <a:xfrm>
            <a:off x="9784080" y="5404103"/>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release-notes</a:t>
            </a:r>
          </a:p>
        </p:txBody>
      </p:sp>
      <p:sp>
        <p:nvSpPr>
          <p:cNvPr id="54" name="Rounded Rectangle 53"/>
          <p:cNvSpPr/>
          <p:nvPr/>
        </p:nvSpPr>
        <p:spPr>
          <a:xfrm>
            <a:off x="5029200" y="5797296"/>
            <a:ext cx="6675120" cy="384048"/>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5212080" y="5843016"/>
            <a:ext cx="1920240" cy="274320"/>
          </a:xfrm>
          <a:prstGeom prst="rect">
            <a:avLst/>
          </a:prstGeom>
          <a:noFill/>
        </p:spPr>
        <p:txBody>
          <a:bodyPr wrap="square">
            <a:spAutoFit/>
          </a:bodyPr>
          <a:lstStyle/>
          <a:p>
            <a:pPr algn="l">
              <a:lnSpc>
                <a:spcPts val="1200"/>
              </a:lnSpc>
              <a:spcAft>
                <a:spcPts val="300"/>
              </a:spcAft>
              <a:defRPr sz="1000" b="0">
                <a:solidFill>
                  <a:srgbClr val="89B4FA"/>
                </a:solidFill>
                <a:latin typeface="Cascadia Code"/>
              </a:defRPr>
            </a:pPr>
            <a:r>
              <a:t>multi-artifact</a:t>
            </a:r>
          </a:p>
        </p:txBody>
      </p:sp>
      <p:sp>
        <p:nvSpPr>
          <p:cNvPr id="56" name="TextBox 55"/>
          <p:cNvSpPr txBox="1"/>
          <p:nvPr/>
        </p:nvSpPr>
        <p:spPr>
          <a:xfrm>
            <a:off x="7223760" y="5843016"/>
            <a:ext cx="2468880" cy="274320"/>
          </a:xfrm>
          <a:prstGeom prst="rect">
            <a:avLst/>
          </a:prstGeom>
          <a:noFill/>
        </p:spPr>
        <p:txBody>
          <a:bodyPr wrap="square">
            <a:spAutoFit/>
          </a:bodyPr>
          <a:lstStyle/>
          <a:p>
            <a:pPr algn="l">
              <a:lnSpc>
                <a:spcPts val="1200"/>
              </a:lnSpc>
              <a:spcAft>
                <a:spcPts val="300"/>
              </a:spcAft>
              <a:defRPr sz="1000" b="0">
                <a:solidFill>
                  <a:srgbClr val="CDD6F4"/>
                </a:solidFill>
                <a:latin typeface="Segoe UI"/>
              </a:defRPr>
            </a:pPr>
            <a:r>
              <a:t>Multiple structured files</a:t>
            </a:r>
          </a:p>
        </p:txBody>
      </p:sp>
      <p:sp>
        <p:nvSpPr>
          <p:cNvPr id="57" name="TextBox 56"/>
          <p:cNvSpPr txBox="1"/>
          <p:nvPr/>
        </p:nvSpPr>
        <p:spPr>
          <a:xfrm>
            <a:off x="9784080" y="5843016"/>
            <a:ext cx="1828800" cy="274320"/>
          </a:xfrm>
          <a:prstGeom prst="rect">
            <a:avLst/>
          </a:prstGeom>
          <a:noFill/>
        </p:spPr>
        <p:txBody>
          <a:bodyPr wrap="square">
            <a:spAutoFit/>
          </a:bodyPr>
          <a:lstStyle/>
          <a:p>
            <a:pPr algn="l">
              <a:lnSpc>
                <a:spcPts val="1080"/>
              </a:lnSpc>
              <a:spcAft>
                <a:spcPts val="270"/>
              </a:spcAft>
              <a:defRPr sz="900" b="0">
                <a:solidFill>
                  <a:srgbClr val="6C7086"/>
                </a:solidFill>
                <a:latin typeface="Cascadia Code"/>
              </a:defRPr>
            </a:pPr>
            <a:r>
              <a:t>multi-artifact</a:t>
            </a:r>
          </a:p>
        </p:txBody>
      </p:sp>
      <p:sp>
        <p:nvSpPr>
          <p:cNvPr id="58" name="TextBox 57"/>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9 / 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Deep Dive: Template Anatomy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Layer ⑤ — The task declaration</a:t>
            </a:r>
          </a:p>
        </p:txBody>
      </p:sp>
      <p:sp>
        <p:nvSpPr>
          <p:cNvPr id="5" name="Rounded Rectangle 4"/>
          <p:cNvSpPr/>
          <p:nvPr/>
        </p:nvSpPr>
        <p:spPr>
          <a:xfrm>
            <a:off x="731520" y="1371600"/>
            <a:ext cx="5029200" cy="457200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463040"/>
            <a:ext cx="4663440" cy="4389120"/>
          </a:xfrm>
          <a:prstGeom prst="rect">
            <a:avLst/>
          </a:prstGeom>
          <a:noFill/>
        </p:spPr>
        <p:txBody>
          <a:bodyPr wrap="square">
            <a:spAutoFit/>
          </a:bodyPr>
          <a:lstStyle/>
          <a:p>
            <a:pPr algn="l">
              <a:lnSpc>
                <a:spcPts val="1800"/>
              </a:lnSpc>
              <a:spcAft>
                <a:spcPts val="359"/>
              </a:spcAft>
              <a:defRPr sz="1200" b="0">
                <a:solidFill>
                  <a:srgbClr val="A6E3A1"/>
                </a:solidFill>
                <a:latin typeface="Cascadia Code"/>
              </a:defRPr>
            </a:pPr>
            <a:r>
              <a:t>---</a:t>
            </a:r>
            <a:br/>
            <a:r>
              <a:t>name: investigate-bug</a:t>
            </a:r>
            <a:br/>
            <a:r>
              <a:t>description: &gt;</a:t>
            </a:r>
            <a:br/>
            <a:r>
              <a:t>  Systematically investigate a bug.</a:t>
            </a:r>
            <a:br/>
            <a:r>
              <a:t>  Apply root cause analysis and produce</a:t>
            </a:r>
            <a:br/>
            <a:r>
              <a:t>  an investigation report.</a:t>
            </a:r>
            <a:br/>
            <a:br/>
            <a:r>
              <a:t>persona: systems-engineer</a:t>
            </a:r>
            <a:br/>
            <a:br/>
            <a:r>
              <a:t>protocols:</a:t>
            </a:r>
            <a:br/>
            <a:r>
              <a:t>  - guardrails/anti-hallucination</a:t>
            </a:r>
            <a:br/>
            <a:r>
              <a:t>  - guardrails/self-verification</a:t>
            </a:r>
            <a:br/>
            <a:r>
              <a:t>  - guardrails/operational-constraints</a:t>
            </a:r>
            <a:br/>
            <a:r>
              <a:t>  - reasoning/root-cause-analysis</a:t>
            </a:r>
            <a:br/>
            <a:br/>
            <a:r>
              <a:t>format: investigation-report</a:t>
            </a:r>
            <a:br/>
            <a:br/>
            <a:r>
              <a:t>params:</a:t>
            </a:r>
            <a:br/>
            <a:r>
              <a:t>  problem_description: "Bug description"</a:t>
            </a:r>
            <a:br/>
            <a:r>
              <a:t>  code_context: "Relevant code/logs"</a:t>
            </a:r>
            <a:br/>
            <a:r>
              <a:t>  environment: "OS, runtime, build"</a:t>
            </a:r>
            <a:br/>
            <a:br/>
            <a:r>
              <a:t>input_contract: null</a:t>
            </a:r>
            <a:br/>
            <a:r>
              <a:t>output_contract:</a:t>
            </a:r>
            <a:br/>
            <a:r>
              <a:t>  type: investigation-report</a:t>
            </a:r>
            <a:br/>
            <a:r>
              <a:t>---</a:t>
            </a:r>
          </a:p>
        </p:txBody>
      </p:sp>
      <p:sp>
        <p:nvSpPr>
          <p:cNvPr id="7" name="TextBox 6"/>
          <p:cNvSpPr txBox="1"/>
          <p:nvPr/>
        </p:nvSpPr>
        <p:spPr>
          <a:xfrm>
            <a:off x="6126480" y="1371600"/>
            <a:ext cx="2286000" cy="274320"/>
          </a:xfrm>
          <a:prstGeom prst="rect">
            <a:avLst/>
          </a:prstGeom>
          <a:noFill/>
        </p:spPr>
        <p:txBody>
          <a:bodyPr wrap="square">
            <a:spAutoFit/>
          </a:bodyPr>
          <a:lstStyle/>
          <a:p>
            <a:pPr algn="l">
              <a:lnSpc>
                <a:spcPts val="1800"/>
              </a:lnSpc>
              <a:spcAft>
                <a:spcPts val="450"/>
              </a:spcAft>
              <a:defRPr sz="1500" b="1">
                <a:solidFill>
                  <a:srgbClr val="89B4FA"/>
                </a:solidFill>
                <a:latin typeface="Cascadia Code"/>
              </a:defRPr>
            </a:pPr>
            <a:r>
              <a:t>persona:</a:t>
            </a:r>
          </a:p>
        </p:txBody>
      </p:sp>
      <p:sp>
        <p:nvSpPr>
          <p:cNvPr id="8" name="TextBox 7"/>
          <p:cNvSpPr txBox="1"/>
          <p:nvPr/>
        </p:nvSpPr>
        <p:spPr>
          <a:xfrm>
            <a:off x="6126480" y="16642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persona file.</a:t>
            </a:r>
            <a:br/>
            <a:r>
              <a:t>Becomes the # Identity section.</a:t>
            </a:r>
          </a:p>
        </p:txBody>
      </p:sp>
      <p:sp>
        <p:nvSpPr>
          <p:cNvPr id="9" name="TextBox 8"/>
          <p:cNvSpPr txBox="1"/>
          <p:nvPr/>
        </p:nvSpPr>
        <p:spPr>
          <a:xfrm>
            <a:off x="6126480" y="2194560"/>
            <a:ext cx="2286000" cy="274320"/>
          </a:xfrm>
          <a:prstGeom prst="rect">
            <a:avLst/>
          </a:prstGeom>
          <a:noFill/>
        </p:spPr>
        <p:txBody>
          <a:bodyPr wrap="square">
            <a:spAutoFit/>
          </a:bodyPr>
          <a:lstStyle/>
          <a:p>
            <a:pPr algn="l">
              <a:lnSpc>
                <a:spcPts val="1800"/>
              </a:lnSpc>
              <a:spcAft>
                <a:spcPts val="450"/>
              </a:spcAft>
              <a:defRPr sz="1500" b="1">
                <a:solidFill>
                  <a:srgbClr val="A6E3A1"/>
                </a:solidFill>
                <a:latin typeface="Cascadia Code"/>
              </a:defRPr>
            </a:pPr>
            <a:r>
              <a:t>protocols:</a:t>
            </a:r>
          </a:p>
        </p:txBody>
      </p:sp>
      <p:sp>
        <p:nvSpPr>
          <p:cNvPr id="10" name="TextBox 9"/>
          <p:cNvSpPr txBox="1"/>
          <p:nvPr/>
        </p:nvSpPr>
        <p:spPr>
          <a:xfrm>
            <a:off x="6126480" y="248716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List of category/name paths.</a:t>
            </a:r>
            <a:br/>
            <a:r>
              <a:t>Each loaded as # Reasoning Protocol.</a:t>
            </a:r>
          </a:p>
        </p:txBody>
      </p:sp>
      <p:sp>
        <p:nvSpPr>
          <p:cNvPr id="11" name="TextBox 10"/>
          <p:cNvSpPr txBox="1"/>
          <p:nvPr/>
        </p:nvSpPr>
        <p:spPr>
          <a:xfrm>
            <a:off x="6126480" y="3017520"/>
            <a:ext cx="2286000" cy="274320"/>
          </a:xfrm>
          <a:prstGeom prst="rect">
            <a:avLst/>
          </a:prstGeom>
          <a:noFill/>
        </p:spPr>
        <p:txBody>
          <a:bodyPr wrap="square">
            <a:spAutoFit/>
          </a:bodyPr>
          <a:lstStyle/>
          <a:p>
            <a:pPr algn="l">
              <a:lnSpc>
                <a:spcPts val="1800"/>
              </a:lnSpc>
              <a:spcAft>
                <a:spcPts val="450"/>
              </a:spcAft>
              <a:defRPr sz="1500" b="1">
                <a:solidFill>
                  <a:srgbClr val="F9E2AF"/>
                </a:solidFill>
                <a:latin typeface="Cascadia Code"/>
              </a:defRPr>
            </a:pPr>
            <a:r>
              <a:t>format:</a:t>
            </a:r>
          </a:p>
        </p:txBody>
      </p:sp>
      <p:sp>
        <p:nvSpPr>
          <p:cNvPr id="12" name="TextBox 11"/>
          <p:cNvSpPr txBox="1"/>
          <p:nvPr/>
        </p:nvSpPr>
        <p:spPr>
          <a:xfrm>
            <a:off x="6126480" y="331012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References one format file.</a:t>
            </a:r>
            <a:br/>
            <a:r>
              <a:t>Becomes the # Output Format section.</a:t>
            </a:r>
          </a:p>
        </p:txBody>
      </p:sp>
      <p:sp>
        <p:nvSpPr>
          <p:cNvPr id="13" name="TextBox 12"/>
          <p:cNvSpPr txBox="1"/>
          <p:nvPr/>
        </p:nvSpPr>
        <p:spPr>
          <a:xfrm>
            <a:off x="6126480" y="3840480"/>
            <a:ext cx="2286000" cy="274320"/>
          </a:xfrm>
          <a:prstGeom prst="rect">
            <a:avLst/>
          </a:prstGeom>
          <a:noFill/>
        </p:spPr>
        <p:txBody>
          <a:bodyPr wrap="square">
            <a:spAutoFit/>
          </a:bodyPr>
          <a:lstStyle/>
          <a:p>
            <a:pPr algn="l">
              <a:lnSpc>
                <a:spcPts val="1800"/>
              </a:lnSpc>
              <a:spcAft>
                <a:spcPts val="450"/>
              </a:spcAft>
              <a:defRPr sz="1500" b="1">
                <a:solidFill>
                  <a:srgbClr val="FAB387"/>
                </a:solidFill>
                <a:latin typeface="Cascadia Code"/>
              </a:defRPr>
            </a:pPr>
            <a:r>
              <a:t>params:</a:t>
            </a:r>
          </a:p>
        </p:txBody>
      </p:sp>
      <p:sp>
        <p:nvSpPr>
          <p:cNvPr id="14" name="TextBox 13"/>
          <p:cNvSpPr txBox="1"/>
          <p:nvPr/>
        </p:nvSpPr>
        <p:spPr>
          <a:xfrm>
            <a:off x="6126480" y="413308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Key-value map → {{param}} placeholders</a:t>
            </a:r>
            <a:br/>
            <a:r>
              <a:t>in template body get substituted.</a:t>
            </a:r>
          </a:p>
        </p:txBody>
      </p:sp>
      <p:sp>
        <p:nvSpPr>
          <p:cNvPr id="15" name="TextBox 14"/>
          <p:cNvSpPr txBox="1"/>
          <p:nvPr/>
        </p:nvSpPr>
        <p:spPr>
          <a:xfrm>
            <a:off x="6126480" y="4663440"/>
            <a:ext cx="2286000" cy="274320"/>
          </a:xfrm>
          <a:prstGeom prst="rect">
            <a:avLst/>
          </a:prstGeom>
          <a:noFill/>
        </p:spPr>
        <p:txBody>
          <a:bodyPr wrap="square">
            <a:spAutoFit/>
          </a:bodyPr>
          <a:lstStyle/>
          <a:p>
            <a:pPr algn="l">
              <a:lnSpc>
                <a:spcPts val="1800"/>
              </a:lnSpc>
              <a:spcAft>
                <a:spcPts val="450"/>
              </a:spcAft>
              <a:defRPr sz="1500" b="1">
                <a:solidFill>
                  <a:srgbClr val="F38BA8"/>
                </a:solidFill>
                <a:latin typeface="Cascadia Code"/>
              </a:defRPr>
            </a:pPr>
            <a:r>
              <a:t>input_contract:</a:t>
            </a:r>
          </a:p>
        </p:txBody>
      </p:sp>
      <p:sp>
        <p:nvSpPr>
          <p:cNvPr id="16" name="TextBox 15"/>
          <p:cNvSpPr txBox="1"/>
          <p:nvPr/>
        </p:nvSpPr>
        <p:spPr>
          <a:xfrm>
            <a:off x="6126480" y="495604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consumes.</a:t>
            </a:r>
            <a:br/>
            <a:r>
              <a:t>null = no prerequisite.</a:t>
            </a:r>
          </a:p>
        </p:txBody>
      </p:sp>
      <p:sp>
        <p:nvSpPr>
          <p:cNvPr id="17" name="TextBox 16"/>
          <p:cNvSpPr txBox="1"/>
          <p:nvPr/>
        </p:nvSpPr>
        <p:spPr>
          <a:xfrm>
            <a:off x="6126480" y="5486400"/>
            <a:ext cx="2286000" cy="274320"/>
          </a:xfrm>
          <a:prstGeom prst="rect">
            <a:avLst/>
          </a:prstGeom>
          <a:noFill/>
        </p:spPr>
        <p:txBody>
          <a:bodyPr wrap="square">
            <a:spAutoFit/>
          </a:bodyPr>
          <a:lstStyle/>
          <a:p>
            <a:pPr algn="l">
              <a:lnSpc>
                <a:spcPts val="1800"/>
              </a:lnSpc>
              <a:spcAft>
                <a:spcPts val="450"/>
              </a:spcAft>
              <a:defRPr sz="1500" b="1">
                <a:solidFill>
                  <a:srgbClr val="CBA6F7"/>
                </a:solidFill>
                <a:latin typeface="Cascadia Code"/>
              </a:defRPr>
            </a:pPr>
            <a:r>
              <a:t>output_contract:</a:t>
            </a:r>
          </a:p>
        </p:txBody>
      </p:sp>
      <p:sp>
        <p:nvSpPr>
          <p:cNvPr id="18" name="TextBox 17"/>
          <p:cNvSpPr txBox="1"/>
          <p:nvPr/>
        </p:nvSpPr>
        <p:spPr>
          <a:xfrm>
            <a:off x="6126480" y="5779008"/>
            <a:ext cx="5486400" cy="502920"/>
          </a:xfrm>
          <a:prstGeom prst="rect">
            <a:avLst/>
          </a:prstGeom>
          <a:noFill/>
        </p:spPr>
        <p:txBody>
          <a:bodyPr wrap="square">
            <a:spAutoFit/>
          </a:bodyPr>
          <a:lstStyle/>
          <a:p>
            <a:pPr algn="l">
              <a:lnSpc>
                <a:spcPts val="1679"/>
              </a:lnSpc>
              <a:spcAft>
                <a:spcPts val="359"/>
              </a:spcAft>
              <a:defRPr sz="1200" b="0">
                <a:solidFill>
                  <a:srgbClr val="CDD6F4"/>
                </a:solidFill>
                <a:latin typeface="Segoe UI"/>
              </a:defRPr>
            </a:pPr>
            <a:r>
              <a:t>What artifact this template produces.</a:t>
            </a:r>
            <a:br/>
            <a:r>
              <a:t>Enables pipeline chaining.</a:t>
            </a:r>
          </a:p>
        </p:txBody>
      </p:sp>
      <p:sp>
        <p:nvSpPr>
          <p:cNvPr id="19" name="TextBox 1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10 / 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Manifest: Source of Truth</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manifest.yaml — the component registry</a:t>
            </a:r>
          </a:p>
        </p:txBody>
      </p:sp>
      <p:sp>
        <p:nvSpPr>
          <p:cNvPr id="5" name="Rounded Rectangle 4"/>
          <p:cNvSpPr/>
          <p:nvPr/>
        </p:nvSpPr>
        <p:spPr>
          <a:xfrm>
            <a:off x="731520" y="1371600"/>
            <a:ext cx="5029200" cy="475488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463040"/>
            <a:ext cx="4663440" cy="4572000"/>
          </a:xfrm>
          <a:prstGeom prst="rect">
            <a:avLst/>
          </a:prstGeom>
          <a:noFill/>
        </p:spPr>
        <p:txBody>
          <a:bodyPr wrap="square">
            <a:spAutoFit/>
          </a:bodyPr>
          <a:lstStyle/>
          <a:p>
            <a:pPr algn="l">
              <a:lnSpc>
                <a:spcPts val="1650"/>
              </a:lnSpc>
              <a:spcAft>
                <a:spcPts val="330"/>
              </a:spcAft>
              <a:defRPr sz="1100" b="0">
                <a:solidFill>
                  <a:srgbClr val="A6E3A1"/>
                </a:solidFill>
                <a:latin typeface="Cascadia Code"/>
              </a:defRPr>
            </a:pPr>
            <a:r>
              <a:t># manifest.yaml</a:t>
            </a:r>
            <a:br/>
            <a:r>
              <a:t>version: "0.1.0"</a:t>
            </a:r>
            <a:br/>
            <a:br/>
            <a:r>
              <a:t>personas:</a:t>
            </a:r>
            <a:br/>
            <a:r>
              <a:t>  - name: systems-engineer</a:t>
            </a:r>
            <a:br/>
            <a:r>
              <a:t>    path: personas/systems-engineer.md</a:t>
            </a:r>
            <a:br/>
            <a:br/>
            <a:r>
              <a:t>protocols:</a:t>
            </a:r>
            <a:br/>
            <a:r>
              <a:t>  guardrails:</a:t>
            </a:r>
            <a:br/>
            <a:r>
              <a:t>    - name: anti-hallucination</a:t>
            </a:r>
            <a:br/>
            <a:r>
              <a:t>      path: protocols/guardrails/...</a:t>
            </a:r>
            <a:br/>
            <a:r>
              <a:t>  analysis:</a:t>
            </a:r>
            <a:br/>
            <a:r>
              <a:t>    - name: memory-safety-c</a:t>
            </a:r>
            <a:br/>
            <a:r>
              <a:t>      path: protocols/analysis/...</a:t>
            </a:r>
            <a:br/>
            <a:r>
              <a:t>  reasoning:</a:t>
            </a:r>
            <a:br/>
            <a:r>
              <a:t>    - name: root-cause-analysis</a:t>
            </a:r>
            <a:br/>
            <a:r>
              <a:t>      path: protocols/reasoning/...</a:t>
            </a:r>
            <a:br/>
            <a:br/>
            <a:r>
              <a:t>formats:</a:t>
            </a:r>
            <a:br/>
            <a:r>
              <a:t>  - name: investigation-report</a:t>
            </a:r>
            <a:br/>
            <a:r>
              <a:t>    path: formats/investigation-report.md</a:t>
            </a:r>
            <a:br/>
            <a:r>
              <a:t>    produces: investigation-report</a:t>
            </a:r>
            <a:br/>
            <a:br/>
            <a:r>
              <a:t>templates:</a:t>
            </a:r>
            <a:br/>
            <a:r>
              <a:t>  investigation:</a:t>
            </a:r>
            <a:br/>
            <a:r>
              <a:t>    - name: investigate-bug</a:t>
            </a:r>
            <a:br/>
            <a:r>
              <a:t>      protocols: [anti-hallucination, ...]</a:t>
            </a:r>
            <a:br/>
            <a:r>
              <a:t>      format: investigation-report</a:t>
            </a:r>
            <a:br/>
            <a:br/>
            <a:r>
              <a:t>pipelines:</a:t>
            </a:r>
            <a:br/>
            <a:r>
              <a:t>  document-lifecycle:</a:t>
            </a:r>
            <a:br/>
            <a:r>
              <a:t>    stages:</a:t>
            </a:r>
            <a:br/>
            <a:r>
              <a:t>      - template: author-requirements-doc</a:t>
            </a:r>
            <a:br/>
            <a:r>
              <a:t>        produces: requirements-document</a:t>
            </a:r>
          </a:p>
        </p:txBody>
      </p:sp>
      <p:sp>
        <p:nvSpPr>
          <p:cNvPr id="7" name="TextBox 6"/>
          <p:cNvSpPr txBox="1"/>
          <p:nvPr/>
        </p:nvSpPr>
        <p:spPr>
          <a:xfrm>
            <a:off x="6217920" y="1371600"/>
            <a:ext cx="50292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Key Rules</a:t>
            </a:r>
          </a:p>
        </p:txBody>
      </p:sp>
      <p:sp>
        <p:nvSpPr>
          <p:cNvPr id="8" name="Rectangle 7"/>
          <p:cNvSpPr/>
          <p:nvPr/>
        </p:nvSpPr>
        <p:spPr>
          <a:xfrm>
            <a:off x="6217920" y="1920240"/>
            <a:ext cx="54864" cy="91440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46520" y="1920240"/>
            <a:ext cx="5029200" cy="274320"/>
          </a:xfrm>
          <a:prstGeom prst="rect">
            <a:avLst/>
          </a:prstGeom>
          <a:noFill/>
        </p:spPr>
        <p:txBody>
          <a:bodyPr wrap="square">
            <a:spAutoFit/>
          </a:bodyPr>
          <a:lstStyle/>
          <a:p>
            <a:pPr algn="l">
              <a:lnSpc>
                <a:spcPts val="1680"/>
              </a:lnSpc>
              <a:spcAft>
                <a:spcPts val="420"/>
              </a:spcAft>
              <a:defRPr sz="1400" b="1">
                <a:solidFill>
                  <a:srgbClr val="89B4FA"/>
                </a:solidFill>
                <a:latin typeface="Segoe UI"/>
              </a:defRPr>
            </a:pPr>
            <a:r>
              <a:t>Protocol naming duality</a:t>
            </a:r>
          </a:p>
        </p:txBody>
      </p:sp>
      <p:sp>
        <p:nvSpPr>
          <p:cNvPr id="10" name="TextBox 9"/>
          <p:cNvSpPr txBox="1"/>
          <p:nvPr/>
        </p:nvSpPr>
        <p:spPr>
          <a:xfrm>
            <a:off x="6446520" y="2194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Templates use category paths:</a:t>
            </a:r>
            <a:br/>
            <a:r>
              <a:t>  guardrails/anti-hallucination</a:t>
            </a:r>
            <a:br/>
            <a:r>
              <a:t>Manifest uses short names:</a:t>
            </a:r>
            <a:br/>
            <a:r>
              <a:t>  anti-hallucination</a:t>
            </a:r>
            <a:br/>
            <a:r>
              <a:t>CI enforces they stay in sync.</a:t>
            </a:r>
          </a:p>
        </p:txBody>
      </p:sp>
      <p:sp>
        <p:nvSpPr>
          <p:cNvPr id="11" name="Rectangle 10"/>
          <p:cNvSpPr/>
          <p:nvPr/>
        </p:nvSpPr>
        <p:spPr>
          <a:xfrm>
            <a:off x="6217920" y="3063240"/>
            <a:ext cx="54864" cy="91440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46520" y="3063240"/>
            <a:ext cx="5029200" cy="274320"/>
          </a:xfrm>
          <a:prstGeom prst="rect">
            <a:avLst/>
          </a:prstGeom>
          <a:noFill/>
        </p:spPr>
        <p:txBody>
          <a:bodyPr wrap="square">
            <a:spAutoFit/>
          </a:bodyPr>
          <a:lstStyle/>
          <a:p>
            <a:pPr algn="l">
              <a:lnSpc>
                <a:spcPts val="1680"/>
              </a:lnSpc>
              <a:spcAft>
                <a:spcPts val="420"/>
              </a:spcAft>
              <a:defRPr sz="1400" b="1">
                <a:solidFill>
                  <a:srgbClr val="A6E3A1"/>
                </a:solidFill>
                <a:latin typeface="Segoe UI"/>
              </a:defRPr>
            </a:pPr>
            <a:r>
              <a:t>Path resolution</a:t>
            </a:r>
          </a:p>
        </p:txBody>
      </p:sp>
      <p:sp>
        <p:nvSpPr>
          <p:cNvPr id="13" name="TextBox 12"/>
          <p:cNvSpPr txBox="1"/>
          <p:nvPr/>
        </p:nvSpPr>
        <p:spPr>
          <a:xfrm>
            <a:off x="6446520" y="3337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Every component has a path field</a:t>
            </a:r>
            <a:br/>
            <a:r>
              <a:t>pointing to its .md source file.</a:t>
            </a:r>
            <a:br/>
            <a:r>
              <a:t>Assembly engine reads these paths.</a:t>
            </a:r>
          </a:p>
        </p:txBody>
      </p:sp>
      <p:sp>
        <p:nvSpPr>
          <p:cNvPr id="14" name="Rectangle 13"/>
          <p:cNvSpPr/>
          <p:nvPr/>
        </p:nvSpPr>
        <p:spPr>
          <a:xfrm>
            <a:off x="6217920" y="4206240"/>
            <a:ext cx="54864" cy="91440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46520" y="4206240"/>
            <a:ext cx="5029200" cy="274320"/>
          </a:xfrm>
          <a:prstGeom prst="rect">
            <a:avLst/>
          </a:prstGeom>
          <a:noFill/>
        </p:spPr>
        <p:txBody>
          <a:bodyPr wrap="square">
            <a:spAutoFit/>
          </a:bodyPr>
          <a:lstStyle/>
          <a:p>
            <a:pPr algn="l">
              <a:lnSpc>
                <a:spcPts val="1680"/>
              </a:lnSpc>
              <a:spcAft>
                <a:spcPts val="420"/>
              </a:spcAft>
              <a:defRPr sz="1400" b="1">
                <a:solidFill>
                  <a:srgbClr val="F9E2AF"/>
                </a:solidFill>
                <a:latin typeface="Segoe UI"/>
              </a:defRPr>
            </a:pPr>
            <a:r>
              <a:t>Pipeline stages</a:t>
            </a:r>
          </a:p>
        </p:txBody>
      </p:sp>
      <p:sp>
        <p:nvSpPr>
          <p:cNvPr id="16" name="TextBox 15"/>
          <p:cNvSpPr txBox="1"/>
          <p:nvPr/>
        </p:nvSpPr>
        <p:spPr>
          <a:xfrm>
            <a:off x="6446520" y="4480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produces/consumes fields enable</a:t>
            </a:r>
            <a:br/>
            <a:r>
              <a:t>the bootstrap engine to validate</a:t>
            </a:r>
            <a:br/>
            <a:r>
              <a:t>chaining and suggest next stages.</a:t>
            </a:r>
          </a:p>
        </p:txBody>
      </p:sp>
      <p:sp>
        <p:nvSpPr>
          <p:cNvPr id="17" name="Rectangle 16"/>
          <p:cNvSpPr/>
          <p:nvPr/>
        </p:nvSpPr>
        <p:spPr>
          <a:xfrm>
            <a:off x="6217920" y="5349240"/>
            <a:ext cx="54864" cy="91440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46520" y="5349240"/>
            <a:ext cx="5029200" cy="274320"/>
          </a:xfrm>
          <a:prstGeom prst="rect">
            <a:avLst/>
          </a:prstGeom>
          <a:noFill/>
        </p:spPr>
        <p:txBody>
          <a:bodyPr wrap="square">
            <a:spAutoFit/>
          </a:bodyPr>
          <a:lstStyle/>
          <a:p>
            <a:pPr algn="l">
              <a:lnSpc>
                <a:spcPts val="1680"/>
              </a:lnSpc>
              <a:spcAft>
                <a:spcPts val="420"/>
              </a:spcAft>
              <a:defRPr sz="1400" b="1">
                <a:solidFill>
                  <a:srgbClr val="FAB387"/>
                </a:solidFill>
                <a:latin typeface="Segoe UI"/>
              </a:defRPr>
            </a:pPr>
            <a:r>
              <a:t>CI validation</a:t>
            </a:r>
          </a:p>
        </p:txBody>
      </p:sp>
      <p:sp>
        <p:nvSpPr>
          <p:cNvPr id="19" name="TextBox 18"/>
          <p:cNvSpPr txBox="1"/>
          <p:nvPr/>
        </p:nvSpPr>
        <p:spPr>
          <a:xfrm>
            <a:off x="6446520" y="5623560"/>
            <a:ext cx="5029200" cy="64008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tests/validate-manifest.py checks</a:t>
            </a:r>
            <a:br/>
            <a:r>
              <a:t>that manifest protocols match</a:t>
            </a:r>
            <a:br/>
            <a:r>
              <a:t>template frontmatter protocols.</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11 / 16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The Bootstrap Flow</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bootstrap.md — the meta-prompt that drives composition</a:t>
            </a:r>
          </a:p>
        </p:txBody>
      </p:sp>
      <p:sp>
        <p:nvSpPr>
          <p:cNvPr id="5" name="Rounded Rectangle 4"/>
          <p:cNvSpPr/>
          <p:nvPr/>
        </p:nvSpPr>
        <p:spPr>
          <a:xfrm>
            <a:off x="7237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2374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946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1</a:t>
            </a:r>
          </a:p>
        </p:txBody>
      </p:sp>
      <p:sp>
        <p:nvSpPr>
          <p:cNvPr id="8" name="TextBox 7"/>
          <p:cNvSpPr txBox="1"/>
          <p:nvPr/>
        </p:nvSpPr>
        <p:spPr>
          <a:xfrm>
            <a:off x="7694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Understand</a:t>
            </a:r>
            <a:br/>
            <a:r>
              <a:t>the task</a:t>
            </a:r>
          </a:p>
        </p:txBody>
      </p:sp>
      <p:sp>
        <p:nvSpPr>
          <p:cNvPr id="9" name="TextBox 8"/>
          <p:cNvSpPr txBox="1"/>
          <p:nvPr/>
        </p:nvSpPr>
        <p:spPr>
          <a:xfrm>
            <a:off x="7694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Ask user what they</a:t>
            </a:r>
            <a:br/>
            <a:r>
              <a:t>want to accomplish</a:t>
            </a:r>
          </a:p>
        </p:txBody>
      </p:sp>
      <p:sp>
        <p:nvSpPr>
          <p:cNvPr id="10" name="TextBox 9"/>
          <p:cNvSpPr txBox="1"/>
          <p:nvPr/>
        </p:nvSpPr>
        <p:spPr>
          <a:xfrm>
            <a:off x="20953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1" name="Rounded Rectangle 10"/>
          <p:cNvSpPr/>
          <p:nvPr/>
        </p:nvSpPr>
        <p:spPr>
          <a:xfrm>
            <a:off x="22782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278227" y="1554480"/>
            <a:ext cx="141732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3947" y="1691640"/>
            <a:ext cx="1325880" cy="274320"/>
          </a:xfrm>
          <a:prstGeom prst="rect">
            <a:avLst/>
          </a:prstGeom>
          <a:noFill/>
        </p:spPr>
        <p:txBody>
          <a:bodyPr wrap="square">
            <a:spAutoFit/>
          </a:bodyPr>
          <a:lstStyle/>
          <a:p>
            <a:pPr algn="ctr">
              <a:lnSpc>
                <a:spcPts val="2879"/>
              </a:lnSpc>
              <a:spcAft>
                <a:spcPts val="719"/>
              </a:spcAft>
              <a:defRPr sz="2400" b="1">
                <a:solidFill>
                  <a:srgbClr val="A6E3A1"/>
                </a:solidFill>
                <a:latin typeface="Segoe UI"/>
              </a:defRPr>
            </a:pPr>
            <a:r>
              <a:t>2</a:t>
            </a:r>
          </a:p>
        </p:txBody>
      </p:sp>
      <p:sp>
        <p:nvSpPr>
          <p:cNvPr id="14" name="TextBox 13"/>
          <p:cNvSpPr txBox="1"/>
          <p:nvPr/>
        </p:nvSpPr>
        <p:spPr>
          <a:xfrm>
            <a:off x="23239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Read</a:t>
            </a:r>
            <a:br/>
            <a:r>
              <a:t>manifest</a:t>
            </a:r>
          </a:p>
        </p:txBody>
      </p:sp>
      <p:sp>
        <p:nvSpPr>
          <p:cNvPr id="15" name="TextBox 14"/>
          <p:cNvSpPr txBox="1"/>
          <p:nvPr/>
        </p:nvSpPr>
        <p:spPr>
          <a:xfrm>
            <a:off x="23239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Discover all available</a:t>
            </a:r>
            <a:br/>
            <a:r>
              <a:t>components</a:t>
            </a:r>
          </a:p>
        </p:txBody>
      </p:sp>
      <p:sp>
        <p:nvSpPr>
          <p:cNvPr id="16" name="TextBox 15"/>
          <p:cNvSpPr txBox="1"/>
          <p:nvPr/>
        </p:nvSpPr>
        <p:spPr>
          <a:xfrm>
            <a:off x="364982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17" name="Rounded Rectangle 16"/>
          <p:cNvSpPr/>
          <p:nvPr/>
        </p:nvSpPr>
        <p:spPr>
          <a:xfrm>
            <a:off x="383270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832707" y="1554480"/>
            <a:ext cx="141732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878427" y="1691640"/>
            <a:ext cx="1325880" cy="274320"/>
          </a:xfrm>
          <a:prstGeom prst="rect">
            <a:avLst/>
          </a:prstGeom>
          <a:noFill/>
        </p:spPr>
        <p:txBody>
          <a:bodyPr wrap="square">
            <a:spAutoFit/>
          </a:bodyPr>
          <a:lstStyle/>
          <a:p>
            <a:pPr algn="ctr">
              <a:lnSpc>
                <a:spcPts val="2879"/>
              </a:lnSpc>
              <a:spcAft>
                <a:spcPts val="719"/>
              </a:spcAft>
              <a:defRPr sz="2400" b="1">
                <a:solidFill>
                  <a:srgbClr val="F9E2AF"/>
                </a:solidFill>
                <a:latin typeface="Segoe UI"/>
              </a:defRPr>
            </a:pPr>
            <a:r>
              <a:t>3</a:t>
            </a:r>
          </a:p>
        </p:txBody>
      </p:sp>
      <p:sp>
        <p:nvSpPr>
          <p:cNvPr id="20" name="TextBox 19"/>
          <p:cNvSpPr txBox="1"/>
          <p:nvPr/>
        </p:nvSpPr>
        <p:spPr>
          <a:xfrm>
            <a:off x="387842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Select</a:t>
            </a:r>
            <a:br/>
            <a:r>
              <a:t>template</a:t>
            </a:r>
          </a:p>
        </p:txBody>
      </p:sp>
      <p:sp>
        <p:nvSpPr>
          <p:cNvPr id="21" name="TextBox 20"/>
          <p:cNvSpPr txBox="1"/>
          <p:nvPr/>
        </p:nvSpPr>
        <p:spPr>
          <a:xfrm>
            <a:off x="387842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Match task to</a:t>
            </a:r>
            <a:br/>
            <a:r>
              <a:t>best template</a:t>
            </a:r>
          </a:p>
        </p:txBody>
      </p:sp>
      <p:sp>
        <p:nvSpPr>
          <p:cNvPr id="22" name="TextBox 21"/>
          <p:cNvSpPr txBox="1"/>
          <p:nvPr/>
        </p:nvSpPr>
        <p:spPr>
          <a:xfrm>
            <a:off x="520430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3" name="Rounded Rectangle 22"/>
          <p:cNvSpPr/>
          <p:nvPr/>
        </p:nvSpPr>
        <p:spPr>
          <a:xfrm>
            <a:off x="538718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387187" y="1554480"/>
            <a:ext cx="141732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432907" y="1691640"/>
            <a:ext cx="1325880" cy="274320"/>
          </a:xfrm>
          <a:prstGeom prst="rect">
            <a:avLst/>
          </a:prstGeom>
          <a:noFill/>
        </p:spPr>
        <p:txBody>
          <a:bodyPr wrap="square">
            <a:spAutoFit/>
          </a:bodyPr>
          <a:lstStyle/>
          <a:p>
            <a:pPr algn="ctr">
              <a:lnSpc>
                <a:spcPts val="2879"/>
              </a:lnSpc>
              <a:spcAft>
                <a:spcPts val="719"/>
              </a:spcAft>
              <a:defRPr sz="2400" b="1">
                <a:solidFill>
                  <a:srgbClr val="FAB387"/>
                </a:solidFill>
                <a:latin typeface="Segoe UI"/>
              </a:defRPr>
            </a:pPr>
            <a:r>
              <a:t>4</a:t>
            </a:r>
          </a:p>
        </p:txBody>
      </p:sp>
      <p:sp>
        <p:nvSpPr>
          <p:cNvPr id="26" name="TextBox 25"/>
          <p:cNvSpPr txBox="1"/>
          <p:nvPr/>
        </p:nvSpPr>
        <p:spPr>
          <a:xfrm>
            <a:off x="543290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Check</a:t>
            </a:r>
            <a:br/>
            <a:r>
              <a:t>mode</a:t>
            </a:r>
          </a:p>
        </p:txBody>
      </p:sp>
      <p:sp>
        <p:nvSpPr>
          <p:cNvPr id="27" name="TextBox 26"/>
          <p:cNvSpPr txBox="1"/>
          <p:nvPr/>
        </p:nvSpPr>
        <p:spPr>
          <a:xfrm>
            <a:off x="543290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Interactive → execute</a:t>
            </a:r>
            <a:br/>
            <a:r>
              <a:t>Single-shot → file</a:t>
            </a:r>
          </a:p>
        </p:txBody>
      </p:sp>
      <p:sp>
        <p:nvSpPr>
          <p:cNvPr id="28" name="TextBox 27"/>
          <p:cNvSpPr txBox="1"/>
          <p:nvPr/>
        </p:nvSpPr>
        <p:spPr>
          <a:xfrm>
            <a:off x="675878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29" name="Rounded Rectangle 28"/>
          <p:cNvSpPr/>
          <p:nvPr/>
        </p:nvSpPr>
        <p:spPr>
          <a:xfrm>
            <a:off x="694166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941667" y="1554480"/>
            <a:ext cx="141732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987387" y="1691640"/>
            <a:ext cx="1325880" cy="274320"/>
          </a:xfrm>
          <a:prstGeom prst="rect">
            <a:avLst/>
          </a:prstGeom>
          <a:noFill/>
        </p:spPr>
        <p:txBody>
          <a:bodyPr wrap="square">
            <a:spAutoFit/>
          </a:bodyPr>
          <a:lstStyle/>
          <a:p>
            <a:pPr algn="ctr">
              <a:lnSpc>
                <a:spcPts val="2879"/>
              </a:lnSpc>
              <a:spcAft>
                <a:spcPts val="719"/>
              </a:spcAft>
              <a:defRPr sz="2400" b="1">
                <a:solidFill>
                  <a:srgbClr val="F38BA8"/>
                </a:solidFill>
                <a:latin typeface="Segoe UI"/>
              </a:defRPr>
            </a:pPr>
            <a:r>
              <a:t>5</a:t>
            </a:r>
          </a:p>
        </p:txBody>
      </p:sp>
      <p:sp>
        <p:nvSpPr>
          <p:cNvPr id="32" name="TextBox 31"/>
          <p:cNvSpPr txBox="1"/>
          <p:nvPr/>
        </p:nvSpPr>
        <p:spPr>
          <a:xfrm>
            <a:off x="698738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Collect</a:t>
            </a:r>
            <a:br/>
            <a:r>
              <a:t>params</a:t>
            </a:r>
          </a:p>
        </p:txBody>
      </p:sp>
      <p:sp>
        <p:nvSpPr>
          <p:cNvPr id="33" name="TextBox 32"/>
          <p:cNvSpPr txBox="1"/>
          <p:nvPr/>
        </p:nvSpPr>
        <p:spPr>
          <a:xfrm>
            <a:off x="698738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Gather template-</a:t>
            </a:r>
            <a:br/>
            <a:r>
              <a:t>specific inputs</a:t>
            </a:r>
          </a:p>
        </p:txBody>
      </p:sp>
      <p:sp>
        <p:nvSpPr>
          <p:cNvPr id="34" name="TextBox 33"/>
          <p:cNvSpPr txBox="1"/>
          <p:nvPr/>
        </p:nvSpPr>
        <p:spPr>
          <a:xfrm>
            <a:off x="831326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35" name="Rounded Rectangle 34"/>
          <p:cNvSpPr/>
          <p:nvPr/>
        </p:nvSpPr>
        <p:spPr>
          <a:xfrm>
            <a:off x="849614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8496147" y="1554480"/>
            <a:ext cx="1417320" cy="45720"/>
          </a:xfrm>
          <a:prstGeom prst="rect">
            <a:avLst/>
          </a:prstGeom>
          <a:solidFill>
            <a:srgbClr val="CBA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541867" y="1691640"/>
            <a:ext cx="1325880" cy="274320"/>
          </a:xfrm>
          <a:prstGeom prst="rect">
            <a:avLst/>
          </a:prstGeom>
          <a:noFill/>
        </p:spPr>
        <p:txBody>
          <a:bodyPr wrap="square">
            <a:spAutoFit/>
          </a:bodyPr>
          <a:lstStyle/>
          <a:p>
            <a:pPr algn="ctr">
              <a:lnSpc>
                <a:spcPts val="2879"/>
              </a:lnSpc>
              <a:spcAft>
                <a:spcPts val="719"/>
              </a:spcAft>
              <a:defRPr sz="2400" b="1">
                <a:solidFill>
                  <a:srgbClr val="CBA6F7"/>
                </a:solidFill>
                <a:latin typeface="Segoe UI"/>
              </a:defRPr>
            </a:pPr>
            <a:r>
              <a:t>6</a:t>
            </a:r>
          </a:p>
        </p:txBody>
      </p:sp>
      <p:sp>
        <p:nvSpPr>
          <p:cNvPr id="38" name="TextBox 37"/>
          <p:cNvSpPr txBox="1"/>
          <p:nvPr/>
        </p:nvSpPr>
        <p:spPr>
          <a:xfrm>
            <a:off x="854186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Assemble</a:t>
            </a:r>
          </a:p>
        </p:txBody>
      </p:sp>
      <p:sp>
        <p:nvSpPr>
          <p:cNvPr id="39" name="TextBox 38"/>
          <p:cNvSpPr txBox="1"/>
          <p:nvPr/>
        </p:nvSpPr>
        <p:spPr>
          <a:xfrm>
            <a:off x="854186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Compose layers</a:t>
            </a:r>
            <a:br/>
            <a:r>
              <a:t>in order</a:t>
            </a:r>
          </a:p>
        </p:txBody>
      </p:sp>
      <p:sp>
        <p:nvSpPr>
          <p:cNvPr id="40" name="TextBox 39"/>
          <p:cNvSpPr txBox="1"/>
          <p:nvPr/>
        </p:nvSpPr>
        <p:spPr>
          <a:xfrm>
            <a:off x="9867747" y="2468880"/>
            <a:ext cx="320040" cy="274320"/>
          </a:xfrm>
          <a:prstGeom prst="rect">
            <a:avLst/>
          </a:prstGeom>
          <a:noFill/>
        </p:spPr>
        <p:txBody>
          <a:bodyPr wrap="square">
            <a:spAutoFit/>
          </a:bodyPr>
          <a:lstStyle/>
          <a:p>
            <a:pPr algn="ctr">
              <a:lnSpc>
                <a:spcPts val="2400"/>
              </a:lnSpc>
              <a:spcAft>
                <a:spcPts val="600"/>
              </a:spcAft>
              <a:defRPr sz="2000" b="0">
                <a:solidFill>
                  <a:srgbClr val="6C7086"/>
                </a:solidFill>
                <a:latin typeface="Segoe UI"/>
              </a:defRPr>
            </a:pPr>
            <a:r>
              <a:t>›</a:t>
            </a:r>
          </a:p>
        </p:txBody>
      </p:sp>
      <p:sp>
        <p:nvSpPr>
          <p:cNvPr id="41" name="Rounded Rectangle 40"/>
          <p:cNvSpPr/>
          <p:nvPr/>
        </p:nvSpPr>
        <p:spPr>
          <a:xfrm>
            <a:off x="10050627" y="1554480"/>
            <a:ext cx="1417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10050627" y="1554480"/>
            <a:ext cx="141732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096347" y="1691640"/>
            <a:ext cx="1325880" cy="274320"/>
          </a:xfrm>
          <a:prstGeom prst="rect">
            <a:avLst/>
          </a:prstGeom>
          <a:noFill/>
        </p:spPr>
        <p:txBody>
          <a:bodyPr wrap="square">
            <a:spAutoFit/>
          </a:bodyPr>
          <a:lstStyle/>
          <a:p>
            <a:pPr algn="ctr">
              <a:lnSpc>
                <a:spcPts val="2879"/>
              </a:lnSpc>
              <a:spcAft>
                <a:spcPts val="719"/>
              </a:spcAft>
              <a:defRPr sz="2400" b="1">
                <a:solidFill>
                  <a:srgbClr val="89B4FA"/>
                </a:solidFill>
                <a:latin typeface="Segoe UI"/>
              </a:defRPr>
            </a:pPr>
            <a:r>
              <a:t>7</a:t>
            </a:r>
          </a:p>
        </p:txBody>
      </p:sp>
      <p:sp>
        <p:nvSpPr>
          <p:cNvPr id="44" name="TextBox 43"/>
          <p:cNvSpPr txBox="1"/>
          <p:nvPr/>
        </p:nvSpPr>
        <p:spPr>
          <a:xfrm>
            <a:off x="10096347" y="2057400"/>
            <a:ext cx="1325880" cy="64008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Output</a:t>
            </a:r>
          </a:p>
        </p:txBody>
      </p:sp>
      <p:sp>
        <p:nvSpPr>
          <p:cNvPr id="45" name="TextBox 44"/>
          <p:cNvSpPr txBox="1"/>
          <p:nvPr/>
        </p:nvSpPr>
        <p:spPr>
          <a:xfrm>
            <a:off x="10096347" y="2834640"/>
            <a:ext cx="1325880" cy="914400"/>
          </a:xfrm>
          <a:prstGeom prst="rect">
            <a:avLst/>
          </a:prstGeom>
          <a:noFill/>
        </p:spPr>
        <p:txBody>
          <a:bodyPr wrap="square">
            <a:spAutoFit/>
          </a:bodyPr>
          <a:lstStyle/>
          <a:p>
            <a:pPr algn="ctr">
              <a:lnSpc>
                <a:spcPts val="1400"/>
              </a:lnSpc>
              <a:spcAft>
                <a:spcPts val="300"/>
              </a:spcAft>
              <a:defRPr sz="1000" b="0">
                <a:solidFill>
                  <a:srgbClr val="6C7086"/>
                </a:solidFill>
                <a:latin typeface="Segoe UI"/>
              </a:defRPr>
            </a:pPr>
            <a:r>
              <a:t>Write prompt file</a:t>
            </a:r>
            <a:br/>
            <a:r>
              <a:t>or execute directly</a:t>
            </a:r>
          </a:p>
        </p:txBody>
      </p:sp>
      <p:sp>
        <p:nvSpPr>
          <p:cNvPr id="46" name="Rounded Rectangle 45"/>
          <p:cNvSpPr/>
          <p:nvPr/>
        </p:nvSpPr>
        <p:spPr>
          <a:xfrm>
            <a:off x="7315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914400" y="4297680"/>
            <a:ext cx="4846320" cy="274320"/>
          </a:xfrm>
          <a:prstGeom prst="rect">
            <a:avLst/>
          </a:prstGeom>
          <a:noFill/>
        </p:spPr>
        <p:txBody>
          <a:bodyPr wrap="square">
            <a:spAutoFit/>
          </a:bodyPr>
          <a:lstStyle/>
          <a:p>
            <a:pPr algn="l">
              <a:lnSpc>
                <a:spcPts val="1800"/>
              </a:lnSpc>
              <a:spcAft>
                <a:spcPts val="450"/>
              </a:spcAft>
              <a:defRPr sz="1500" b="1">
                <a:solidFill>
                  <a:srgbClr val="89B4FA"/>
                </a:solidFill>
                <a:latin typeface="Segoe UI"/>
              </a:defRPr>
            </a:pPr>
            <a:r>
              <a:t>Single-Shot Mode (default)</a:t>
            </a:r>
          </a:p>
        </p:txBody>
      </p:sp>
      <p:sp>
        <p:nvSpPr>
          <p:cNvPr id="48" name="TextBox 47"/>
          <p:cNvSpPr txBox="1"/>
          <p:nvPr/>
        </p:nvSpPr>
        <p:spPr>
          <a:xfrm>
            <a:off x="9144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Gather params → assemble prompt → write .md file</a:t>
            </a:r>
            <a:br/>
            <a:r>
              <a:t>User pastes into any LLM session</a:t>
            </a:r>
            <a:br/>
            <a:br/>
            <a:r>
              <a:t>Output options:</a:t>
            </a:r>
            <a:br/>
            <a:r>
              <a:t>  (a) Raw prompt file</a:t>
            </a:r>
            <a:br/>
            <a:r>
              <a:t>  (b) Agent instructions (.github/instructions/,</a:t>
            </a:r>
            <a:br/>
            <a:r>
              <a:t>       CLAUDE.md, .cursorrules)</a:t>
            </a:r>
          </a:p>
        </p:txBody>
      </p:sp>
      <p:sp>
        <p:nvSpPr>
          <p:cNvPr id="49" name="Rounded Rectangle 48"/>
          <p:cNvSpPr/>
          <p:nvPr/>
        </p:nvSpPr>
        <p:spPr>
          <a:xfrm>
            <a:off x="6217920" y="4206240"/>
            <a:ext cx="5212080" cy="21031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6400800" y="4297680"/>
            <a:ext cx="4846320" cy="274320"/>
          </a:xfrm>
          <a:prstGeom prst="rect">
            <a:avLst/>
          </a:prstGeom>
          <a:noFill/>
        </p:spPr>
        <p:txBody>
          <a:bodyPr wrap="square">
            <a:spAutoFit/>
          </a:bodyPr>
          <a:lstStyle/>
          <a:p>
            <a:pPr algn="l">
              <a:lnSpc>
                <a:spcPts val="1800"/>
              </a:lnSpc>
              <a:spcAft>
                <a:spcPts val="450"/>
              </a:spcAft>
              <a:defRPr sz="1500" b="1">
                <a:solidFill>
                  <a:srgbClr val="A6E3A1"/>
                </a:solidFill>
                <a:latin typeface="Segoe UI"/>
              </a:defRPr>
            </a:pPr>
            <a:r>
              <a:t>Interactive Mode</a:t>
            </a:r>
          </a:p>
        </p:txBody>
      </p:sp>
      <p:sp>
        <p:nvSpPr>
          <p:cNvPr id="51" name="TextBox 50"/>
          <p:cNvSpPr txBox="1"/>
          <p:nvPr/>
        </p:nvSpPr>
        <p:spPr>
          <a:xfrm>
            <a:off x="6400800" y="4663440"/>
            <a:ext cx="4846320" cy="914400"/>
          </a:xfrm>
          <a:prstGeom prst="rect">
            <a:avLst/>
          </a:prstGeom>
          <a:noFill/>
        </p:spPr>
        <p:txBody>
          <a:bodyPr wrap="square">
            <a:spAutoFit/>
          </a:bodyPr>
          <a:lstStyle/>
          <a:p>
            <a:pPr algn="l">
              <a:lnSpc>
                <a:spcPts val="1430"/>
              </a:lnSpc>
              <a:spcAft>
                <a:spcPts val="330"/>
              </a:spcAft>
              <a:defRPr sz="1100" b="0">
                <a:solidFill>
                  <a:srgbClr val="CDD6F4"/>
                </a:solidFill>
                <a:latin typeface="Cascadia Code"/>
              </a:defRPr>
            </a:pPr>
            <a:r>
              <a:t>Load components → execute directly in session</a:t>
            </a:r>
            <a:br/>
            <a:r>
              <a:t>Reasoning-and-challenge phase before output</a:t>
            </a:r>
            <a:br/>
            <a:br/>
            <a:r>
              <a:t>Template declares: mode: interactive</a:t>
            </a:r>
            <a:br/>
            <a:r>
              <a:t>Used by: extend-library, interactive-design</a:t>
            </a:r>
            <a:br/>
            <a:r>
              <a:t>No file written — LLM acts on the prompt live</a:t>
            </a:r>
          </a:p>
        </p:txBody>
      </p:sp>
      <p:sp>
        <p:nvSpPr>
          <p:cNvPr id="52" name="TextBox 51"/>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12 / 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Assembly Engine Internals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cli/lib/assemble.js — how the sausage is made</a:t>
            </a:r>
          </a:p>
        </p:txBody>
      </p:sp>
      <p:sp>
        <p:nvSpPr>
          <p:cNvPr id="5" name="Rounded Rectangle 4"/>
          <p:cNvSpPr/>
          <p:nvPr/>
        </p:nvSpPr>
        <p:spPr>
          <a:xfrm>
            <a:off x="731520" y="146304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463040"/>
            <a:ext cx="64008" cy="86868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1536192"/>
            <a:ext cx="2286000" cy="320040"/>
          </a:xfrm>
          <a:prstGeom prst="rect">
            <a:avLst/>
          </a:prstGeom>
          <a:noFill/>
        </p:spPr>
        <p:txBody>
          <a:bodyPr wrap="square">
            <a:spAutoFit/>
          </a:bodyPr>
          <a:lstStyle/>
          <a:p>
            <a:pPr algn="l">
              <a:lnSpc>
                <a:spcPts val="1920"/>
              </a:lnSpc>
              <a:spcAft>
                <a:spcPts val="480"/>
              </a:spcAft>
              <a:defRPr sz="1600" b="1">
                <a:solidFill>
                  <a:srgbClr val="89B4FA"/>
                </a:solidFill>
                <a:latin typeface="Cascadia Code"/>
              </a:defRPr>
            </a:pPr>
            <a:r>
              <a:t># Identity</a:t>
            </a:r>
          </a:p>
        </p:txBody>
      </p:sp>
      <p:sp>
        <p:nvSpPr>
          <p:cNvPr id="8" name="TextBox 7"/>
          <p:cNvSpPr txBox="1"/>
          <p:nvPr/>
        </p:nvSpPr>
        <p:spPr>
          <a:xfrm>
            <a:off x="1005840" y="190195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persona .md, strip frontmatter</a:t>
            </a:r>
          </a:p>
        </p:txBody>
      </p:sp>
      <p:sp>
        <p:nvSpPr>
          <p:cNvPr id="9" name="TextBox 8"/>
          <p:cNvSpPr txBox="1"/>
          <p:nvPr/>
        </p:nvSpPr>
        <p:spPr>
          <a:xfrm>
            <a:off x="3017520" y="233172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0" name="Rounded Rectangle 9"/>
          <p:cNvSpPr/>
          <p:nvPr/>
        </p:nvSpPr>
        <p:spPr>
          <a:xfrm>
            <a:off x="731520" y="251460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31520" y="2514600"/>
            <a:ext cx="64008" cy="86868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2587752"/>
            <a:ext cx="2286000" cy="320040"/>
          </a:xfrm>
          <a:prstGeom prst="rect">
            <a:avLst/>
          </a:prstGeom>
          <a:noFill/>
        </p:spPr>
        <p:txBody>
          <a:bodyPr wrap="square">
            <a:spAutoFit/>
          </a:bodyPr>
          <a:lstStyle/>
          <a:p>
            <a:pPr algn="l">
              <a:lnSpc>
                <a:spcPts val="1920"/>
              </a:lnSpc>
              <a:spcAft>
                <a:spcPts val="480"/>
              </a:spcAft>
              <a:defRPr sz="1600" b="1">
                <a:solidFill>
                  <a:srgbClr val="A6E3A1"/>
                </a:solidFill>
                <a:latin typeface="Cascadia Code"/>
              </a:defRPr>
            </a:pPr>
            <a:r>
              <a:t># Reasoning Protocols</a:t>
            </a:r>
          </a:p>
        </p:txBody>
      </p:sp>
      <p:sp>
        <p:nvSpPr>
          <p:cNvPr id="13" name="TextBox 12"/>
          <p:cNvSpPr txBox="1"/>
          <p:nvPr/>
        </p:nvSpPr>
        <p:spPr>
          <a:xfrm>
            <a:off x="1005840" y="295351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each protocol .md, join with ---</a:t>
            </a:r>
          </a:p>
        </p:txBody>
      </p:sp>
      <p:sp>
        <p:nvSpPr>
          <p:cNvPr id="14" name="TextBox 13"/>
          <p:cNvSpPr txBox="1"/>
          <p:nvPr/>
        </p:nvSpPr>
        <p:spPr>
          <a:xfrm>
            <a:off x="3017520" y="338328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15" name="Rounded Rectangle 14"/>
          <p:cNvSpPr/>
          <p:nvPr/>
        </p:nvSpPr>
        <p:spPr>
          <a:xfrm>
            <a:off x="731520" y="356616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31520" y="3566160"/>
            <a:ext cx="64008" cy="86868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3639312"/>
            <a:ext cx="2286000" cy="320040"/>
          </a:xfrm>
          <a:prstGeom prst="rect">
            <a:avLst/>
          </a:prstGeom>
          <a:noFill/>
        </p:spPr>
        <p:txBody>
          <a:bodyPr wrap="square">
            <a:spAutoFit/>
          </a:bodyPr>
          <a:lstStyle/>
          <a:p>
            <a:pPr algn="l">
              <a:lnSpc>
                <a:spcPts val="1920"/>
              </a:lnSpc>
              <a:spcAft>
                <a:spcPts val="480"/>
              </a:spcAft>
              <a:defRPr sz="1600" b="1">
                <a:solidFill>
                  <a:srgbClr val="F9E2AF"/>
                </a:solidFill>
                <a:latin typeface="Cascadia Code"/>
              </a:defRPr>
            </a:pPr>
            <a:r>
              <a:t># Output Format</a:t>
            </a:r>
          </a:p>
        </p:txBody>
      </p:sp>
      <p:sp>
        <p:nvSpPr>
          <p:cNvPr id="18" name="TextBox 17"/>
          <p:cNvSpPr txBox="1"/>
          <p:nvPr/>
        </p:nvSpPr>
        <p:spPr>
          <a:xfrm>
            <a:off x="1005840" y="400507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format .md, strip frontmatter</a:t>
            </a:r>
          </a:p>
        </p:txBody>
      </p:sp>
      <p:sp>
        <p:nvSpPr>
          <p:cNvPr id="19" name="TextBox 18"/>
          <p:cNvSpPr txBox="1"/>
          <p:nvPr/>
        </p:nvSpPr>
        <p:spPr>
          <a:xfrm>
            <a:off x="3017520" y="4434840"/>
            <a:ext cx="914400" cy="274320"/>
          </a:xfrm>
          <a:prstGeom prst="rect">
            <a:avLst/>
          </a:prstGeom>
          <a:noFill/>
        </p:spPr>
        <p:txBody>
          <a:bodyPr wrap="square">
            <a:spAutoFit/>
          </a:bodyPr>
          <a:lstStyle/>
          <a:p>
            <a:pPr algn="ctr">
              <a:lnSpc>
                <a:spcPts val="2160"/>
              </a:lnSpc>
              <a:spcAft>
                <a:spcPts val="540"/>
              </a:spcAft>
              <a:defRPr sz="1800" b="0">
                <a:solidFill>
                  <a:srgbClr val="6C7086"/>
                </a:solidFill>
                <a:latin typeface="Segoe UI"/>
              </a:defRPr>
            </a:pPr>
            <a:r>
              <a:t>↓</a:t>
            </a:r>
          </a:p>
        </p:txBody>
      </p:sp>
      <p:sp>
        <p:nvSpPr>
          <p:cNvPr id="20" name="Rounded Rectangle 19"/>
          <p:cNvSpPr/>
          <p:nvPr/>
        </p:nvSpPr>
        <p:spPr>
          <a:xfrm>
            <a:off x="731520" y="4617720"/>
            <a:ext cx="5029200" cy="86868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731520" y="4617720"/>
            <a:ext cx="64008" cy="86868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690872"/>
            <a:ext cx="2286000" cy="320040"/>
          </a:xfrm>
          <a:prstGeom prst="rect">
            <a:avLst/>
          </a:prstGeom>
          <a:noFill/>
        </p:spPr>
        <p:txBody>
          <a:bodyPr wrap="square">
            <a:spAutoFit/>
          </a:bodyPr>
          <a:lstStyle/>
          <a:p>
            <a:pPr algn="l">
              <a:lnSpc>
                <a:spcPts val="1920"/>
              </a:lnSpc>
              <a:spcAft>
                <a:spcPts val="480"/>
              </a:spcAft>
              <a:defRPr sz="1600" b="1">
                <a:solidFill>
                  <a:srgbClr val="FAB387"/>
                </a:solidFill>
                <a:latin typeface="Cascadia Code"/>
              </a:defRPr>
            </a:pPr>
            <a:r>
              <a:t># Task</a:t>
            </a:r>
          </a:p>
        </p:txBody>
      </p:sp>
      <p:sp>
        <p:nvSpPr>
          <p:cNvPr id="23" name="TextBox 22"/>
          <p:cNvSpPr txBox="1"/>
          <p:nvPr/>
        </p:nvSpPr>
        <p:spPr>
          <a:xfrm>
            <a:off x="1005840" y="5056632"/>
            <a:ext cx="4389120" cy="365760"/>
          </a:xfrm>
          <a:prstGeom prst="rect">
            <a:avLst/>
          </a:prstGeom>
          <a:noFill/>
        </p:spPr>
        <p:txBody>
          <a:bodyPr wrap="square">
            <a:spAutoFit/>
          </a:bodyPr>
          <a:lstStyle/>
          <a:p>
            <a:pPr algn="l">
              <a:lnSpc>
                <a:spcPts val="1560"/>
              </a:lnSpc>
              <a:spcAft>
                <a:spcPts val="390"/>
              </a:spcAft>
              <a:defRPr sz="1300" b="0">
                <a:solidFill>
                  <a:srgbClr val="CDD6F4"/>
                </a:solidFill>
                <a:latin typeface="Segoe UI"/>
              </a:defRPr>
            </a:pPr>
            <a:r>
              <a:t>Load template .md, substitute {{params}}</a:t>
            </a:r>
          </a:p>
        </p:txBody>
      </p:sp>
      <p:sp>
        <p:nvSpPr>
          <p:cNvPr id="24" name="TextBox 23"/>
          <p:cNvSpPr txBox="1"/>
          <p:nvPr/>
        </p:nvSpPr>
        <p:spPr>
          <a:xfrm>
            <a:off x="6217920" y="1463040"/>
            <a:ext cx="5029200" cy="274320"/>
          </a:xfrm>
          <a:prstGeom prst="rect">
            <a:avLst/>
          </a:prstGeom>
          <a:noFill/>
        </p:spPr>
        <p:txBody>
          <a:bodyPr wrap="square">
            <a:spAutoFit/>
          </a:bodyPr>
          <a:lstStyle/>
          <a:p>
            <a:pPr algn="l">
              <a:lnSpc>
                <a:spcPts val="2160"/>
              </a:lnSpc>
              <a:spcAft>
                <a:spcPts val="540"/>
              </a:spcAft>
              <a:defRPr sz="1800" b="1">
                <a:solidFill>
                  <a:srgbClr val="89B4FA"/>
                </a:solidFill>
                <a:latin typeface="Segoe UI"/>
              </a:defRPr>
            </a:pPr>
            <a:r>
              <a:t>Key Processing Steps</a:t>
            </a:r>
          </a:p>
        </p:txBody>
      </p:sp>
      <p:sp>
        <p:nvSpPr>
          <p:cNvPr id="25" name="TextBox 24"/>
          <p:cNvSpPr txBox="1"/>
          <p:nvPr/>
        </p:nvSpPr>
        <p:spPr>
          <a:xfrm>
            <a:off x="6217920" y="1920240"/>
            <a:ext cx="2743200" cy="228600"/>
          </a:xfrm>
          <a:prstGeom prst="rect">
            <a:avLst/>
          </a:prstGeom>
          <a:noFill/>
        </p:spPr>
        <p:txBody>
          <a:bodyPr wrap="square">
            <a:spAutoFit/>
          </a:bodyPr>
          <a:lstStyle/>
          <a:p>
            <a:pPr algn="l">
              <a:lnSpc>
                <a:spcPts val="1560"/>
              </a:lnSpc>
              <a:spcAft>
                <a:spcPts val="390"/>
              </a:spcAft>
              <a:defRPr sz="1300" b="1">
                <a:solidFill>
                  <a:srgbClr val="89B4FA"/>
                </a:solidFill>
                <a:latin typeface="Cascadia Code"/>
              </a:defRPr>
            </a:pPr>
            <a:r>
              <a:t>stripFrontmatter()</a:t>
            </a:r>
          </a:p>
        </p:txBody>
      </p:sp>
      <p:sp>
        <p:nvSpPr>
          <p:cNvPr id="26" name="TextBox 25"/>
          <p:cNvSpPr txBox="1"/>
          <p:nvPr/>
        </p:nvSpPr>
        <p:spPr>
          <a:xfrm>
            <a:off x="6217920" y="217627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YAML --- block from</a:t>
            </a:r>
            <a:br/>
            <a:r>
              <a:t>each component before assembly</a:t>
            </a:r>
          </a:p>
        </p:txBody>
      </p:sp>
      <p:sp>
        <p:nvSpPr>
          <p:cNvPr id="27" name="TextBox 26"/>
          <p:cNvSpPr txBox="1"/>
          <p:nvPr/>
        </p:nvSpPr>
        <p:spPr>
          <a:xfrm>
            <a:off x="6217920" y="2788920"/>
            <a:ext cx="2743200" cy="228600"/>
          </a:xfrm>
          <a:prstGeom prst="rect">
            <a:avLst/>
          </a:prstGeom>
          <a:noFill/>
        </p:spPr>
        <p:txBody>
          <a:bodyPr wrap="square">
            <a:spAutoFit/>
          </a:bodyPr>
          <a:lstStyle/>
          <a:p>
            <a:pPr algn="l">
              <a:lnSpc>
                <a:spcPts val="1560"/>
              </a:lnSpc>
              <a:spcAft>
                <a:spcPts val="390"/>
              </a:spcAft>
              <a:defRPr sz="1300" b="1">
                <a:solidFill>
                  <a:srgbClr val="A6E3A1"/>
                </a:solidFill>
                <a:latin typeface="Cascadia Code"/>
              </a:defRPr>
            </a:pPr>
            <a:r>
              <a:t>Strip HTML comments</a:t>
            </a:r>
          </a:p>
        </p:txBody>
      </p:sp>
      <p:sp>
        <p:nvSpPr>
          <p:cNvPr id="28" name="TextBox 27"/>
          <p:cNvSpPr txBox="1"/>
          <p:nvPr/>
        </p:nvSpPr>
        <p:spPr>
          <a:xfrm>
            <a:off x="6217920" y="304495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Removes SPDX license headers</a:t>
            </a:r>
            <a:br/>
            <a:r>
              <a:t>(&lt;!-- ... --&gt; blocks)</a:t>
            </a:r>
          </a:p>
        </p:txBody>
      </p:sp>
      <p:sp>
        <p:nvSpPr>
          <p:cNvPr id="29" name="TextBox 28"/>
          <p:cNvSpPr txBox="1"/>
          <p:nvPr/>
        </p:nvSpPr>
        <p:spPr>
          <a:xfrm>
            <a:off x="6217920" y="3657600"/>
            <a:ext cx="2743200" cy="228600"/>
          </a:xfrm>
          <a:prstGeom prst="rect">
            <a:avLst/>
          </a:prstGeom>
          <a:noFill/>
        </p:spPr>
        <p:txBody>
          <a:bodyPr wrap="square">
            <a:spAutoFit/>
          </a:bodyPr>
          <a:lstStyle/>
          <a:p>
            <a:pPr algn="l">
              <a:lnSpc>
                <a:spcPts val="1560"/>
              </a:lnSpc>
              <a:spcAft>
                <a:spcPts val="390"/>
              </a:spcAft>
              <a:defRPr sz="1300" b="1">
                <a:solidFill>
                  <a:srgbClr val="F9E2AF"/>
                </a:solidFill>
                <a:latin typeface="Cascadia Code"/>
              </a:defRPr>
            </a:pPr>
            <a:r>
              <a:t>loadComponent()</a:t>
            </a:r>
          </a:p>
        </p:txBody>
      </p:sp>
      <p:sp>
        <p:nvSpPr>
          <p:cNvPr id="30" name="TextBox 29"/>
          <p:cNvSpPr txBox="1"/>
          <p:nvPr/>
        </p:nvSpPr>
        <p:spPr>
          <a:xfrm>
            <a:off x="6217920" y="391363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Reads file, strips frontmatter +</a:t>
            </a:r>
            <a:br/>
            <a:r>
              <a:t>comments, returns clean body</a:t>
            </a:r>
          </a:p>
        </p:txBody>
      </p:sp>
      <p:sp>
        <p:nvSpPr>
          <p:cNvPr id="31" name="TextBox 30"/>
          <p:cNvSpPr txBox="1"/>
          <p:nvPr/>
        </p:nvSpPr>
        <p:spPr>
          <a:xfrm>
            <a:off x="6217920" y="4526279"/>
            <a:ext cx="2743200" cy="228600"/>
          </a:xfrm>
          <a:prstGeom prst="rect">
            <a:avLst/>
          </a:prstGeom>
          <a:noFill/>
        </p:spPr>
        <p:txBody>
          <a:bodyPr wrap="square">
            <a:spAutoFit/>
          </a:bodyPr>
          <a:lstStyle/>
          <a:p>
            <a:pPr algn="l">
              <a:lnSpc>
                <a:spcPts val="1560"/>
              </a:lnSpc>
              <a:spcAft>
                <a:spcPts val="390"/>
              </a:spcAft>
              <a:defRPr sz="1300" b="1">
                <a:solidFill>
                  <a:srgbClr val="FAB387"/>
                </a:solidFill>
                <a:latin typeface="Cascadia Code"/>
              </a:defRPr>
            </a:pPr>
            <a:r>
              <a:t>Parameter substitution</a:t>
            </a:r>
          </a:p>
        </p:txBody>
      </p:sp>
      <p:sp>
        <p:nvSpPr>
          <p:cNvPr id="32" name="TextBox 31"/>
          <p:cNvSpPr txBox="1"/>
          <p:nvPr/>
        </p:nvSpPr>
        <p:spPr>
          <a:xfrm>
            <a:off x="6217920" y="4782311"/>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Simple {{key}} → value replacement</a:t>
            </a:r>
            <a:br/>
            <a:r>
              <a:t>via split/join (no recursion)</a:t>
            </a:r>
          </a:p>
        </p:txBody>
      </p:sp>
      <p:sp>
        <p:nvSpPr>
          <p:cNvPr id="33" name="TextBox 32"/>
          <p:cNvSpPr txBox="1"/>
          <p:nvPr/>
        </p:nvSpPr>
        <p:spPr>
          <a:xfrm>
            <a:off x="6217920" y="5394960"/>
            <a:ext cx="2743200" cy="228600"/>
          </a:xfrm>
          <a:prstGeom prst="rect">
            <a:avLst/>
          </a:prstGeom>
          <a:noFill/>
        </p:spPr>
        <p:txBody>
          <a:bodyPr wrap="square">
            <a:spAutoFit/>
          </a:bodyPr>
          <a:lstStyle/>
          <a:p>
            <a:pPr algn="l">
              <a:lnSpc>
                <a:spcPts val="1560"/>
              </a:lnSpc>
              <a:spcAft>
                <a:spcPts val="390"/>
              </a:spcAft>
              <a:defRPr sz="1300" b="1">
                <a:solidFill>
                  <a:srgbClr val="F38BA8"/>
                </a:solidFill>
                <a:latin typeface="Cascadia Code"/>
              </a:defRPr>
            </a:pPr>
            <a:r>
              <a:t>Section joining</a:t>
            </a:r>
          </a:p>
        </p:txBody>
      </p:sp>
      <p:sp>
        <p:nvSpPr>
          <p:cNvPr id="34" name="TextBox 33"/>
          <p:cNvSpPr txBox="1"/>
          <p:nvPr/>
        </p:nvSpPr>
        <p:spPr>
          <a:xfrm>
            <a:off x="6217920" y="5650992"/>
            <a:ext cx="5029200" cy="502920"/>
          </a:xfrm>
          <a:prstGeom prst="rect">
            <a:avLst/>
          </a:prstGeom>
          <a:noFill/>
        </p:spPr>
        <p:txBody>
          <a:bodyPr wrap="square">
            <a:spAutoFit/>
          </a:bodyPr>
          <a:lstStyle/>
          <a:p>
            <a:pPr algn="l">
              <a:lnSpc>
                <a:spcPts val="1430"/>
              </a:lnSpc>
              <a:spcAft>
                <a:spcPts val="330"/>
              </a:spcAft>
              <a:defRPr sz="1100" b="0">
                <a:solidFill>
                  <a:srgbClr val="CDD6F4"/>
                </a:solidFill>
                <a:latin typeface="Segoe UI"/>
              </a:defRPr>
            </a:pPr>
            <a:r>
              <a:t>Sections separated by markdown</a:t>
            </a:r>
            <a:br/>
            <a:r>
              <a:t>horizontal rule (---)</a:t>
            </a:r>
          </a:p>
        </p:txBody>
      </p:sp>
      <p:sp>
        <p:nvSpPr>
          <p:cNvPr id="35" name="Rounded Rectangle 34"/>
          <p:cNvSpPr/>
          <p:nvPr/>
        </p:nvSpPr>
        <p:spPr>
          <a:xfrm>
            <a:off x="731520" y="5669280"/>
            <a:ext cx="10698480" cy="73152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05840" y="5760720"/>
            <a:ext cx="10149840" cy="548640"/>
          </a:xfrm>
          <a:prstGeom prst="rect">
            <a:avLst/>
          </a:prstGeom>
          <a:noFill/>
        </p:spPr>
        <p:txBody>
          <a:bodyPr wrap="square">
            <a:spAutoFit/>
          </a:bodyPr>
          <a:lstStyle/>
          <a:p>
            <a:pPr algn="ctr">
              <a:lnSpc>
                <a:spcPts val="1439"/>
              </a:lnSpc>
              <a:spcAft>
                <a:spcPts val="359"/>
              </a:spcAft>
              <a:defRPr sz="1200" b="0">
                <a:solidFill>
                  <a:srgbClr val="89B4FA"/>
                </a:solidFill>
                <a:latin typeface="Cascadia Code"/>
              </a:defRPr>
            </a:pPr>
            <a:r>
              <a:t>Output: Single markdown string  →  # Identity\n---\n# Reasoning Protocols\n---\n# Output Format\n---\n# Task</a:t>
            </a:r>
          </a:p>
        </p:txBody>
      </p:sp>
      <p:sp>
        <p:nvSpPr>
          <p:cNvPr id="37" name="TextBox 36"/>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13 / 16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Pipeline Chaining: Multi-Stage Workflows</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Templates connected by input/output contracts</a:t>
            </a:r>
          </a:p>
        </p:txBody>
      </p:sp>
      <p:sp>
        <p:nvSpPr>
          <p:cNvPr id="5" name="Rounded Rectangle 4"/>
          <p:cNvSpPr/>
          <p:nvPr/>
        </p:nvSpPr>
        <p:spPr>
          <a:xfrm>
            <a:off x="152384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523847" y="1554480"/>
            <a:ext cx="2560320"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1528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requirements-doc</a:t>
            </a:r>
          </a:p>
        </p:txBody>
      </p:sp>
      <p:sp>
        <p:nvSpPr>
          <p:cNvPr id="8" name="TextBox 7"/>
          <p:cNvSpPr txBox="1"/>
          <p:nvPr/>
        </p:nvSpPr>
        <p:spPr>
          <a:xfrm>
            <a:off x="161528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9" name="TextBox 8"/>
          <p:cNvSpPr txBox="1"/>
          <p:nvPr/>
        </p:nvSpPr>
        <p:spPr>
          <a:xfrm>
            <a:off x="1615287" y="3108960"/>
            <a:ext cx="2377440" cy="640080"/>
          </a:xfrm>
          <a:prstGeom prst="rect">
            <a:avLst/>
          </a:prstGeom>
          <a:noFill/>
        </p:spPr>
        <p:txBody>
          <a:bodyPr wrap="square">
            <a:spAutoFit/>
          </a:bodyPr>
          <a:lstStyle/>
          <a:p>
            <a:pPr algn="ctr">
              <a:lnSpc>
                <a:spcPts val="1680"/>
              </a:lnSpc>
              <a:spcAft>
                <a:spcPts val="420"/>
              </a:spcAft>
              <a:defRPr sz="1400" b="0">
                <a:solidFill>
                  <a:srgbClr val="89B4FA"/>
                </a:solidFill>
                <a:latin typeface="Cascadia Code"/>
              </a:defRPr>
            </a:pPr>
            <a:r>
              <a:t>requirements-</a:t>
            </a:r>
            <a:br/>
            <a:r>
              <a:t>document</a:t>
            </a:r>
          </a:p>
        </p:txBody>
      </p:sp>
      <p:sp>
        <p:nvSpPr>
          <p:cNvPr id="10" name="TextBox 9"/>
          <p:cNvSpPr txBox="1"/>
          <p:nvPr/>
        </p:nvSpPr>
        <p:spPr>
          <a:xfrm>
            <a:off x="412988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1" name="Rounded Rectangle 10"/>
          <p:cNvSpPr/>
          <p:nvPr/>
        </p:nvSpPr>
        <p:spPr>
          <a:xfrm>
            <a:off x="481568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815687" y="1554480"/>
            <a:ext cx="2560320" cy="54864"/>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90712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design-doc</a:t>
            </a:r>
          </a:p>
        </p:txBody>
      </p:sp>
      <p:sp>
        <p:nvSpPr>
          <p:cNvPr id="14" name="TextBox 13"/>
          <p:cNvSpPr txBox="1"/>
          <p:nvPr/>
        </p:nvSpPr>
        <p:spPr>
          <a:xfrm>
            <a:off x="490712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15" name="TextBox 14"/>
          <p:cNvSpPr txBox="1"/>
          <p:nvPr/>
        </p:nvSpPr>
        <p:spPr>
          <a:xfrm>
            <a:off x="4907127" y="3108960"/>
            <a:ext cx="2377440" cy="640080"/>
          </a:xfrm>
          <a:prstGeom prst="rect">
            <a:avLst/>
          </a:prstGeom>
          <a:noFill/>
        </p:spPr>
        <p:txBody>
          <a:bodyPr wrap="square">
            <a:spAutoFit/>
          </a:bodyPr>
          <a:lstStyle/>
          <a:p>
            <a:pPr algn="ctr">
              <a:lnSpc>
                <a:spcPts val="1680"/>
              </a:lnSpc>
              <a:spcAft>
                <a:spcPts val="420"/>
              </a:spcAft>
              <a:defRPr sz="1400" b="0">
                <a:solidFill>
                  <a:srgbClr val="A6E3A1"/>
                </a:solidFill>
                <a:latin typeface="Cascadia Code"/>
              </a:defRPr>
            </a:pPr>
            <a:r>
              <a:t>design-</a:t>
            </a:r>
            <a:br/>
            <a:r>
              <a:t>document</a:t>
            </a:r>
          </a:p>
        </p:txBody>
      </p:sp>
      <p:sp>
        <p:nvSpPr>
          <p:cNvPr id="16" name="TextBox 15"/>
          <p:cNvSpPr txBox="1"/>
          <p:nvPr/>
        </p:nvSpPr>
        <p:spPr>
          <a:xfrm>
            <a:off x="7421727" y="2286000"/>
            <a:ext cx="731520" cy="457200"/>
          </a:xfrm>
          <a:prstGeom prst="rect">
            <a:avLst/>
          </a:prstGeom>
          <a:noFill/>
        </p:spPr>
        <p:txBody>
          <a:bodyPr wrap="square">
            <a:spAutoFit/>
          </a:bodyPr>
          <a:lstStyle/>
          <a:p>
            <a:pPr algn="ctr">
              <a:lnSpc>
                <a:spcPts val="4320"/>
              </a:lnSpc>
              <a:spcAft>
                <a:spcPts val="1080"/>
              </a:spcAft>
              <a:defRPr sz="3600" b="0">
                <a:solidFill>
                  <a:srgbClr val="6C7086"/>
                </a:solidFill>
                <a:latin typeface="Segoe UI"/>
              </a:defRPr>
            </a:pPr>
            <a:r>
              <a:t>→</a:t>
            </a:r>
          </a:p>
        </p:txBody>
      </p:sp>
      <p:sp>
        <p:nvSpPr>
          <p:cNvPr id="17" name="Rounded Rectangle 16"/>
          <p:cNvSpPr/>
          <p:nvPr/>
        </p:nvSpPr>
        <p:spPr>
          <a:xfrm>
            <a:off x="8107527" y="1554480"/>
            <a:ext cx="2560320" cy="22860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107527" y="1554480"/>
            <a:ext cx="2560320" cy="54864"/>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98967" y="1783080"/>
            <a:ext cx="2377440" cy="822960"/>
          </a:xfrm>
          <a:prstGeom prst="rect">
            <a:avLst/>
          </a:prstGeom>
          <a:noFill/>
        </p:spPr>
        <p:txBody>
          <a:bodyPr wrap="square">
            <a:spAutoFit/>
          </a:bodyPr>
          <a:lstStyle/>
          <a:p>
            <a:pPr algn="ctr">
              <a:lnSpc>
                <a:spcPts val="1920"/>
              </a:lnSpc>
              <a:spcAft>
                <a:spcPts val="480"/>
              </a:spcAft>
              <a:defRPr sz="1600" b="1">
                <a:solidFill>
                  <a:srgbClr val="CDD6F4"/>
                </a:solidFill>
                <a:latin typeface="Cascadia Code"/>
              </a:defRPr>
            </a:pPr>
            <a:r>
              <a:t>author-</a:t>
            </a:r>
            <a:br/>
            <a:r>
              <a:t>validation-plan</a:t>
            </a:r>
          </a:p>
        </p:txBody>
      </p:sp>
      <p:sp>
        <p:nvSpPr>
          <p:cNvPr id="20" name="TextBox 19"/>
          <p:cNvSpPr txBox="1"/>
          <p:nvPr/>
        </p:nvSpPr>
        <p:spPr>
          <a:xfrm>
            <a:off x="8198967" y="2788920"/>
            <a:ext cx="2377440" cy="274320"/>
          </a:xfrm>
          <a:prstGeom prst="rect">
            <a:avLst/>
          </a:prstGeom>
          <a:noFill/>
        </p:spPr>
        <p:txBody>
          <a:bodyPr wrap="square">
            <a:spAutoFit/>
          </a:bodyPr>
          <a:lstStyle/>
          <a:p>
            <a:pPr algn="ctr">
              <a:lnSpc>
                <a:spcPts val="1439"/>
              </a:lnSpc>
              <a:spcAft>
                <a:spcPts val="359"/>
              </a:spcAft>
              <a:defRPr sz="1200" b="0">
                <a:solidFill>
                  <a:srgbClr val="6C7086"/>
                </a:solidFill>
                <a:latin typeface="Segoe UI"/>
              </a:defRPr>
            </a:pPr>
            <a:r>
              <a:t>produces ↓</a:t>
            </a:r>
          </a:p>
        </p:txBody>
      </p:sp>
      <p:sp>
        <p:nvSpPr>
          <p:cNvPr id="21" name="TextBox 20"/>
          <p:cNvSpPr txBox="1"/>
          <p:nvPr/>
        </p:nvSpPr>
        <p:spPr>
          <a:xfrm>
            <a:off x="8198967" y="3108960"/>
            <a:ext cx="2377440" cy="640080"/>
          </a:xfrm>
          <a:prstGeom prst="rect">
            <a:avLst/>
          </a:prstGeom>
          <a:noFill/>
        </p:spPr>
        <p:txBody>
          <a:bodyPr wrap="square">
            <a:spAutoFit/>
          </a:bodyPr>
          <a:lstStyle/>
          <a:p>
            <a:pPr algn="ctr">
              <a:lnSpc>
                <a:spcPts val="1680"/>
              </a:lnSpc>
              <a:spcAft>
                <a:spcPts val="420"/>
              </a:spcAft>
              <a:defRPr sz="1400" b="0">
                <a:solidFill>
                  <a:srgbClr val="F9E2AF"/>
                </a:solidFill>
                <a:latin typeface="Cascadia Code"/>
              </a:defRPr>
            </a:pPr>
            <a:r>
              <a:t>validation-</a:t>
            </a:r>
            <a:br/>
            <a:r>
              <a:t>plan</a:t>
            </a:r>
          </a:p>
        </p:txBody>
      </p:sp>
      <p:sp>
        <p:nvSpPr>
          <p:cNvPr id="22" name="Rounded Rectangle 21"/>
          <p:cNvSpPr/>
          <p:nvPr/>
        </p:nvSpPr>
        <p:spPr>
          <a:xfrm>
            <a:off x="731520" y="4206240"/>
            <a:ext cx="10698480" cy="2194560"/>
          </a:xfrm>
          <a:prstGeom prst="roundRect">
            <a:avLst/>
          </a:prstGeom>
          <a:solidFill>
            <a:srgbClr val="181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05840" y="4297680"/>
            <a:ext cx="4572000" cy="274320"/>
          </a:xfrm>
          <a:prstGeom prst="rect">
            <a:avLst/>
          </a:prstGeom>
          <a:noFill/>
        </p:spPr>
        <p:txBody>
          <a:bodyPr wrap="square">
            <a:spAutoFit/>
          </a:bodyPr>
          <a:lstStyle/>
          <a:p>
            <a:pPr algn="l">
              <a:lnSpc>
                <a:spcPts val="1920"/>
              </a:lnSpc>
              <a:spcAft>
                <a:spcPts val="480"/>
              </a:spcAft>
              <a:defRPr sz="1600" b="1">
                <a:solidFill>
                  <a:srgbClr val="89B4FA"/>
                </a:solidFill>
                <a:latin typeface="Segoe UI"/>
              </a:defRPr>
            </a:pPr>
            <a:r>
              <a:t>How contracts work:</a:t>
            </a:r>
          </a:p>
        </p:txBody>
      </p:sp>
      <p:sp>
        <p:nvSpPr>
          <p:cNvPr id="24" name="TextBox 23"/>
          <p:cNvSpPr txBox="1"/>
          <p:nvPr/>
        </p:nvSpPr>
        <p:spPr>
          <a:xfrm>
            <a:off x="1005840" y="4709160"/>
            <a:ext cx="274320" cy="274320"/>
          </a:xfrm>
          <a:prstGeom prst="rect">
            <a:avLst/>
          </a:prstGeom>
          <a:noFill/>
        </p:spPr>
        <p:txBody>
          <a:bodyPr wrap="square">
            <a:spAutoFit/>
          </a:bodyPr>
          <a:lstStyle/>
          <a:p>
            <a:pPr algn="l">
              <a:lnSpc>
                <a:spcPts val="1439"/>
              </a:lnSpc>
              <a:spcAft>
                <a:spcPts val="359"/>
              </a:spcAft>
              <a:defRPr sz="1200" b="1">
                <a:solidFill>
                  <a:srgbClr val="89B4FA"/>
                </a:solidFill>
                <a:latin typeface="Segoe UI"/>
              </a:defRPr>
            </a:pPr>
            <a:r>
              <a:t>1.</a:t>
            </a:r>
          </a:p>
        </p:txBody>
      </p:sp>
      <p:sp>
        <p:nvSpPr>
          <p:cNvPr id="25" name="TextBox 24"/>
          <p:cNvSpPr txBox="1"/>
          <p:nvPr/>
        </p:nvSpPr>
        <p:spPr>
          <a:xfrm>
            <a:off x="1280160" y="4709160"/>
            <a:ext cx="210312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Template declares</a:t>
            </a:r>
          </a:p>
        </p:txBody>
      </p:sp>
      <p:sp>
        <p:nvSpPr>
          <p:cNvPr id="26" name="TextBox 25"/>
          <p:cNvSpPr txBox="1"/>
          <p:nvPr/>
        </p:nvSpPr>
        <p:spPr>
          <a:xfrm>
            <a:off x="3474720" y="470916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output_contract: { type: requirements-document }</a:t>
            </a:r>
          </a:p>
        </p:txBody>
      </p:sp>
      <p:sp>
        <p:nvSpPr>
          <p:cNvPr id="27" name="TextBox 26"/>
          <p:cNvSpPr txBox="1"/>
          <p:nvPr/>
        </p:nvSpPr>
        <p:spPr>
          <a:xfrm>
            <a:off x="1005840" y="5029200"/>
            <a:ext cx="274320" cy="274320"/>
          </a:xfrm>
          <a:prstGeom prst="rect">
            <a:avLst/>
          </a:prstGeom>
          <a:noFill/>
        </p:spPr>
        <p:txBody>
          <a:bodyPr wrap="square">
            <a:spAutoFit/>
          </a:bodyPr>
          <a:lstStyle/>
          <a:p>
            <a:pPr algn="l">
              <a:lnSpc>
                <a:spcPts val="1439"/>
              </a:lnSpc>
              <a:spcAft>
                <a:spcPts val="359"/>
              </a:spcAft>
              <a:defRPr sz="1200" b="1">
                <a:solidFill>
                  <a:srgbClr val="A6E3A1"/>
                </a:solidFill>
                <a:latin typeface="Segoe UI"/>
              </a:defRPr>
            </a:pPr>
            <a:r>
              <a:t>2.</a:t>
            </a:r>
          </a:p>
        </p:txBody>
      </p:sp>
      <p:sp>
        <p:nvSpPr>
          <p:cNvPr id="28" name="TextBox 27"/>
          <p:cNvSpPr txBox="1"/>
          <p:nvPr/>
        </p:nvSpPr>
        <p:spPr>
          <a:xfrm>
            <a:off x="1280160" y="5029200"/>
            <a:ext cx="210312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Next template declares</a:t>
            </a:r>
          </a:p>
        </p:txBody>
      </p:sp>
      <p:sp>
        <p:nvSpPr>
          <p:cNvPr id="29" name="TextBox 28"/>
          <p:cNvSpPr txBox="1"/>
          <p:nvPr/>
        </p:nvSpPr>
        <p:spPr>
          <a:xfrm>
            <a:off x="3474720" y="502920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input_contract: { type: requirements-document }</a:t>
            </a:r>
          </a:p>
        </p:txBody>
      </p:sp>
      <p:sp>
        <p:nvSpPr>
          <p:cNvPr id="30" name="TextBox 29"/>
          <p:cNvSpPr txBox="1"/>
          <p:nvPr/>
        </p:nvSpPr>
        <p:spPr>
          <a:xfrm>
            <a:off x="1005840" y="5349240"/>
            <a:ext cx="274320" cy="274320"/>
          </a:xfrm>
          <a:prstGeom prst="rect">
            <a:avLst/>
          </a:prstGeom>
          <a:noFill/>
        </p:spPr>
        <p:txBody>
          <a:bodyPr wrap="square">
            <a:spAutoFit/>
          </a:bodyPr>
          <a:lstStyle/>
          <a:p>
            <a:pPr algn="l">
              <a:lnSpc>
                <a:spcPts val="1439"/>
              </a:lnSpc>
              <a:spcAft>
                <a:spcPts val="359"/>
              </a:spcAft>
              <a:defRPr sz="1200" b="1">
                <a:solidFill>
                  <a:srgbClr val="F9E2AF"/>
                </a:solidFill>
                <a:latin typeface="Segoe UI"/>
              </a:defRPr>
            </a:pPr>
            <a:r>
              <a:t>3.</a:t>
            </a:r>
          </a:p>
        </p:txBody>
      </p:sp>
      <p:sp>
        <p:nvSpPr>
          <p:cNvPr id="31" name="TextBox 30"/>
          <p:cNvSpPr txBox="1"/>
          <p:nvPr/>
        </p:nvSpPr>
        <p:spPr>
          <a:xfrm>
            <a:off x="1280160" y="5349240"/>
            <a:ext cx="210312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Manifest defines pipeline</a:t>
            </a:r>
          </a:p>
        </p:txBody>
      </p:sp>
      <p:sp>
        <p:nvSpPr>
          <p:cNvPr id="32" name="TextBox 31"/>
          <p:cNvSpPr txBox="1"/>
          <p:nvPr/>
        </p:nvSpPr>
        <p:spPr>
          <a:xfrm>
            <a:off x="3474720" y="534924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stages: [{produces: ...}, {consumes: ..., produces: ...}]</a:t>
            </a:r>
          </a:p>
        </p:txBody>
      </p:sp>
      <p:sp>
        <p:nvSpPr>
          <p:cNvPr id="33" name="TextBox 32"/>
          <p:cNvSpPr txBox="1"/>
          <p:nvPr/>
        </p:nvSpPr>
        <p:spPr>
          <a:xfrm>
            <a:off x="1005840" y="5669280"/>
            <a:ext cx="274320" cy="274320"/>
          </a:xfrm>
          <a:prstGeom prst="rect">
            <a:avLst/>
          </a:prstGeom>
          <a:noFill/>
        </p:spPr>
        <p:txBody>
          <a:bodyPr wrap="square">
            <a:spAutoFit/>
          </a:bodyPr>
          <a:lstStyle/>
          <a:p>
            <a:pPr algn="l">
              <a:lnSpc>
                <a:spcPts val="1439"/>
              </a:lnSpc>
              <a:spcAft>
                <a:spcPts val="359"/>
              </a:spcAft>
              <a:defRPr sz="1200" b="1">
                <a:solidFill>
                  <a:srgbClr val="FAB387"/>
                </a:solidFill>
                <a:latin typeface="Segoe UI"/>
              </a:defRPr>
            </a:pPr>
            <a:r>
              <a:t>4.</a:t>
            </a:r>
          </a:p>
        </p:txBody>
      </p:sp>
      <p:sp>
        <p:nvSpPr>
          <p:cNvPr id="34" name="TextBox 33"/>
          <p:cNvSpPr txBox="1"/>
          <p:nvPr/>
        </p:nvSpPr>
        <p:spPr>
          <a:xfrm>
            <a:off x="1280160" y="5669280"/>
            <a:ext cx="210312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Bootstrap validates</a:t>
            </a:r>
          </a:p>
        </p:txBody>
      </p:sp>
      <p:sp>
        <p:nvSpPr>
          <p:cNvPr id="35" name="TextBox 34"/>
          <p:cNvSpPr txBox="1"/>
          <p:nvPr/>
        </p:nvSpPr>
        <p:spPr>
          <a:xfrm>
            <a:off x="3474720" y="566928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Previous output matches next input before offering template</a:t>
            </a:r>
          </a:p>
        </p:txBody>
      </p:sp>
      <p:sp>
        <p:nvSpPr>
          <p:cNvPr id="36" name="TextBox 35"/>
          <p:cNvSpPr txBox="1"/>
          <p:nvPr/>
        </p:nvSpPr>
        <p:spPr>
          <a:xfrm>
            <a:off x="1005840" y="5989320"/>
            <a:ext cx="274320" cy="274320"/>
          </a:xfrm>
          <a:prstGeom prst="rect">
            <a:avLst/>
          </a:prstGeom>
          <a:noFill/>
        </p:spPr>
        <p:txBody>
          <a:bodyPr wrap="square">
            <a:spAutoFit/>
          </a:bodyPr>
          <a:lstStyle/>
          <a:p>
            <a:pPr algn="l">
              <a:lnSpc>
                <a:spcPts val="1439"/>
              </a:lnSpc>
              <a:spcAft>
                <a:spcPts val="359"/>
              </a:spcAft>
              <a:defRPr sz="1200" b="1">
                <a:solidFill>
                  <a:srgbClr val="F38BA8"/>
                </a:solidFill>
                <a:latin typeface="Segoe UI"/>
              </a:defRPr>
            </a:pPr>
            <a:r>
              <a:t>5.</a:t>
            </a:r>
          </a:p>
        </p:txBody>
      </p:sp>
      <p:sp>
        <p:nvSpPr>
          <p:cNvPr id="37" name="TextBox 36"/>
          <p:cNvSpPr txBox="1"/>
          <p:nvPr/>
        </p:nvSpPr>
        <p:spPr>
          <a:xfrm>
            <a:off x="1280160" y="5989320"/>
            <a:ext cx="2103120" cy="274320"/>
          </a:xfrm>
          <a:prstGeom prst="rect">
            <a:avLst/>
          </a:prstGeom>
          <a:noFill/>
        </p:spPr>
        <p:txBody>
          <a:bodyPr wrap="square">
            <a:spAutoFit/>
          </a:bodyPr>
          <a:lstStyle/>
          <a:p>
            <a:pPr algn="l">
              <a:lnSpc>
                <a:spcPts val="1439"/>
              </a:lnSpc>
              <a:spcAft>
                <a:spcPts val="359"/>
              </a:spcAft>
              <a:defRPr sz="1200" b="0">
                <a:solidFill>
                  <a:srgbClr val="CDD6F4"/>
                </a:solidFill>
                <a:latin typeface="Segoe UI"/>
              </a:defRPr>
            </a:pPr>
            <a:r>
              <a:t>Artifacts flow forward</a:t>
            </a:r>
          </a:p>
        </p:txBody>
      </p:sp>
      <p:sp>
        <p:nvSpPr>
          <p:cNvPr id="38" name="TextBox 37"/>
          <p:cNvSpPr txBox="1"/>
          <p:nvPr/>
        </p:nvSpPr>
        <p:spPr>
          <a:xfrm>
            <a:off x="3474720" y="5989320"/>
            <a:ext cx="7589520" cy="274320"/>
          </a:xfrm>
          <a:prstGeom prst="rect">
            <a:avLst/>
          </a:prstGeom>
          <a:noFill/>
        </p:spPr>
        <p:txBody>
          <a:bodyPr wrap="square">
            <a:spAutoFit/>
          </a:bodyPr>
          <a:lstStyle/>
          <a:p>
            <a:pPr algn="l">
              <a:lnSpc>
                <a:spcPts val="1320"/>
              </a:lnSpc>
              <a:spcAft>
                <a:spcPts val="330"/>
              </a:spcAft>
              <a:defRPr sz="1100" b="0">
                <a:solidFill>
                  <a:srgbClr val="6C7086"/>
                </a:solidFill>
                <a:latin typeface="Cascadia Code"/>
              </a:defRPr>
            </a:pPr>
            <a:r>
              <a:t>Output of stage N becomes input parameter of stage N+1</a:t>
            </a:r>
          </a:p>
        </p:txBody>
      </p:sp>
      <p:sp>
        <p:nvSpPr>
          <p:cNvPr id="39" name="TextBox 38"/>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14 / 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Testing: Reference Comparison Methodology</a:t>
            </a:r>
          </a:p>
        </p:txBody>
      </p:sp>
      <p:sp>
        <p:nvSpPr>
          <p:cNvPr id="4" name="TextBox 3"/>
          <p:cNvSpPr txBox="1"/>
          <p:nvPr/>
        </p:nvSpPr>
        <p:spPr>
          <a:xfrm>
            <a:off x="731520" y="868680"/>
            <a:ext cx="10058400" cy="411480"/>
          </a:xfrm>
          <a:prstGeom prst="rect">
            <a:avLst/>
          </a:prstGeom>
          <a:noFill/>
        </p:spPr>
        <p:txBody>
          <a:bodyPr wrap="square">
            <a:spAutoFit/>
          </a:bodyPr>
          <a:lstStyle/>
          <a:p>
            <a:pPr algn="l">
              <a:lnSpc>
                <a:spcPts val="1920"/>
              </a:lnSpc>
              <a:spcAft>
                <a:spcPts val="480"/>
              </a:spcAft>
              <a:defRPr sz="1600" b="0">
                <a:solidFill>
                  <a:srgbClr val="6C7086"/>
                </a:solidFill>
                <a:latin typeface="Segoe UI"/>
              </a:defRPr>
            </a:pPr>
            <a:r>
              <a:t>How do you test prompts? Compare against known-good references.</a:t>
            </a:r>
          </a:p>
        </p:txBody>
      </p:sp>
      <p:sp>
        <p:nvSpPr>
          <p:cNvPr id="5" name="Rounded Rectangle 4"/>
          <p:cNvSpPr/>
          <p:nvPr/>
        </p:nvSpPr>
        <p:spPr>
          <a:xfrm>
            <a:off x="8380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38047" y="1463040"/>
            <a:ext cx="22860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94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Hand-craft</a:t>
            </a:r>
            <a:br/>
            <a:r>
              <a:t>reference prompt</a:t>
            </a:r>
          </a:p>
        </p:txBody>
      </p:sp>
      <p:sp>
        <p:nvSpPr>
          <p:cNvPr id="8" name="TextBox 7"/>
          <p:cNvSpPr txBox="1"/>
          <p:nvPr/>
        </p:nvSpPr>
        <p:spPr>
          <a:xfrm>
            <a:off x="31971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9" name="Rounded Rectangle 8"/>
          <p:cNvSpPr/>
          <p:nvPr/>
        </p:nvSpPr>
        <p:spPr>
          <a:xfrm>
            <a:off x="35812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81247" y="1463040"/>
            <a:ext cx="22860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726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Generate via</a:t>
            </a:r>
            <a:br/>
            <a:r>
              <a:t>PromptKit</a:t>
            </a:r>
          </a:p>
        </p:txBody>
      </p:sp>
      <p:sp>
        <p:nvSpPr>
          <p:cNvPr id="12" name="TextBox 11"/>
          <p:cNvSpPr txBox="1"/>
          <p:nvPr/>
        </p:nvSpPr>
        <p:spPr>
          <a:xfrm>
            <a:off x="59403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3" name="Rounded Rectangle 12"/>
          <p:cNvSpPr/>
          <p:nvPr/>
        </p:nvSpPr>
        <p:spPr>
          <a:xfrm>
            <a:off x="63244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324447" y="1463040"/>
            <a:ext cx="22860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158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Structured</a:t>
            </a:r>
            <a:br/>
            <a:r>
              <a:t>gap analysis</a:t>
            </a:r>
          </a:p>
        </p:txBody>
      </p:sp>
      <p:sp>
        <p:nvSpPr>
          <p:cNvPr id="16" name="TextBox 15"/>
          <p:cNvSpPr txBox="1"/>
          <p:nvPr/>
        </p:nvSpPr>
        <p:spPr>
          <a:xfrm>
            <a:off x="8683599" y="1737360"/>
            <a:ext cx="365760" cy="365760"/>
          </a:xfrm>
          <a:prstGeom prst="rect">
            <a:avLst/>
          </a:prstGeom>
          <a:noFill/>
        </p:spPr>
        <p:txBody>
          <a:bodyPr wrap="square">
            <a:spAutoFit/>
          </a:bodyPr>
          <a:lstStyle/>
          <a:p>
            <a:pPr algn="ctr">
              <a:lnSpc>
                <a:spcPts val="2879"/>
              </a:lnSpc>
              <a:spcAft>
                <a:spcPts val="719"/>
              </a:spcAft>
              <a:defRPr sz="2400" b="0">
                <a:solidFill>
                  <a:srgbClr val="6C7086"/>
                </a:solidFill>
                <a:latin typeface="Segoe UI"/>
              </a:defRPr>
            </a:pPr>
            <a:r>
              <a:t>→</a:t>
            </a:r>
          </a:p>
        </p:txBody>
      </p:sp>
      <p:sp>
        <p:nvSpPr>
          <p:cNvPr id="17" name="Rounded Rectangle 16"/>
          <p:cNvSpPr/>
          <p:nvPr/>
        </p:nvSpPr>
        <p:spPr>
          <a:xfrm>
            <a:off x="9067647" y="1463040"/>
            <a:ext cx="2286000" cy="100584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67647" y="1463040"/>
            <a:ext cx="22860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59087" y="1600200"/>
            <a:ext cx="2103120" cy="731520"/>
          </a:xfrm>
          <a:prstGeom prst="rect">
            <a:avLst/>
          </a:prstGeom>
          <a:noFill/>
        </p:spPr>
        <p:txBody>
          <a:bodyPr wrap="square">
            <a:spAutoFit/>
          </a:bodyPr>
          <a:lstStyle/>
          <a:p>
            <a:pPr algn="ctr">
              <a:lnSpc>
                <a:spcPts val="1680"/>
              </a:lnSpc>
              <a:spcAft>
                <a:spcPts val="420"/>
              </a:spcAft>
              <a:defRPr sz="1400" b="1">
                <a:solidFill>
                  <a:srgbClr val="CDD6F4"/>
                </a:solidFill>
                <a:latin typeface="Segoe UI"/>
              </a:defRPr>
            </a:pPr>
            <a:r>
              <a:t>Feed gaps back</a:t>
            </a:r>
            <a:br/>
            <a:r>
              <a:t>as improvements</a:t>
            </a:r>
          </a:p>
        </p:txBody>
      </p:sp>
      <p:sp>
        <p:nvSpPr>
          <p:cNvPr id="20" name="TextBox 19"/>
          <p:cNvSpPr txBox="1"/>
          <p:nvPr/>
        </p:nvSpPr>
        <p:spPr>
          <a:xfrm>
            <a:off x="731520" y="2834640"/>
            <a:ext cx="100584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5 Gap Analysis Dimensions</a:t>
            </a:r>
          </a:p>
        </p:txBody>
      </p:sp>
      <p:sp>
        <p:nvSpPr>
          <p:cNvPr id="21" name="Rounded Rectangle 20"/>
          <p:cNvSpPr/>
          <p:nvPr/>
        </p:nvSpPr>
        <p:spPr>
          <a:xfrm>
            <a:off x="58658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586587" y="3291840"/>
            <a:ext cx="2057400" cy="4572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8027" y="3429000"/>
            <a:ext cx="1874520" cy="502920"/>
          </a:xfrm>
          <a:prstGeom prst="rect">
            <a:avLst/>
          </a:prstGeom>
          <a:noFill/>
        </p:spPr>
        <p:txBody>
          <a:bodyPr wrap="square">
            <a:spAutoFit/>
          </a:bodyPr>
          <a:lstStyle/>
          <a:p>
            <a:pPr algn="ctr">
              <a:lnSpc>
                <a:spcPts val="1560"/>
              </a:lnSpc>
              <a:spcAft>
                <a:spcPts val="390"/>
              </a:spcAft>
              <a:defRPr sz="1300" b="1">
                <a:solidFill>
                  <a:srgbClr val="89B4FA"/>
                </a:solidFill>
                <a:latin typeface="Segoe UI"/>
              </a:defRPr>
            </a:pPr>
            <a:r>
              <a:t>Task Framing</a:t>
            </a:r>
          </a:p>
        </p:txBody>
      </p:sp>
      <p:sp>
        <p:nvSpPr>
          <p:cNvPr id="24" name="TextBox 23"/>
          <p:cNvSpPr txBox="1"/>
          <p:nvPr/>
        </p:nvSpPr>
        <p:spPr>
          <a:xfrm>
            <a:off x="67802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Goal statement, success criteria,</a:t>
            </a:r>
            <a:br/>
            <a:r>
              <a:t>non-goals, context definition</a:t>
            </a:r>
          </a:p>
        </p:txBody>
      </p:sp>
      <p:sp>
        <p:nvSpPr>
          <p:cNvPr id="25" name="TextBox 24"/>
          <p:cNvSpPr txBox="1"/>
          <p:nvPr/>
        </p:nvSpPr>
        <p:spPr>
          <a:xfrm>
            <a:off x="67802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objective clearly stated?</a:t>
            </a:r>
            <a:br/>
            <a:r>
              <a:t>Is scope explicitly bounded?</a:t>
            </a:r>
          </a:p>
        </p:txBody>
      </p:sp>
      <p:sp>
        <p:nvSpPr>
          <p:cNvPr id="26" name="Rounded Rectangle 25"/>
          <p:cNvSpPr/>
          <p:nvPr/>
        </p:nvSpPr>
        <p:spPr>
          <a:xfrm>
            <a:off x="282686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2826867" y="3291840"/>
            <a:ext cx="2057400" cy="4572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918307" y="3429000"/>
            <a:ext cx="1874520" cy="502920"/>
          </a:xfrm>
          <a:prstGeom prst="rect">
            <a:avLst/>
          </a:prstGeom>
          <a:noFill/>
        </p:spPr>
        <p:txBody>
          <a:bodyPr wrap="square">
            <a:spAutoFit/>
          </a:bodyPr>
          <a:lstStyle/>
          <a:p>
            <a:pPr algn="ctr">
              <a:lnSpc>
                <a:spcPts val="1560"/>
              </a:lnSpc>
              <a:spcAft>
                <a:spcPts val="390"/>
              </a:spcAft>
              <a:defRPr sz="1300" b="1">
                <a:solidFill>
                  <a:srgbClr val="A6E3A1"/>
                </a:solidFill>
                <a:latin typeface="Segoe UI"/>
              </a:defRPr>
            </a:pPr>
            <a:r>
              <a:t>Reasoning</a:t>
            </a:r>
            <a:br/>
            <a:r>
              <a:t>Methodology</a:t>
            </a:r>
          </a:p>
        </p:txBody>
      </p:sp>
      <p:sp>
        <p:nvSpPr>
          <p:cNvPr id="29" name="TextBox 28"/>
          <p:cNvSpPr txBox="1"/>
          <p:nvPr/>
        </p:nvSpPr>
        <p:spPr>
          <a:xfrm>
            <a:off x="291830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Systematic analysis, hypothesis</a:t>
            </a:r>
            <a:br/>
            <a:r>
              <a:t>generation, evidence requirements</a:t>
            </a:r>
          </a:p>
        </p:txBody>
      </p:sp>
      <p:sp>
        <p:nvSpPr>
          <p:cNvPr id="30" name="TextBox 29"/>
          <p:cNvSpPr txBox="1"/>
          <p:nvPr/>
        </p:nvSpPr>
        <p:spPr>
          <a:xfrm>
            <a:off x="291830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anti-hallucination present?</a:t>
            </a:r>
            <a:br/>
            <a:r>
              <a:t>Are multiple hypotheses required?</a:t>
            </a:r>
          </a:p>
        </p:txBody>
      </p:sp>
      <p:sp>
        <p:nvSpPr>
          <p:cNvPr id="31" name="Rounded Rectangle 30"/>
          <p:cNvSpPr/>
          <p:nvPr/>
        </p:nvSpPr>
        <p:spPr>
          <a:xfrm>
            <a:off x="506714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5067147" y="3291840"/>
            <a:ext cx="2057400" cy="4572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158587" y="3429000"/>
            <a:ext cx="1874520" cy="502920"/>
          </a:xfrm>
          <a:prstGeom prst="rect">
            <a:avLst/>
          </a:prstGeom>
          <a:noFill/>
        </p:spPr>
        <p:txBody>
          <a:bodyPr wrap="square">
            <a:spAutoFit/>
          </a:bodyPr>
          <a:lstStyle/>
          <a:p>
            <a:pPr algn="ctr">
              <a:lnSpc>
                <a:spcPts val="1560"/>
              </a:lnSpc>
              <a:spcAft>
                <a:spcPts val="390"/>
              </a:spcAft>
              <a:defRPr sz="1300" b="1">
                <a:solidFill>
                  <a:srgbClr val="F9E2AF"/>
                </a:solidFill>
                <a:latin typeface="Segoe UI"/>
              </a:defRPr>
            </a:pPr>
            <a:r>
              <a:t>Output</a:t>
            </a:r>
            <a:br/>
            <a:r>
              <a:t>Specification</a:t>
            </a:r>
          </a:p>
        </p:txBody>
      </p:sp>
      <p:sp>
        <p:nvSpPr>
          <p:cNvPr id="34" name="TextBox 33"/>
          <p:cNvSpPr txBox="1"/>
          <p:nvPr/>
        </p:nvSpPr>
        <p:spPr>
          <a:xfrm>
            <a:off x="515858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Format structure, artifacts,</a:t>
            </a:r>
            <a:br/>
            <a:r>
              <a:t>taxonomy, severity ranking</a:t>
            </a:r>
          </a:p>
        </p:txBody>
      </p:sp>
      <p:sp>
        <p:nvSpPr>
          <p:cNvPr id="35" name="TextBox 34"/>
          <p:cNvSpPr txBox="1"/>
          <p:nvPr/>
        </p:nvSpPr>
        <p:spPr>
          <a:xfrm>
            <a:off x="515858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Is the deliverable structure defined?</a:t>
            </a:r>
            <a:br/>
            <a:r>
              <a:t>Are classification schemes provided?</a:t>
            </a:r>
          </a:p>
        </p:txBody>
      </p:sp>
      <p:sp>
        <p:nvSpPr>
          <p:cNvPr id="36" name="Rounded Rectangle 35"/>
          <p:cNvSpPr/>
          <p:nvPr/>
        </p:nvSpPr>
        <p:spPr>
          <a:xfrm>
            <a:off x="730742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7307427" y="3291840"/>
            <a:ext cx="2057400" cy="4572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398867" y="3429000"/>
            <a:ext cx="1874520" cy="502920"/>
          </a:xfrm>
          <a:prstGeom prst="rect">
            <a:avLst/>
          </a:prstGeom>
          <a:noFill/>
        </p:spPr>
        <p:txBody>
          <a:bodyPr wrap="square">
            <a:spAutoFit/>
          </a:bodyPr>
          <a:lstStyle/>
          <a:p>
            <a:pPr algn="ctr">
              <a:lnSpc>
                <a:spcPts val="1560"/>
              </a:lnSpc>
              <a:spcAft>
                <a:spcPts val="390"/>
              </a:spcAft>
              <a:defRPr sz="1300" b="1">
                <a:solidFill>
                  <a:srgbClr val="FAB387"/>
                </a:solidFill>
                <a:latin typeface="Segoe UI"/>
              </a:defRPr>
            </a:pPr>
            <a:r>
              <a:t>Operational</a:t>
            </a:r>
            <a:br/>
            <a:r>
              <a:t>Guidance</a:t>
            </a:r>
          </a:p>
        </p:txBody>
      </p:sp>
      <p:sp>
        <p:nvSpPr>
          <p:cNvPr id="39" name="TextBox 38"/>
          <p:cNvSpPr txBox="1"/>
          <p:nvPr/>
        </p:nvSpPr>
        <p:spPr>
          <a:xfrm>
            <a:off x="739886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Scoping strategy, tool usage,</a:t>
            </a:r>
            <a:br/>
            <a:r>
              <a:t>step-by-step plan</a:t>
            </a:r>
          </a:p>
        </p:txBody>
      </p:sp>
      <p:sp>
        <p:nvSpPr>
          <p:cNvPr id="40" name="TextBox 39"/>
          <p:cNvSpPr txBox="1"/>
          <p:nvPr/>
        </p:nvSpPr>
        <p:spPr>
          <a:xfrm>
            <a:off x="739886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Does it guide how to scope work?</a:t>
            </a:r>
            <a:br/>
            <a:r>
              <a:t>Is a procedural plan provided?</a:t>
            </a:r>
          </a:p>
        </p:txBody>
      </p:sp>
      <p:sp>
        <p:nvSpPr>
          <p:cNvPr id="41" name="Rounded Rectangle 40"/>
          <p:cNvSpPr/>
          <p:nvPr/>
        </p:nvSpPr>
        <p:spPr>
          <a:xfrm>
            <a:off x="9547707" y="3291840"/>
            <a:ext cx="2057400" cy="3200400"/>
          </a:xfrm>
          <a:prstGeom prst="roundRect">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9547707" y="3291840"/>
            <a:ext cx="2057400" cy="45720"/>
          </a:xfrm>
          <a:prstGeom prst="rect">
            <a:avLst/>
          </a:prstGeom>
          <a:solidFill>
            <a:srgbClr val="F38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639147" y="3429000"/>
            <a:ext cx="1874520" cy="502920"/>
          </a:xfrm>
          <a:prstGeom prst="rect">
            <a:avLst/>
          </a:prstGeom>
          <a:noFill/>
        </p:spPr>
        <p:txBody>
          <a:bodyPr wrap="square">
            <a:spAutoFit/>
          </a:bodyPr>
          <a:lstStyle/>
          <a:p>
            <a:pPr algn="ctr">
              <a:lnSpc>
                <a:spcPts val="1560"/>
              </a:lnSpc>
              <a:spcAft>
                <a:spcPts val="390"/>
              </a:spcAft>
              <a:defRPr sz="1300" b="1">
                <a:solidFill>
                  <a:srgbClr val="F38BA8"/>
                </a:solidFill>
                <a:latin typeface="Segoe UI"/>
              </a:defRPr>
            </a:pPr>
            <a:r>
              <a:t>Quality</a:t>
            </a:r>
            <a:br/>
            <a:r>
              <a:t>Assurance</a:t>
            </a:r>
          </a:p>
        </p:txBody>
      </p:sp>
      <p:sp>
        <p:nvSpPr>
          <p:cNvPr id="44" name="TextBox 43"/>
          <p:cNvSpPr txBox="1"/>
          <p:nvPr/>
        </p:nvSpPr>
        <p:spPr>
          <a:xfrm>
            <a:off x="9639147" y="4023360"/>
            <a:ext cx="1874520" cy="914400"/>
          </a:xfrm>
          <a:prstGeom prst="rect">
            <a:avLst/>
          </a:prstGeom>
          <a:noFill/>
        </p:spPr>
        <p:txBody>
          <a:bodyPr wrap="square">
            <a:spAutoFit/>
          </a:bodyPr>
          <a:lstStyle/>
          <a:p>
            <a:pPr algn="ctr">
              <a:lnSpc>
                <a:spcPts val="1300"/>
              </a:lnSpc>
              <a:spcAft>
                <a:spcPts val="300"/>
              </a:spcAft>
              <a:defRPr sz="1000" b="0">
                <a:solidFill>
                  <a:srgbClr val="CDD6F4"/>
                </a:solidFill>
                <a:latin typeface="Segoe UI"/>
              </a:defRPr>
            </a:pPr>
            <a:r>
              <a:t>Self-verification, sampling,</a:t>
            </a:r>
            <a:br/>
            <a:r>
              <a:t>coverage, consistency</a:t>
            </a:r>
          </a:p>
        </p:txBody>
      </p:sp>
      <p:sp>
        <p:nvSpPr>
          <p:cNvPr id="45" name="TextBox 44"/>
          <p:cNvSpPr txBox="1"/>
          <p:nvPr/>
        </p:nvSpPr>
        <p:spPr>
          <a:xfrm>
            <a:off x="9639147" y="5029200"/>
            <a:ext cx="1874520" cy="1097280"/>
          </a:xfrm>
          <a:prstGeom prst="rect">
            <a:avLst/>
          </a:prstGeom>
          <a:noFill/>
        </p:spPr>
        <p:txBody>
          <a:bodyPr wrap="square">
            <a:spAutoFit/>
          </a:bodyPr>
          <a:lstStyle/>
          <a:p>
            <a:pPr algn="ctr">
              <a:lnSpc>
                <a:spcPts val="1170"/>
              </a:lnSpc>
              <a:spcAft>
                <a:spcPts val="270"/>
              </a:spcAft>
              <a:defRPr sz="900" b="0">
                <a:solidFill>
                  <a:srgbClr val="6C7086"/>
                </a:solidFill>
                <a:latin typeface="Segoe UI"/>
              </a:defRPr>
            </a:pPr>
            <a:r>
              <a:t>Must LLM verify its output?</a:t>
            </a:r>
            <a:br/>
            <a:r>
              <a:t>Must it document what it examined?</a:t>
            </a:r>
          </a:p>
        </p:txBody>
      </p:sp>
      <p:sp>
        <p:nvSpPr>
          <p:cNvPr id="46" name="TextBox 45"/>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15 / 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E1E2E"/>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20040"/>
            <a:ext cx="10058400" cy="594360"/>
          </a:xfrm>
          <a:prstGeom prst="rect">
            <a:avLst/>
          </a:prstGeom>
          <a:noFill/>
        </p:spPr>
        <p:txBody>
          <a:bodyPr wrap="square">
            <a:spAutoFit/>
          </a:bodyPr>
          <a:lstStyle/>
          <a:p>
            <a:pPr algn="l">
              <a:lnSpc>
                <a:spcPts val="3840"/>
              </a:lnSpc>
              <a:spcAft>
                <a:spcPts val="960"/>
              </a:spcAft>
              <a:defRPr sz="3200" b="1">
                <a:solidFill>
                  <a:srgbClr val="CDD6F4"/>
                </a:solidFill>
                <a:latin typeface="Segoe UI"/>
              </a:defRPr>
            </a:pPr>
            <a:r>
              <a:t>Get Started Today</a:t>
            </a:r>
          </a:p>
        </p:txBody>
      </p:sp>
      <p:sp>
        <p:nvSpPr>
          <p:cNvPr id="4" name="Rectangle 3"/>
          <p:cNvSpPr/>
          <p:nvPr/>
        </p:nvSpPr>
        <p:spPr>
          <a:xfrm>
            <a:off x="822960" y="1417320"/>
            <a:ext cx="54864" cy="822960"/>
          </a:xfrm>
          <a:prstGeom prst="rect">
            <a:avLst/>
          </a:prstGeom>
          <a:solidFill>
            <a:srgbClr val="89B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399032"/>
            <a:ext cx="3657600" cy="320040"/>
          </a:xfrm>
          <a:prstGeom prst="rect">
            <a:avLst/>
          </a:prstGeom>
          <a:noFill/>
        </p:spPr>
        <p:txBody>
          <a:bodyPr wrap="square">
            <a:spAutoFit/>
          </a:bodyPr>
          <a:lstStyle/>
          <a:p>
            <a:pPr algn="l">
              <a:lnSpc>
                <a:spcPts val="2400"/>
              </a:lnSpc>
              <a:spcAft>
                <a:spcPts val="600"/>
              </a:spcAft>
              <a:defRPr sz="2000" b="1">
                <a:solidFill>
                  <a:srgbClr val="89B4FA"/>
                </a:solidFill>
                <a:latin typeface="Segoe UI"/>
              </a:defRPr>
            </a:pPr>
            <a:r>
              <a:t>Try it now</a:t>
            </a:r>
          </a:p>
        </p:txBody>
      </p:sp>
      <p:sp>
        <p:nvSpPr>
          <p:cNvPr id="6" name="TextBox 5"/>
          <p:cNvSpPr txBox="1"/>
          <p:nvPr/>
        </p:nvSpPr>
        <p:spPr>
          <a:xfrm>
            <a:off x="1097280" y="173736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npx @alan-jowett/promptkit</a:t>
            </a:r>
          </a:p>
        </p:txBody>
      </p:sp>
      <p:sp>
        <p:nvSpPr>
          <p:cNvPr id="7" name="TextBox 6"/>
          <p:cNvSpPr txBox="1"/>
          <p:nvPr/>
        </p:nvSpPr>
        <p:spPr>
          <a:xfrm>
            <a:off x="6400800" y="146304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Zero install — walks you through template</a:t>
            </a:r>
            <a:br/>
            <a:r>
              <a:t>selection and prompt assembly.</a:t>
            </a:r>
          </a:p>
        </p:txBody>
      </p:sp>
      <p:sp>
        <p:nvSpPr>
          <p:cNvPr id="8" name="Rectangle 7"/>
          <p:cNvSpPr/>
          <p:nvPr/>
        </p:nvSpPr>
        <p:spPr>
          <a:xfrm>
            <a:off x="822960" y="2651760"/>
            <a:ext cx="54864" cy="822960"/>
          </a:xfrm>
          <a:prstGeom prst="rect">
            <a:avLst/>
          </a:prstGeom>
          <a:solidFill>
            <a:srgbClr val="A6E3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2633472"/>
            <a:ext cx="3657600" cy="320040"/>
          </a:xfrm>
          <a:prstGeom prst="rect">
            <a:avLst/>
          </a:prstGeom>
          <a:noFill/>
        </p:spPr>
        <p:txBody>
          <a:bodyPr wrap="square">
            <a:spAutoFit/>
          </a:bodyPr>
          <a:lstStyle/>
          <a:p>
            <a:pPr algn="l">
              <a:lnSpc>
                <a:spcPts val="2400"/>
              </a:lnSpc>
              <a:spcAft>
                <a:spcPts val="600"/>
              </a:spcAft>
              <a:defRPr sz="2000" b="1">
                <a:solidFill>
                  <a:srgbClr val="A6E3A1"/>
                </a:solidFill>
                <a:latin typeface="Segoe UI"/>
              </a:defRPr>
            </a:pPr>
            <a:r>
              <a:t>Browse the repo</a:t>
            </a:r>
          </a:p>
        </p:txBody>
      </p:sp>
      <p:sp>
        <p:nvSpPr>
          <p:cNvPr id="10" name="TextBox 9"/>
          <p:cNvSpPr txBox="1"/>
          <p:nvPr/>
        </p:nvSpPr>
        <p:spPr>
          <a:xfrm>
            <a:off x="1097280" y="297180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github.com/microsoft/promptkit</a:t>
            </a:r>
          </a:p>
        </p:txBody>
      </p:sp>
      <p:sp>
        <p:nvSpPr>
          <p:cNvPr id="11" name="TextBox 10"/>
          <p:cNvSpPr txBox="1"/>
          <p:nvPr/>
        </p:nvSpPr>
        <p:spPr>
          <a:xfrm>
            <a:off x="6400800" y="269748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Read the templates, protocols, personas.</a:t>
            </a:r>
            <a:br/>
            <a:r>
              <a:t>Understand the composition model.</a:t>
            </a:r>
          </a:p>
        </p:txBody>
      </p:sp>
      <p:sp>
        <p:nvSpPr>
          <p:cNvPr id="12" name="Rectangle 11"/>
          <p:cNvSpPr/>
          <p:nvPr/>
        </p:nvSpPr>
        <p:spPr>
          <a:xfrm>
            <a:off x="822960" y="3886200"/>
            <a:ext cx="54864" cy="822960"/>
          </a:xfrm>
          <a:prstGeom prst="rect">
            <a:avLst/>
          </a:prstGeom>
          <a:solidFill>
            <a:srgbClr val="F9E2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3867912"/>
            <a:ext cx="3657600" cy="320040"/>
          </a:xfrm>
          <a:prstGeom prst="rect">
            <a:avLst/>
          </a:prstGeom>
          <a:noFill/>
        </p:spPr>
        <p:txBody>
          <a:bodyPr wrap="square">
            <a:spAutoFit/>
          </a:bodyPr>
          <a:lstStyle/>
          <a:p>
            <a:pPr algn="l">
              <a:lnSpc>
                <a:spcPts val="2400"/>
              </a:lnSpc>
              <a:spcAft>
                <a:spcPts val="600"/>
              </a:spcAft>
              <a:defRPr sz="2000" b="1">
                <a:solidFill>
                  <a:srgbClr val="F9E2AF"/>
                </a:solidFill>
                <a:latin typeface="Segoe UI"/>
              </a:defRPr>
            </a:pPr>
            <a:r>
              <a:t>Contribute</a:t>
            </a:r>
          </a:p>
        </p:txBody>
      </p:sp>
      <p:sp>
        <p:nvSpPr>
          <p:cNvPr id="14" name="TextBox 13"/>
          <p:cNvSpPr txBox="1"/>
          <p:nvPr/>
        </p:nvSpPr>
        <p:spPr>
          <a:xfrm>
            <a:off x="1097280" y="420624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Use the extend-library template</a:t>
            </a:r>
          </a:p>
        </p:txBody>
      </p:sp>
      <p:sp>
        <p:nvSpPr>
          <p:cNvPr id="15" name="TextBox 14"/>
          <p:cNvSpPr txBox="1"/>
          <p:nvPr/>
        </p:nvSpPr>
        <p:spPr>
          <a:xfrm>
            <a:off x="6400800" y="393192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PromptKit eats its own dog food — the</a:t>
            </a:r>
            <a:br/>
            <a:r>
              <a:t>contribution workflow is a PromptKit template.</a:t>
            </a:r>
          </a:p>
        </p:txBody>
      </p:sp>
      <p:sp>
        <p:nvSpPr>
          <p:cNvPr id="16" name="Rectangle 15"/>
          <p:cNvSpPr/>
          <p:nvPr/>
        </p:nvSpPr>
        <p:spPr>
          <a:xfrm>
            <a:off x="822960" y="5120640"/>
            <a:ext cx="54864" cy="822960"/>
          </a:xfrm>
          <a:prstGeom prst="rect">
            <a:avLst/>
          </a:prstGeom>
          <a:solidFill>
            <a:srgbClr val="FAB3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97280" y="5102352"/>
            <a:ext cx="3657600" cy="320040"/>
          </a:xfrm>
          <a:prstGeom prst="rect">
            <a:avLst/>
          </a:prstGeom>
          <a:noFill/>
        </p:spPr>
        <p:txBody>
          <a:bodyPr wrap="square">
            <a:spAutoFit/>
          </a:bodyPr>
          <a:lstStyle/>
          <a:p>
            <a:pPr algn="l">
              <a:lnSpc>
                <a:spcPts val="2400"/>
              </a:lnSpc>
              <a:spcAft>
                <a:spcPts val="600"/>
              </a:spcAft>
              <a:defRPr sz="2000" b="1">
                <a:solidFill>
                  <a:srgbClr val="FAB387"/>
                </a:solidFill>
                <a:latin typeface="Segoe UI"/>
              </a:defRPr>
            </a:pPr>
            <a:r>
              <a:t>Share feedback</a:t>
            </a:r>
          </a:p>
        </p:txBody>
      </p:sp>
      <p:sp>
        <p:nvSpPr>
          <p:cNvPr id="18" name="TextBox 17"/>
          <p:cNvSpPr txBox="1"/>
          <p:nvPr/>
        </p:nvSpPr>
        <p:spPr>
          <a:xfrm>
            <a:off x="1097280" y="5440680"/>
            <a:ext cx="4572000" cy="320040"/>
          </a:xfrm>
          <a:prstGeom prst="rect">
            <a:avLst/>
          </a:prstGeom>
          <a:noFill/>
        </p:spPr>
        <p:txBody>
          <a:bodyPr wrap="square">
            <a:spAutoFit/>
          </a:bodyPr>
          <a:lstStyle/>
          <a:p>
            <a:pPr algn="l">
              <a:lnSpc>
                <a:spcPts val="1680"/>
              </a:lnSpc>
              <a:spcAft>
                <a:spcPts val="420"/>
              </a:spcAft>
              <a:defRPr sz="1400" b="0">
                <a:solidFill>
                  <a:srgbClr val="CDD6F4"/>
                </a:solidFill>
                <a:latin typeface="Cascadia Code"/>
              </a:defRPr>
            </a:pPr>
            <a:r>
              <a:t>File issues or start discussions</a:t>
            </a:r>
          </a:p>
        </p:txBody>
      </p:sp>
      <p:sp>
        <p:nvSpPr>
          <p:cNvPr id="19" name="TextBox 18"/>
          <p:cNvSpPr txBox="1"/>
          <p:nvPr/>
        </p:nvSpPr>
        <p:spPr>
          <a:xfrm>
            <a:off x="6400800" y="5166360"/>
            <a:ext cx="5029200" cy="731520"/>
          </a:xfrm>
          <a:prstGeom prst="rect">
            <a:avLst/>
          </a:prstGeom>
          <a:noFill/>
        </p:spPr>
        <p:txBody>
          <a:bodyPr wrap="square">
            <a:spAutoFit/>
          </a:bodyPr>
          <a:lstStyle/>
          <a:p>
            <a:pPr algn="l">
              <a:lnSpc>
                <a:spcPts val="1560"/>
              </a:lnSpc>
              <a:spcAft>
                <a:spcPts val="390"/>
              </a:spcAft>
              <a:defRPr sz="1300" b="0">
                <a:solidFill>
                  <a:srgbClr val="6C7086"/>
                </a:solidFill>
                <a:latin typeface="Segoe UI"/>
              </a:defRPr>
            </a:pPr>
            <a:r>
              <a:t>What templates are missing? What workflows</a:t>
            </a:r>
            <a:br/>
            <a:r>
              <a:t>do you wish PromptKit supported?</a:t>
            </a:r>
          </a:p>
        </p:txBody>
      </p:sp>
      <p:sp>
        <p:nvSpPr>
          <p:cNvPr id="20" name="TextBox 19"/>
          <p:cNvSpPr txBox="1"/>
          <p:nvPr/>
        </p:nvSpPr>
        <p:spPr>
          <a:xfrm>
            <a:off x="11155680" y="6492240"/>
            <a:ext cx="914400" cy="274320"/>
          </a:xfrm>
          <a:prstGeom prst="rect">
            <a:avLst/>
          </a:prstGeom>
          <a:noFill/>
        </p:spPr>
        <p:txBody>
          <a:bodyPr wrap="square">
            <a:spAutoFit/>
          </a:bodyPr>
          <a:lstStyle/>
          <a:p>
            <a:pPr algn="r">
              <a:lnSpc>
                <a:spcPts val="1200"/>
              </a:lnSpc>
              <a:spcAft>
                <a:spcPts val="300"/>
              </a:spcAft>
              <a:defRPr sz="1000" b="0">
                <a:solidFill>
                  <a:srgbClr val="6C7086"/>
                </a:solidFill>
                <a:latin typeface="Segoe UI"/>
              </a:defRPr>
            </a:pPr>
            <a:r>
              <a:t>16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2</TotalTime>
  <Words>2842</Words>
  <Application>Microsoft Office PowerPoint</Application>
  <PresentationFormat>Widescreen</PresentationFormat>
  <Paragraphs>354</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Alan Jowett</cp:lastModifiedBy>
  <cp:revision>2</cp:revision>
  <dcterms:created xsi:type="dcterms:W3CDTF">2013-01-27T09:14:16Z</dcterms:created>
  <dcterms:modified xsi:type="dcterms:W3CDTF">2026-03-19T20:29:24Z</dcterms:modified>
  <cp:category/>
</cp:coreProperties>
</file>