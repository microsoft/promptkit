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This is the deep-dive version covering architecture, component internals, assembly engine, testing methodology, and pipeline chaining.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pain point. The core insight: prompts are the primary interface to AI tools, but we treat them as throwaway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engineering principles. Modularity = compose layers. Version control = full Git history. Testable = reference comparison methodology. Extensible = anyone can contribute new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composition stack. Each layer constrains the next. Templates declare their dependencies in YAML frontmatter — persona, protocols, format. The narrowing visual shows how the stack funnels into a specific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Personas define identity, domain expertise, tone, and behavioral constraints. The YAML frontmatter is machine-readable; the markdown body contains the actual prompt content. Key: behavioral constraints reinforce the protocols.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protocol categories with different scoping rules. Guardrails are cross-cutting (apply to every task). Analysis protocols are language/domain-specific. Reasoning protocols define systematic methodologies — 13 total including audit, extraction, and orchestration protocols. Separate files, not conditional blocks.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into the anti-hallucination protocol. This is the single most impactful guardrail. Epistemic labeling forces the LLM to be honest about what it knows vs infers vs assumes. The 30% threshold prevents assumption-heavy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RCA protocol enforces systematic debugging. The ≥3 hypothesis rule prevents anchoring bias. The root vs proximate distinction is critical — most quick fixes only address the proximate cause and leave the root cause to produce more bugs.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of all 11 output formats. Each format defines the structure of the deliverable — section ordering, required content, naming conventions. The 'produces' field enables pipeline chaining between templates.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into the investigation-report format. The 9-section structure ensures consistency across all bug investigations and security audits. Key: findings use F-NNN IDs, severity ordering, and the root cause section must trace the full causal chain — not just the proximate symptom.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frontmatter is the composition declaration. The key insight: protocols use category/name paths (guardrails/anti-hallucination) while the manifest uses short names (anti-hallucination). CI validates they stay in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manifest is the component registry. Critical detail: protocols have a naming duality — templates use category/name paths, manifest uses short names. CI (validate-manifest.py) enforces sync. This is the only automated check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bootstrap flow is the core UX. bootstrap.md is itself a meta-prompt — it instructs the LLM how to use PromptKit. Two modes: single-shot writes a file you paste elsewhere; interactive executes the prompt live in the current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assembly engine is deliberately simple. It reads the manifest to resolve component paths, loads each .md file, strips YAML frontmatter and SPDX headers, wraps in section headers, joins with horizontal rules, and substitutes parameters. No template language, no recursion, no magic — just concatenation in a specific order.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chaining is the power feature. Templates declare input_contract and output_contract with artifact types. The manifest defines pipeline stages. The bootstrap engine validates contracts before offering the next template. This replaces ad-hoc copy-paste between tools with a structured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prompts is hard because output is non-deterministic. The reference comparison methodology sidesteps this: compare prompt structure, not LLM output. Each dimension gets ✅ Covered / ⚠️ Partial / ❌ Missing classification. Gaps feed back into the library as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to action. The barrier to entry is one npx command. The extend-library template is meta: you use PromptKit to contribute to PromptKit.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AI-assisted software engineering</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github.com/microsoft/promptkit  ·  MIT License  ·  v0.2.0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Deep Dive  ·  Architecture &amp; Internals</a:t>
            </a:r>
          </a:p>
        </p:txBody>
      </p:sp>
      <p:sp>
        <p:nvSpPr>
          <p:cNvPr id="8" name="TextBox 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 with Ad-Hoc Prompts</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Written once, pasted everywhere</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iteration, no improvement loop, no review process</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diff, blame, or revert prompt changes</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persona, guardrails, output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quality or catch regressions</a:t>
            </a:r>
          </a:p>
        </p:txBody>
      </p:sp>
      <p:sp>
        <p:nvSpPr>
          <p:cNvPr id="16" name="Rectangle 15"/>
          <p:cNvSpPr/>
          <p:nvPr/>
        </p:nvSpPr>
        <p:spPr>
          <a:xfrm>
            <a:off x="822960" y="5166360"/>
            <a:ext cx="54864" cy="5486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0907" y="182880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3787" y="2103120"/>
            <a:ext cx="2011680" cy="45720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4378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558387" y="182880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1267" y="2103120"/>
            <a:ext cx="2011680" cy="45720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a:t>
            </a:r>
            <a:br/>
            <a:r>
              <a:t>Controlled</a:t>
            </a:r>
          </a:p>
        </p:txBody>
      </p:sp>
      <p:sp>
        <p:nvSpPr>
          <p:cNvPr id="11" name="TextBox 10"/>
          <p:cNvSpPr txBox="1"/>
          <p:nvPr/>
        </p:nvSpPr>
        <p:spPr>
          <a:xfrm>
            <a:off x="374126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in Git</a:t>
            </a:r>
            <a:br/>
            <a:r>
              <a:t>like any code</a:t>
            </a:r>
          </a:p>
        </p:txBody>
      </p:sp>
      <p:sp>
        <p:nvSpPr>
          <p:cNvPr id="12" name="Rounded Rectangle 11"/>
          <p:cNvSpPr/>
          <p:nvPr/>
        </p:nvSpPr>
        <p:spPr>
          <a:xfrm>
            <a:off x="625586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55867" y="182880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8747" y="2103120"/>
            <a:ext cx="2011680" cy="45720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3874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53347" y="182880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6227" y="2103120"/>
            <a:ext cx="2011680" cy="45720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3622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a:t>
            </a:r>
            <a:br/>
            <a:r>
              <a:t>components via PR</a:t>
            </a:r>
          </a:p>
        </p:txBody>
      </p:sp>
      <p:sp>
        <p:nvSpPr>
          <p:cNvPr id="20" name="TextBox 19"/>
          <p:cNvSpPr txBox="1"/>
          <p:nvPr/>
        </p:nvSpPr>
        <p:spPr>
          <a:xfrm>
            <a:off x="1371600" y="475488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
        <p:nvSpPr>
          <p:cNvPr id="21" name="TextBox 20"/>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investigation-report, design-doc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the bootstrap engine snaps them together</a:t>
            </a:r>
          </a:p>
        </p:txBody>
      </p:sp>
      <p:sp>
        <p:nvSpPr>
          <p:cNvPr id="30" name="TextBox 2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Personas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① — Who the LLM becomes</a:t>
            </a:r>
          </a:p>
        </p:txBody>
      </p:sp>
      <p:sp>
        <p:nvSpPr>
          <p:cNvPr id="5" name="Rounded Rectangle 4"/>
          <p:cNvSpPr/>
          <p:nvPr/>
        </p:nvSpPr>
        <p:spPr>
          <a:xfrm>
            <a:off x="731520" y="1371600"/>
            <a:ext cx="5029200" cy="3108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2926080"/>
          </a:xfrm>
          <a:prstGeom prst="rect">
            <a:avLst/>
          </a:prstGeom>
          <a:noFill/>
        </p:spPr>
        <p:txBody>
          <a:bodyPr wrap="square">
            <a:spAutoFit/>
          </a:bodyPr>
          <a:lstStyle/>
          <a:p>
            <a:pPr algn="l">
              <a:lnSpc>
                <a:spcPts val="1620"/>
              </a:lnSpc>
              <a:spcAft>
                <a:spcPts val="359"/>
              </a:spcAft>
              <a:defRPr sz="1200" b="0">
                <a:solidFill>
                  <a:srgbClr val="A6E3A1"/>
                </a:solidFill>
                <a:latin typeface="Cascadia Code"/>
              </a:defRPr>
            </a:pPr>
            <a:r>
              <a:t>---</a:t>
            </a:r>
            <a:br/>
            <a:r>
              <a:t>name: systems-engineer</a:t>
            </a:r>
            <a:br/>
            <a:r>
              <a:t>description: &gt;</a:t>
            </a:r>
            <a:br/>
            <a:r>
              <a:t>  Senior systems engineer with deep</a:t>
            </a:r>
            <a:br/>
            <a:r>
              <a:t>  expertise in memory management,</a:t>
            </a:r>
            <a:br/>
            <a:r>
              <a:t>  concurrency, and performance.</a:t>
            </a:r>
            <a:br/>
            <a:r>
              <a:t>domain:</a:t>
            </a:r>
            <a:br/>
            <a:r>
              <a:t>  - systems programming</a:t>
            </a:r>
            <a:br/>
            <a:r>
              <a:t>  - debugging</a:t>
            </a:r>
            <a:br/>
            <a:r>
              <a:t>  - performance analysis</a:t>
            </a:r>
            <a:br/>
            <a:r>
              <a:t>tone: precise, technical, methodical</a:t>
            </a:r>
            <a:br/>
            <a:r>
              <a: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Behavioral Constraints</a:t>
            </a:r>
          </a:p>
        </p:txBody>
      </p:sp>
      <p:sp>
        <p:nvSpPr>
          <p:cNvPr id="8" name="TextBox 7"/>
          <p:cNvSpPr txBox="1"/>
          <p:nvPr/>
        </p:nvSpPr>
        <p:spPr>
          <a:xfrm>
            <a:off x="6217920" y="192024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Reason from first principles — trace causality, never guess</a:t>
            </a:r>
          </a:p>
        </p:txBody>
      </p:sp>
      <p:sp>
        <p:nvSpPr>
          <p:cNvPr id="9" name="TextBox 8"/>
          <p:cNvSpPr txBox="1"/>
          <p:nvPr/>
        </p:nvSpPr>
        <p:spPr>
          <a:xfrm>
            <a:off x="6217920" y="242316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Distinguish epistemic states — label KNOWN / INFERRED / ASSUMED</a:t>
            </a:r>
          </a:p>
        </p:txBody>
      </p:sp>
      <p:sp>
        <p:nvSpPr>
          <p:cNvPr id="10" name="TextBox 9"/>
          <p:cNvSpPr txBox="1"/>
          <p:nvPr/>
        </p:nvSpPr>
        <p:spPr>
          <a:xfrm>
            <a:off x="6217920" y="292608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Prefer correctness over cleverness</a:t>
            </a:r>
          </a:p>
        </p:txBody>
      </p:sp>
      <p:sp>
        <p:nvSpPr>
          <p:cNvPr id="11" name="TextBox 10"/>
          <p:cNvSpPr txBox="1"/>
          <p:nvPr/>
        </p:nvSpPr>
        <p:spPr>
          <a:xfrm>
            <a:off x="6217920" y="342900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Explicit uncertainty — say what's missing</a:t>
            </a:r>
          </a:p>
        </p:txBody>
      </p:sp>
      <p:sp>
        <p:nvSpPr>
          <p:cNvPr id="12" name="TextBox 11"/>
          <p:cNvSpPr txBox="1"/>
          <p:nvPr/>
        </p:nvSpPr>
        <p:spPr>
          <a:xfrm>
            <a:off x="6217920" y="393192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No hallucination — refuse to fabricate</a:t>
            </a:r>
          </a:p>
        </p:txBody>
      </p:sp>
      <p:sp>
        <p:nvSpPr>
          <p:cNvPr id="13" name="Rounded Rectangle 12"/>
          <p:cNvSpPr/>
          <p:nvPr/>
        </p:nvSpPr>
        <p:spPr>
          <a:xfrm>
            <a:off x="731520" y="4480560"/>
            <a:ext cx="10698480" cy="21031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572000"/>
            <a:ext cx="10058400" cy="320040"/>
          </a:xfrm>
          <a:prstGeom prst="rect">
            <a:avLst/>
          </a:prstGeom>
          <a:noFill/>
        </p:spPr>
        <p:txBody>
          <a:bodyPr wrap="square">
            <a:spAutoFit/>
          </a:bodyPr>
          <a:lstStyle/>
          <a:p>
            <a:pPr algn="l">
              <a:lnSpc>
                <a:spcPts val="1920"/>
              </a:lnSpc>
              <a:spcAft>
                <a:spcPts val="480"/>
              </a:spcAft>
              <a:defRPr sz="1600" b="1">
                <a:solidFill>
                  <a:srgbClr val="F9E2AF"/>
                </a:solidFill>
                <a:latin typeface="Segoe UI"/>
              </a:defRPr>
            </a:pPr>
            <a:r>
              <a:t>Available Personas</a:t>
            </a:r>
          </a:p>
        </p:txBody>
      </p:sp>
      <p:sp>
        <p:nvSpPr>
          <p:cNvPr id="15" name="TextBox 14"/>
          <p:cNvSpPr txBox="1"/>
          <p:nvPr/>
        </p:nvSpPr>
        <p:spPr>
          <a:xfrm>
            <a:off x="100584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systems-engineer</a:t>
            </a:r>
          </a:p>
        </p:txBody>
      </p:sp>
      <p:sp>
        <p:nvSpPr>
          <p:cNvPr id="16" name="TextBox 15"/>
          <p:cNvSpPr txBox="1"/>
          <p:nvPr/>
        </p:nvSpPr>
        <p:spPr>
          <a:xfrm>
            <a:off x="269748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Memory, concurrency, debugging</a:t>
            </a:r>
          </a:p>
        </p:txBody>
      </p:sp>
      <p:sp>
        <p:nvSpPr>
          <p:cNvPr id="17" name="TextBox 16"/>
          <p:cNvSpPr txBox="1"/>
          <p:nvPr/>
        </p:nvSpPr>
        <p:spPr>
          <a:xfrm>
            <a:off x="457200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security-auditor</a:t>
            </a:r>
          </a:p>
        </p:txBody>
      </p:sp>
      <p:sp>
        <p:nvSpPr>
          <p:cNvPr id="18" name="TextBox 17"/>
          <p:cNvSpPr txBox="1"/>
          <p:nvPr/>
        </p:nvSpPr>
        <p:spPr>
          <a:xfrm>
            <a:off x="626364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Vulnerability discovery, threat modeling</a:t>
            </a:r>
          </a:p>
        </p:txBody>
      </p:sp>
      <p:sp>
        <p:nvSpPr>
          <p:cNvPr id="19" name="TextBox 18"/>
          <p:cNvSpPr txBox="1"/>
          <p:nvPr/>
        </p:nvSpPr>
        <p:spPr>
          <a:xfrm>
            <a:off x="8138160" y="498348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software-architect</a:t>
            </a:r>
          </a:p>
        </p:txBody>
      </p:sp>
      <p:sp>
        <p:nvSpPr>
          <p:cNvPr id="20" name="TextBox 19"/>
          <p:cNvSpPr txBox="1"/>
          <p:nvPr/>
        </p:nvSpPr>
        <p:spPr>
          <a:xfrm>
            <a:off x="9829800" y="498348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System design, API contracts, tradeoffs</a:t>
            </a:r>
          </a:p>
        </p:txBody>
      </p:sp>
      <p:sp>
        <p:nvSpPr>
          <p:cNvPr id="21" name="TextBox 20"/>
          <p:cNvSpPr txBox="1"/>
          <p:nvPr/>
        </p:nvSpPr>
        <p:spPr>
          <a:xfrm>
            <a:off x="100584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devops-engineer</a:t>
            </a:r>
          </a:p>
        </p:txBody>
      </p:sp>
      <p:sp>
        <p:nvSpPr>
          <p:cNvPr id="22" name="TextBox 21"/>
          <p:cNvSpPr txBox="1"/>
          <p:nvPr/>
        </p:nvSpPr>
        <p:spPr>
          <a:xfrm>
            <a:off x="269748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CI/CD, release engineering, IaC</a:t>
            </a:r>
          </a:p>
        </p:txBody>
      </p:sp>
      <p:sp>
        <p:nvSpPr>
          <p:cNvPr id="23" name="TextBox 22"/>
          <p:cNvSpPr txBox="1"/>
          <p:nvPr/>
        </p:nvSpPr>
        <p:spPr>
          <a:xfrm>
            <a:off x="457200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reverse-engineer</a:t>
            </a:r>
          </a:p>
        </p:txBody>
      </p:sp>
      <p:sp>
        <p:nvSpPr>
          <p:cNvPr id="24" name="TextBox 23"/>
          <p:cNvSpPr txBox="1"/>
          <p:nvPr/>
        </p:nvSpPr>
        <p:spPr>
          <a:xfrm>
            <a:off x="626364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Spec extraction from existing code</a:t>
            </a:r>
          </a:p>
        </p:txBody>
      </p:sp>
      <p:sp>
        <p:nvSpPr>
          <p:cNvPr id="25" name="TextBox 24"/>
          <p:cNvSpPr txBox="1"/>
          <p:nvPr/>
        </p:nvSpPr>
        <p:spPr>
          <a:xfrm>
            <a:off x="8138160" y="5367528"/>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specification-analyst</a:t>
            </a:r>
          </a:p>
        </p:txBody>
      </p:sp>
      <p:sp>
        <p:nvSpPr>
          <p:cNvPr id="26" name="TextBox 25"/>
          <p:cNvSpPr txBox="1"/>
          <p:nvPr/>
        </p:nvSpPr>
        <p:spPr>
          <a:xfrm>
            <a:off x="9829800" y="5367528"/>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Specification drift, traceability</a:t>
            </a:r>
          </a:p>
        </p:txBody>
      </p:sp>
      <p:sp>
        <p:nvSpPr>
          <p:cNvPr id="27" name="TextBox 26"/>
          <p:cNvSpPr txBox="1"/>
          <p:nvPr/>
        </p:nvSpPr>
        <p:spPr>
          <a:xfrm>
            <a:off x="100584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workflow-arbiter</a:t>
            </a:r>
          </a:p>
        </p:txBody>
      </p:sp>
      <p:sp>
        <p:nvSpPr>
          <p:cNvPr id="28" name="TextBox 27"/>
          <p:cNvSpPr txBox="1"/>
          <p:nvPr/>
        </p:nvSpPr>
        <p:spPr>
          <a:xfrm>
            <a:off x="269748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Multi-agent workflow orchestration</a:t>
            </a:r>
          </a:p>
        </p:txBody>
      </p:sp>
      <p:sp>
        <p:nvSpPr>
          <p:cNvPr id="29" name="TextBox 28"/>
          <p:cNvSpPr txBox="1"/>
          <p:nvPr/>
        </p:nvSpPr>
        <p:spPr>
          <a:xfrm>
            <a:off x="457200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implementation-engineer</a:t>
            </a:r>
          </a:p>
        </p:txBody>
      </p:sp>
      <p:sp>
        <p:nvSpPr>
          <p:cNvPr id="30" name="TextBox 29"/>
          <p:cNvSpPr txBox="1"/>
          <p:nvPr/>
        </p:nvSpPr>
        <p:spPr>
          <a:xfrm>
            <a:off x="626364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Implementation from specs</a:t>
            </a:r>
          </a:p>
        </p:txBody>
      </p:sp>
      <p:sp>
        <p:nvSpPr>
          <p:cNvPr id="31" name="TextBox 30"/>
          <p:cNvSpPr txBox="1"/>
          <p:nvPr/>
        </p:nvSpPr>
        <p:spPr>
          <a:xfrm>
            <a:off x="8138160" y="5751576"/>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test-engineer</a:t>
            </a:r>
          </a:p>
        </p:txBody>
      </p:sp>
      <p:sp>
        <p:nvSpPr>
          <p:cNvPr id="32" name="TextBox 31"/>
          <p:cNvSpPr txBox="1"/>
          <p:nvPr/>
        </p:nvSpPr>
        <p:spPr>
          <a:xfrm>
            <a:off x="9829800" y="5751576"/>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Test authoring from specs</a:t>
            </a:r>
          </a:p>
        </p:txBody>
      </p:sp>
      <p:sp>
        <p:nvSpPr>
          <p:cNvPr id="33" name="TextBox 32"/>
          <p:cNvSpPr txBox="1"/>
          <p:nvPr/>
        </p:nvSpPr>
        <p:spPr>
          <a:xfrm>
            <a:off x="1005840" y="6135624"/>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promptkit-contributor</a:t>
            </a:r>
          </a:p>
        </p:txBody>
      </p:sp>
      <p:sp>
        <p:nvSpPr>
          <p:cNvPr id="34" name="TextBox 33"/>
          <p:cNvSpPr txBox="1"/>
          <p:nvPr/>
        </p:nvSpPr>
        <p:spPr>
          <a:xfrm>
            <a:off x="2697480" y="6135624"/>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Library architecture, conventions</a:t>
            </a:r>
          </a:p>
        </p:txBody>
      </p:sp>
      <p:sp>
        <p:nvSpPr>
          <p:cNvPr id="35" name="TextBox 34"/>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Protocols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② — How the LLM reasons</a:t>
            </a:r>
          </a:p>
        </p:txBody>
      </p:sp>
      <p:sp>
        <p:nvSpPr>
          <p:cNvPr id="5" name="Rounded Rectangle 4"/>
          <p:cNvSpPr/>
          <p:nvPr/>
        </p:nvSpPr>
        <p:spPr>
          <a:xfrm>
            <a:off x="70088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887" y="1371600"/>
            <a:ext cx="338328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047" y="1508760"/>
            <a:ext cx="3108960" cy="32004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Guardrails (3)</a:t>
            </a:r>
          </a:p>
        </p:txBody>
      </p:sp>
      <p:sp>
        <p:nvSpPr>
          <p:cNvPr id="8" name="TextBox 7"/>
          <p:cNvSpPr txBox="1"/>
          <p:nvPr/>
        </p:nvSpPr>
        <p:spPr>
          <a:xfrm>
            <a:off x="83804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Cross-cutting, apply to all tasks</a:t>
            </a:r>
          </a:p>
        </p:txBody>
      </p:sp>
      <p:sp>
        <p:nvSpPr>
          <p:cNvPr id="9" name="Rounded Rectangle 8"/>
          <p:cNvSpPr/>
          <p:nvPr/>
        </p:nvSpPr>
        <p:spPr>
          <a:xfrm>
            <a:off x="81061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9487" y="237744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anti-hallucination</a:t>
            </a:r>
          </a:p>
        </p:txBody>
      </p:sp>
      <p:sp>
        <p:nvSpPr>
          <p:cNvPr id="11" name="TextBox 10"/>
          <p:cNvSpPr txBox="1"/>
          <p:nvPr/>
        </p:nvSpPr>
        <p:spPr>
          <a:xfrm>
            <a:off x="92948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Epistemic labeling, refusal</a:t>
            </a:r>
            <a:br/>
            <a:r>
              <a:t>to fabricate, source attribution</a:t>
            </a:r>
          </a:p>
        </p:txBody>
      </p:sp>
      <p:sp>
        <p:nvSpPr>
          <p:cNvPr id="12" name="Rounded Rectangle 11"/>
          <p:cNvSpPr/>
          <p:nvPr/>
        </p:nvSpPr>
        <p:spPr>
          <a:xfrm>
            <a:off x="81061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9487" y="333756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self-verification</a:t>
            </a:r>
          </a:p>
        </p:txBody>
      </p:sp>
      <p:sp>
        <p:nvSpPr>
          <p:cNvPr id="14" name="TextBox 13"/>
          <p:cNvSpPr txBox="1"/>
          <p:nvPr/>
        </p:nvSpPr>
        <p:spPr>
          <a:xfrm>
            <a:off x="92948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LLM verifies its own output</a:t>
            </a:r>
            <a:br/>
            <a:r>
              <a:t>before finalizing</a:t>
            </a:r>
          </a:p>
        </p:txBody>
      </p:sp>
      <p:sp>
        <p:nvSpPr>
          <p:cNvPr id="15" name="Rounded Rectangle 14"/>
          <p:cNvSpPr/>
          <p:nvPr/>
        </p:nvSpPr>
        <p:spPr>
          <a:xfrm>
            <a:off x="81061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9487" y="429768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operational-constraints</a:t>
            </a:r>
          </a:p>
        </p:txBody>
      </p:sp>
      <p:sp>
        <p:nvSpPr>
          <p:cNvPr id="17" name="TextBox 16"/>
          <p:cNvSpPr txBox="1"/>
          <p:nvPr/>
        </p:nvSpPr>
        <p:spPr>
          <a:xfrm>
            <a:off x="92948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Scoping, tool usage,</a:t>
            </a:r>
            <a:br/>
            <a:r>
              <a:t>reproducibility</a:t>
            </a:r>
          </a:p>
        </p:txBody>
      </p:sp>
      <p:sp>
        <p:nvSpPr>
          <p:cNvPr id="18" name="Rounded Rectangle 17"/>
          <p:cNvSpPr/>
          <p:nvPr/>
        </p:nvSpPr>
        <p:spPr>
          <a:xfrm>
            <a:off x="440420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04207" y="1371600"/>
            <a:ext cx="338328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1367" y="1508760"/>
            <a:ext cx="3108960" cy="32004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Analysis (4)</a:t>
            </a:r>
          </a:p>
        </p:txBody>
      </p:sp>
      <p:sp>
        <p:nvSpPr>
          <p:cNvPr id="21" name="TextBox 20"/>
          <p:cNvSpPr txBox="1"/>
          <p:nvPr/>
        </p:nvSpPr>
        <p:spPr>
          <a:xfrm>
            <a:off x="454136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Domain/language-specific checks</a:t>
            </a:r>
          </a:p>
        </p:txBody>
      </p:sp>
      <p:sp>
        <p:nvSpPr>
          <p:cNvPr id="22" name="Rounded Rectangle 21"/>
          <p:cNvSpPr/>
          <p:nvPr/>
        </p:nvSpPr>
        <p:spPr>
          <a:xfrm>
            <a:off x="451393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807" y="237744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memory-safety-c</a:t>
            </a:r>
          </a:p>
        </p:txBody>
      </p:sp>
      <p:sp>
        <p:nvSpPr>
          <p:cNvPr id="24" name="TextBox 23"/>
          <p:cNvSpPr txBox="1"/>
          <p:nvPr/>
        </p:nvSpPr>
        <p:spPr>
          <a:xfrm>
            <a:off x="463280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Allocation, pointers, buffers</a:t>
            </a:r>
          </a:p>
        </p:txBody>
      </p:sp>
      <p:sp>
        <p:nvSpPr>
          <p:cNvPr id="25" name="Rounded Rectangle 24"/>
          <p:cNvSpPr/>
          <p:nvPr/>
        </p:nvSpPr>
        <p:spPr>
          <a:xfrm>
            <a:off x="451393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2807" y="333756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memory-safety-rust</a:t>
            </a:r>
          </a:p>
        </p:txBody>
      </p:sp>
      <p:sp>
        <p:nvSpPr>
          <p:cNvPr id="27" name="TextBox 26"/>
          <p:cNvSpPr txBox="1"/>
          <p:nvPr/>
        </p:nvSpPr>
        <p:spPr>
          <a:xfrm>
            <a:off x="463280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unsafe blocks, FFI, interior mut</a:t>
            </a:r>
          </a:p>
        </p:txBody>
      </p:sp>
      <p:sp>
        <p:nvSpPr>
          <p:cNvPr id="28" name="Rounded Rectangle 27"/>
          <p:cNvSpPr/>
          <p:nvPr/>
        </p:nvSpPr>
        <p:spPr>
          <a:xfrm>
            <a:off x="451393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32807" y="429768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thread-safety</a:t>
            </a:r>
          </a:p>
        </p:txBody>
      </p:sp>
      <p:sp>
        <p:nvSpPr>
          <p:cNvPr id="30" name="TextBox 29"/>
          <p:cNvSpPr txBox="1"/>
          <p:nvPr/>
        </p:nvSpPr>
        <p:spPr>
          <a:xfrm>
            <a:off x="463280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Races, deadlocks, atomics</a:t>
            </a:r>
          </a:p>
        </p:txBody>
      </p:sp>
      <p:sp>
        <p:nvSpPr>
          <p:cNvPr id="31" name="Rounded Rectangle 30"/>
          <p:cNvSpPr/>
          <p:nvPr/>
        </p:nvSpPr>
        <p:spPr>
          <a:xfrm>
            <a:off x="4513935" y="521208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32807" y="525780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security-vulnerability</a:t>
            </a:r>
          </a:p>
        </p:txBody>
      </p:sp>
      <p:sp>
        <p:nvSpPr>
          <p:cNvPr id="33" name="TextBox 32"/>
          <p:cNvSpPr txBox="1"/>
          <p:nvPr/>
        </p:nvSpPr>
        <p:spPr>
          <a:xfrm>
            <a:off x="4632807" y="555955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Trust boundaries, auth, crypto</a:t>
            </a:r>
          </a:p>
        </p:txBody>
      </p:sp>
      <p:sp>
        <p:nvSpPr>
          <p:cNvPr id="34" name="Rounded Rectangle 33"/>
          <p:cNvSpPr/>
          <p:nvPr/>
        </p:nvSpPr>
        <p:spPr>
          <a:xfrm>
            <a:off x="810752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7527" y="1371600"/>
            <a:ext cx="338328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44687" y="1508760"/>
            <a:ext cx="3108960" cy="32004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Reasoning (13)</a:t>
            </a:r>
          </a:p>
        </p:txBody>
      </p:sp>
      <p:sp>
        <p:nvSpPr>
          <p:cNvPr id="37" name="TextBox 36"/>
          <p:cNvSpPr txBox="1"/>
          <p:nvPr/>
        </p:nvSpPr>
        <p:spPr>
          <a:xfrm>
            <a:off x="824468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Systematic approaches</a:t>
            </a:r>
          </a:p>
        </p:txBody>
      </p:sp>
      <p:sp>
        <p:nvSpPr>
          <p:cNvPr id="38" name="Rounded Rectangle 37"/>
          <p:cNvSpPr/>
          <p:nvPr/>
        </p:nvSpPr>
        <p:spPr>
          <a:xfrm>
            <a:off x="8217255" y="233172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6127" y="237744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root-cause-analysis</a:t>
            </a:r>
          </a:p>
        </p:txBody>
      </p:sp>
      <p:sp>
        <p:nvSpPr>
          <p:cNvPr id="40" name="TextBox 39"/>
          <p:cNvSpPr txBox="1"/>
          <p:nvPr/>
        </p:nvSpPr>
        <p:spPr>
          <a:xfrm>
            <a:off x="833612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Hypothesis → evidence →</a:t>
            </a:r>
            <a:br/>
            <a:r>
              <a:t>elimination → root cause</a:t>
            </a:r>
          </a:p>
        </p:txBody>
      </p:sp>
      <p:sp>
        <p:nvSpPr>
          <p:cNvPr id="41" name="Rounded Rectangle 40"/>
          <p:cNvSpPr/>
          <p:nvPr/>
        </p:nvSpPr>
        <p:spPr>
          <a:xfrm>
            <a:off x="8217255" y="329184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36127" y="333756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traceability-audit</a:t>
            </a:r>
          </a:p>
        </p:txBody>
      </p:sp>
      <p:sp>
        <p:nvSpPr>
          <p:cNvPr id="43" name="TextBox 42"/>
          <p:cNvSpPr txBox="1"/>
          <p:nvPr/>
        </p:nvSpPr>
        <p:spPr>
          <a:xfrm>
            <a:off x="8336127" y="363931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Cross-document requirement</a:t>
            </a:r>
            <a:br/>
            <a:r>
              <a:t>traceability (D1–D7)</a:t>
            </a:r>
          </a:p>
        </p:txBody>
      </p:sp>
      <p:sp>
        <p:nvSpPr>
          <p:cNvPr id="44" name="Rounded Rectangle 43"/>
          <p:cNvSpPr/>
          <p:nvPr/>
        </p:nvSpPr>
        <p:spPr>
          <a:xfrm>
            <a:off x="8217255" y="4251960"/>
            <a:ext cx="3163824" cy="8686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6127" y="429768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code-compliance-audit</a:t>
            </a:r>
          </a:p>
        </p:txBody>
      </p:sp>
      <p:sp>
        <p:nvSpPr>
          <p:cNvPr id="46" name="TextBox 45"/>
          <p:cNvSpPr txBox="1"/>
          <p:nvPr/>
        </p:nvSpPr>
        <p:spPr>
          <a:xfrm>
            <a:off x="8336127" y="459943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Code vs specification</a:t>
            </a:r>
            <a:br/>
            <a:r>
              <a:t>compliance (D8–D10)</a:t>
            </a:r>
          </a:p>
        </p:txBody>
      </p:sp>
      <p:sp>
        <p:nvSpPr>
          <p:cNvPr id="47" name="TextBox 46"/>
          <p:cNvSpPr txBox="1"/>
          <p:nvPr/>
        </p:nvSpPr>
        <p:spPr>
          <a:xfrm>
            <a:off x="8217255" y="5303520"/>
            <a:ext cx="3163824"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 plus 10 more</a:t>
            </a:r>
          </a:p>
        </p:txBody>
      </p:sp>
      <p:sp>
        <p:nvSpPr>
          <p:cNvPr id="48" name="TextBox 4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Anti-Hallucination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The most important guardrail — prevents fabrication</a:t>
            </a:r>
          </a:p>
        </p:txBody>
      </p:sp>
      <p:sp>
        <p:nvSpPr>
          <p:cNvPr id="5" name="Rectangle 4"/>
          <p:cNvSpPr/>
          <p:nvPr/>
        </p:nvSpPr>
        <p:spPr>
          <a:xfrm>
            <a:off x="731520" y="1371600"/>
            <a:ext cx="54864"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53312"/>
            <a:ext cx="2743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Epistemic Labeling</a:t>
            </a:r>
          </a:p>
        </p:txBody>
      </p:sp>
      <p:sp>
        <p:nvSpPr>
          <p:cNvPr id="7" name="TextBox 6"/>
          <p:cNvSpPr txBox="1"/>
          <p:nvPr/>
        </p:nvSpPr>
        <p:spPr>
          <a:xfrm>
            <a:off x="3657600" y="1389888"/>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Every claim tagged: KNOWN (directly stated), INFERRED (reasoned with explicit chain), or ASSUMED (flagged with justification).</a:t>
            </a:r>
            <a:br/>
            <a:r>
              <a:t>If ASSUMED &gt; ~30% → stop and request more context.</a:t>
            </a:r>
          </a:p>
        </p:txBody>
      </p:sp>
      <p:sp>
        <p:nvSpPr>
          <p:cNvPr id="8" name="Rectangle 7"/>
          <p:cNvSpPr/>
          <p:nvPr/>
        </p:nvSpPr>
        <p:spPr>
          <a:xfrm>
            <a:off x="731520" y="2395728"/>
            <a:ext cx="54864"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377440"/>
            <a:ext cx="2743200" cy="27432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Refusal to Fabricate</a:t>
            </a:r>
          </a:p>
        </p:txBody>
      </p:sp>
      <p:sp>
        <p:nvSpPr>
          <p:cNvPr id="10" name="TextBox 9"/>
          <p:cNvSpPr txBox="1"/>
          <p:nvPr/>
        </p:nvSpPr>
        <p:spPr>
          <a:xfrm>
            <a:off x="3657600" y="2414016"/>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Do NOT invent function names, API signatures, config values, file paths, or version numbers.</a:t>
            </a:r>
            <a:br/>
            <a:r>
              <a:t>Use [UNKNOWN: &lt;what is missing&gt;] as placeholder.</a:t>
            </a:r>
          </a:p>
        </p:txBody>
      </p:sp>
      <p:sp>
        <p:nvSpPr>
          <p:cNvPr id="11" name="Rectangle 10"/>
          <p:cNvSpPr/>
          <p:nvPr/>
        </p:nvSpPr>
        <p:spPr>
          <a:xfrm>
            <a:off x="731520" y="3419856"/>
            <a:ext cx="54864"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401568"/>
            <a:ext cx="2743200" cy="27432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Uncertainty Disclosure</a:t>
            </a:r>
          </a:p>
        </p:txBody>
      </p:sp>
      <p:sp>
        <p:nvSpPr>
          <p:cNvPr id="13" name="TextBox 12"/>
          <p:cNvSpPr txBox="1"/>
          <p:nvPr/>
        </p:nvSpPr>
        <p:spPr>
          <a:xfrm>
            <a:off x="3657600" y="3438144"/>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Enumerate multiple interpretations rather than choosing silently. State: "Low confidence — depends on [assumption]. Verify by [action]."</a:t>
            </a:r>
          </a:p>
        </p:txBody>
      </p:sp>
      <p:sp>
        <p:nvSpPr>
          <p:cNvPr id="14" name="Rectangle 13"/>
          <p:cNvSpPr/>
          <p:nvPr/>
        </p:nvSpPr>
        <p:spPr>
          <a:xfrm>
            <a:off x="731520" y="4443984"/>
            <a:ext cx="54864"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25696"/>
            <a:ext cx="2743200" cy="27432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Source Attribution</a:t>
            </a:r>
          </a:p>
        </p:txBody>
      </p:sp>
      <p:sp>
        <p:nvSpPr>
          <p:cNvPr id="16" name="TextBox 15"/>
          <p:cNvSpPr txBox="1"/>
          <p:nvPr/>
        </p:nvSpPr>
        <p:spPr>
          <a:xfrm>
            <a:off x="3657600" y="4462272"/>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Indicate provenance: "per requirements doc §3.2" or "line 42 of auth.c".</a:t>
            </a:r>
            <a:br/>
            <a:r>
              <a:t>Do NOT cite sources not provided.</a:t>
            </a:r>
          </a:p>
        </p:txBody>
      </p:sp>
      <p:sp>
        <p:nvSpPr>
          <p:cNvPr id="17" name="Rectangle 16"/>
          <p:cNvSpPr/>
          <p:nvPr/>
        </p:nvSpPr>
        <p:spPr>
          <a:xfrm>
            <a:off x="731520" y="5468112"/>
            <a:ext cx="54864"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449824"/>
            <a:ext cx="2743200" cy="27432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Scope Boundaries</a:t>
            </a:r>
          </a:p>
        </p:txBody>
      </p:sp>
      <p:sp>
        <p:nvSpPr>
          <p:cNvPr id="19" name="TextBox 18"/>
          <p:cNvSpPr txBox="1"/>
          <p:nvPr/>
        </p:nvSpPr>
        <p:spPr>
          <a:xfrm>
            <a:off x="3657600" y="5486400"/>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If question falls outside provided context, say so explicitly.</a:t>
            </a:r>
            <a:br/>
            <a:r>
              <a:t>List what additional information is needed.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Root Cause Analysis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5-phase structured reasoning methodology</a:t>
            </a:r>
          </a:p>
        </p:txBody>
      </p:sp>
      <p:sp>
        <p:nvSpPr>
          <p:cNvPr id="5" name="Rounded Rectangle 4"/>
          <p:cNvSpPr/>
          <p:nvPr/>
        </p:nvSpPr>
        <p:spPr>
          <a:xfrm>
            <a:off x="74660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6607" y="1554480"/>
            <a:ext cx="19202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04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1</a:t>
            </a:r>
          </a:p>
        </p:txBody>
      </p:sp>
      <p:sp>
        <p:nvSpPr>
          <p:cNvPr id="8" name="TextBox 7"/>
          <p:cNvSpPr txBox="1"/>
          <p:nvPr/>
        </p:nvSpPr>
        <p:spPr>
          <a:xfrm>
            <a:off x="838047" y="2011680"/>
            <a:ext cx="1737360" cy="640080"/>
          </a:xfrm>
          <a:prstGeom prst="rect">
            <a:avLst/>
          </a:prstGeom>
          <a:noFill/>
        </p:spPr>
        <p:txBody>
          <a:bodyPr wrap="square">
            <a:spAutoFit/>
          </a:bodyPr>
          <a:lstStyle/>
          <a:p>
            <a:pPr algn="ctr">
              <a:lnSpc>
                <a:spcPts val="1920"/>
              </a:lnSpc>
              <a:spcAft>
                <a:spcPts val="480"/>
              </a:spcAft>
              <a:defRPr sz="1600" b="1">
                <a:solidFill>
                  <a:srgbClr val="89B4FA"/>
                </a:solidFill>
                <a:latin typeface="Segoe UI"/>
              </a:defRPr>
            </a:pPr>
            <a:r>
              <a:t>Symptom</a:t>
            </a:r>
            <a:br/>
            <a:r>
              <a:t>Characterization</a:t>
            </a:r>
          </a:p>
        </p:txBody>
      </p:sp>
      <p:sp>
        <p:nvSpPr>
          <p:cNvPr id="9" name="TextBox 8"/>
          <p:cNvSpPr txBox="1"/>
          <p:nvPr/>
        </p:nvSpPr>
        <p:spPr>
          <a:xfrm>
            <a:off x="83804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Observed vs expected, timeline,</a:t>
            </a:r>
            <a:br/>
            <a:r>
              <a:t>blast radius, deterministic?</a:t>
            </a:r>
          </a:p>
        </p:txBody>
      </p:sp>
      <p:sp>
        <p:nvSpPr>
          <p:cNvPr id="10" name="TextBox 9"/>
          <p:cNvSpPr txBox="1"/>
          <p:nvPr/>
        </p:nvSpPr>
        <p:spPr>
          <a:xfrm>
            <a:off x="268513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1" name="Rounded Rectangle 10"/>
          <p:cNvSpPr/>
          <p:nvPr/>
        </p:nvSpPr>
        <p:spPr>
          <a:xfrm>
            <a:off x="294116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41167" y="1554480"/>
            <a:ext cx="19202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3260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2</a:t>
            </a:r>
          </a:p>
        </p:txBody>
      </p:sp>
      <p:sp>
        <p:nvSpPr>
          <p:cNvPr id="14" name="TextBox 13"/>
          <p:cNvSpPr txBox="1"/>
          <p:nvPr/>
        </p:nvSpPr>
        <p:spPr>
          <a:xfrm>
            <a:off x="3032607" y="2011680"/>
            <a:ext cx="1737360" cy="640080"/>
          </a:xfrm>
          <a:prstGeom prst="rect">
            <a:avLst/>
          </a:prstGeom>
          <a:noFill/>
        </p:spPr>
        <p:txBody>
          <a:bodyPr wrap="square">
            <a:spAutoFit/>
          </a:bodyPr>
          <a:lstStyle/>
          <a:p>
            <a:pPr algn="ctr">
              <a:lnSpc>
                <a:spcPts val="1920"/>
              </a:lnSpc>
              <a:spcAft>
                <a:spcPts val="480"/>
              </a:spcAft>
              <a:defRPr sz="1600" b="1">
                <a:solidFill>
                  <a:srgbClr val="A6E3A1"/>
                </a:solidFill>
                <a:latin typeface="Segoe UI"/>
              </a:defRPr>
            </a:pPr>
            <a:r>
              <a:t>Hypothesis</a:t>
            </a:r>
            <a:br/>
            <a:r>
              <a:t>Generation</a:t>
            </a:r>
          </a:p>
        </p:txBody>
      </p:sp>
      <p:sp>
        <p:nvSpPr>
          <p:cNvPr id="15" name="TextBox 14"/>
          <p:cNvSpPr txBox="1"/>
          <p:nvPr/>
        </p:nvSpPr>
        <p:spPr>
          <a:xfrm>
            <a:off x="303260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≥3 ranked hypotheses before</a:t>
            </a:r>
            <a:br/>
            <a:r>
              <a:t>investigating any. Include 1 non-obvious.</a:t>
            </a:r>
          </a:p>
        </p:txBody>
      </p:sp>
      <p:sp>
        <p:nvSpPr>
          <p:cNvPr id="16" name="TextBox 15"/>
          <p:cNvSpPr txBox="1"/>
          <p:nvPr/>
        </p:nvSpPr>
        <p:spPr>
          <a:xfrm>
            <a:off x="487969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513572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35727" y="1554480"/>
            <a:ext cx="19202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2716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3</a:t>
            </a:r>
          </a:p>
        </p:txBody>
      </p:sp>
      <p:sp>
        <p:nvSpPr>
          <p:cNvPr id="20" name="TextBox 19"/>
          <p:cNvSpPr txBox="1"/>
          <p:nvPr/>
        </p:nvSpPr>
        <p:spPr>
          <a:xfrm>
            <a:off x="5227167" y="2011680"/>
            <a:ext cx="1737360" cy="640080"/>
          </a:xfrm>
          <a:prstGeom prst="rect">
            <a:avLst/>
          </a:prstGeom>
          <a:noFill/>
        </p:spPr>
        <p:txBody>
          <a:bodyPr wrap="square">
            <a:spAutoFit/>
          </a:bodyPr>
          <a:lstStyle/>
          <a:p>
            <a:pPr algn="ctr">
              <a:lnSpc>
                <a:spcPts val="1920"/>
              </a:lnSpc>
              <a:spcAft>
                <a:spcPts val="480"/>
              </a:spcAft>
              <a:defRPr sz="1600" b="1">
                <a:solidFill>
                  <a:srgbClr val="F9E2AF"/>
                </a:solidFill>
                <a:latin typeface="Segoe UI"/>
              </a:defRPr>
            </a:pPr>
            <a:r>
              <a:t>Evidence &amp;</a:t>
            </a:r>
            <a:br/>
            <a:r>
              <a:t>Elimination</a:t>
            </a:r>
          </a:p>
        </p:txBody>
      </p:sp>
      <p:sp>
        <p:nvSpPr>
          <p:cNvPr id="21" name="TextBox 20"/>
          <p:cNvSpPr txBox="1"/>
          <p:nvPr/>
        </p:nvSpPr>
        <p:spPr>
          <a:xfrm>
            <a:off x="522716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Minimal investigation per hypothesis.</a:t>
            </a:r>
            <a:br/>
            <a:r>
              <a:t>CONFIRMED / ELIMINATED / INCONCLUSIVE</a:t>
            </a:r>
          </a:p>
        </p:txBody>
      </p:sp>
      <p:sp>
        <p:nvSpPr>
          <p:cNvPr id="22" name="TextBox 21"/>
          <p:cNvSpPr txBox="1"/>
          <p:nvPr/>
        </p:nvSpPr>
        <p:spPr>
          <a:xfrm>
            <a:off x="707425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3" name="Rounded Rectangle 22"/>
          <p:cNvSpPr/>
          <p:nvPr/>
        </p:nvSpPr>
        <p:spPr>
          <a:xfrm>
            <a:off x="733028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30287" y="1554480"/>
            <a:ext cx="19202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172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4</a:t>
            </a:r>
          </a:p>
        </p:txBody>
      </p:sp>
      <p:sp>
        <p:nvSpPr>
          <p:cNvPr id="26" name="TextBox 25"/>
          <p:cNvSpPr txBox="1"/>
          <p:nvPr/>
        </p:nvSpPr>
        <p:spPr>
          <a:xfrm>
            <a:off x="7421727" y="2011680"/>
            <a:ext cx="1737360" cy="640080"/>
          </a:xfrm>
          <a:prstGeom prst="rect">
            <a:avLst/>
          </a:prstGeom>
          <a:noFill/>
        </p:spPr>
        <p:txBody>
          <a:bodyPr wrap="square">
            <a:spAutoFit/>
          </a:bodyPr>
          <a:lstStyle/>
          <a:p>
            <a:pPr algn="ctr">
              <a:lnSpc>
                <a:spcPts val="1920"/>
              </a:lnSpc>
              <a:spcAft>
                <a:spcPts val="480"/>
              </a:spcAft>
              <a:defRPr sz="1600" b="1">
                <a:solidFill>
                  <a:srgbClr val="FAB387"/>
                </a:solidFill>
                <a:latin typeface="Segoe UI"/>
              </a:defRPr>
            </a:pPr>
            <a:r>
              <a:t>Root Cause</a:t>
            </a:r>
            <a:br/>
            <a:r>
              <a:t>Identification</a:t>
            </a:r>
          </a:p>
        </p:txBody>
      </p:sp>
      <p:sp>
        <p:nvSpPr>
          <p:cNvPr id="27" name="TextBox 26"/>
          <p:cNvSpPr txBox="1"/>
          <p:nvPr/>
        </p:nvSpPr>
        <p:spPr>
          <a:xfrm>
            <a:off x="742172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Distinguish root from proximate.</a:t>
            </a:r>
            <a:br/>
            <a:r>
              <a:t>Trace full causal chain.</a:t>
            </a:r>
          </a:p>
        </p:txBody>
      </p:sp>
      <p:sp>
        <p:nvSpPr>
          <p:cNvPr id="28" name="TextBox 27"/>
          <p:cNvSpPr txBox="1"/>
          <p:nvPr/>
        </p:nvSpPr>
        <p:spPr>
          <a:xfrm>
            <a:off x="926881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9" name="Rounded Rectangle 28"/>
          <p:cNvSpPr/>
          <p:nvPr/>
        </p:nvSpPr>
        <p:spPr>
          <a:xfrm>
            <a:off x="952484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24847" y="1554480"/>
            <a:ext cx="1920240" cy="54864"/>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1628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5</a:t>
            </a:r>
          </a:p>
        </p:txBody>
      </p:sp>
      <p:sp>
        <p:nvSpPr>
          <p:cNvPr id="32" name="TextBox 31"/>
          <p:cNvSpPr txBox="1"/>
          <p:nvPr/>
        </p:nvSpPr>
        <p:spPr>
          <a:xfrm>
            <a:off x="9616287" y="2011680"/>
            <a:ext cx="1737360" cy="640080"/>
          </a:xfrm>
          <a:prstGeom prst="rect">
            <a:avLst/>
          </a:prstGeom>
          <a:noFill/>
        </p:spPr>
        <p:txBody>
          <a:bodyPr wrap="square">
            <a:spAutoFit/>
          </a:bodyPr>
          <a:lstStyle/>
          <a:p>
            <a:pPr algn="ctr">
              <a:lnSpc>
                <a:spcPts val="1920"/>
              </a:lnSpc>
              <a:spcAft>
                <a:spcPts val="480"/>
              </a:spcAft>
              <a:defRPr sz="1600" b="1">
                <a:solidFill>
                  <a:srgbClr val="F38BA8"/>
                </a:solidFill>
                <a:latin typeface="Segoe UI"/>
              </a:defRPr>
            </a:pPr>
            <a:r>
              <a:t>Remediation</a:t>
            </a:r>
          </a:p>
        </p:txBody>
      </p:sp>
      <p:sp>
        <p:nvSpPr>
          <p:cNvPr id="33" name="TextBox 32"/>
          <p:cNvSpPr txBox="1"/>
          <p:nvPr/>
        </p:nvSpPr>
        <p:spPr>
          <a:xfrm>
            <a:off x="961628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Fix root, not symptom.</a:t>
            </a:r>
            <a:br/>
            <a:r>
              <a:t>Secondary fixes + risk assessment.</a:t>
            </a:r>
          </a:p>
        </p:txBody>
      </p:sp>
      <p:sp>
        <p:nvSpPr>
          <p:cNvPr id="34" name="Rounded Rectangle 33"/>
          <p:cNvSpPr/>
          <p:nvPr/>
        </p:nvSpPr>
        <p:spPr>
          <a:xfrm>
            <a:off x="1371600" y="5120640"/>
            <a:ext cx="94183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45920" y="5212080"/>
            <a:ext cx="8869680" cy="914400"/>
          </a:xfrm>
          <a:prstGeom prst="rect">
            <a:avLst/>
          </a:prstGeom>
          <a:noFill/>
        </p:spPr>
        <p:txBody>
          <a:bodyPr wrap="square">
            <a:spAutoFit/>
          </a:bodyPr>
          <a:lstStyle/>
          <a:p>
            <a:pPr algn="ctr">
              <a:lnSpc>
                <a:spcPts val="1820"/>
              </a:lnSpc>
              <a:spcAft>
                <a:spcPts val="390"/>
              </a:spcAft>
              <a:defRPr sz="1300" b="0">
                <a:solidFill>
                  <a:srgbClr val="CDD6F4"/>
                </a:solidFill>
                <a:latin typeface="Segoe UI"/>
              </a:defRPr>
            </a:pPr>
            <a:r>
              <a:t>Key rule: "If we fix only the proximate cause, will the root cause</a:t>
            </a:r>
            <a:br/>
            <a:r>
              <a:t>produce other failures?" → If yes, the fix is incomplete.</a:t>
            </a:r>
            <a:br/>
            <a:br/>
            <a:r>
              <a:t>Example: Proximate = "null deref at line 42" · Root = "init silently fails when config missing"</a:t>
            </a:r>
          </a:p>
        </p:txBody>
      </p:sp>
      <p:sp>
        <p:nvSpPr>
          <p:cNvPr id="36" name="TextBox 3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Output Formats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③ — 11 structured deliverable types</a:t>
            </a:r>
          </a:p>
        </p:txBody>
      </p:sp>
      <p:sp>
        <p:nvSpPr>
          <p:cNvPr id="5" name="Rounded Rectangle 4"/>
          <p:cNvSpPr/>
          <p:nvPr/>
        </p:nvSpPr>
        <p:spPr>
          <a:xfrm>
            <a:off x="1371600" y="1554480"/>
            <a:ext cx="9418320" cy="411480"/>
          </a:xfrm>
          <a:prstGeom prst="roundRect">
            <a:avLst/>
          </a:prstGeom>
          <a:solidFill>
            <a:srgbClr val="89B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1600200"/>
            <a:ext cx="22860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Format</a:t>
            </a:r>
          </a:p>
        </p:txBody>
      </p:sp>
      <p:sp>
        <p:nvSpPr>
          <p:cNvPr id="7" name="TextBox 6"/>
          <p:cNvSpPr txBox="1"/>
          <p:nvPr/>
        </p:nvSpPr>
        <p:spPr>
          <a:xfrm>
            <a:off x="3931920" y="1600200"/>
            <a:ext cx="41148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Description</a:t>
            </a:r>
          </a:p>
        </p:txBody>
      </p:sp>
      <p:sp>
        <p:nvSpPr>
          <p:cNvPr id="8" name="TextBox 7"/>
          <p:cNvSpPr txBox="1"/>
          <p:nvPr/>
        </p:nvSpPr>
        <p:spPr>
          <a:xfrm>
            <a:off x="8229600" y="1600200"/>
            <a:ext cx="2286000" cy="320040"/>
          </a:xfrm>
          <a:prstGeom prst="rect">
            <a:avLst/>
          </a:prstGeom>
          <a:noFill/>
        </p:spPr>
        <p:txBody>
          <a:bodyPr wrap="square">
            <a:spAutoFit/>
          </a:bodyPr>
          <a:lstStyle/>
          <a:p>
            <a:pPr algn="l">
              <a:lnSpc>
                <a:spcPts val="1680"/>
              </a:lnSpc>
              <a:spcAft>
                <a:spcPts val="420"/>
              </a:spcAft>
              <a:defRPr sz="1400" b="1">
                <a:solidFill>
                  <a:srgbClr val="1E1E2E"/>
                </a:solidFill>
                <a:latin typeface="Segoe UI"/>
              </a:defRPr>
            </a:pPr>
            <a:r>
              <a:t>Artifact Type</a:t>
            </a:r>
          </a:p>
        </p:txBody>
      </p:sp>
      <p:sp>
        <p:nvSpPr>
          <p:cNvPr id="9" name="Rounded Rectangle 8"/>
          <p:cNvSpPr/>
          <p:nvPr/>
        </p:nvSpPr>
        <p:spPr>
          <a:xfrm>
            <a:off x="1371600" y="2057400"/>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2093976"/>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requirements-doc</a:t>
            </a:r>
          </a:p>
        </p:txBody>
      </p:sp>
      <p:sp>
        <p:nvSpPr>
          <p:cNvPr id="11" name="TextBox 10"/>
          <p:cNvSpPr txBox="1"/>
          <p:nvPr/>
        </p:nvSpPr>
        <p:spPr>
          <a:xfrm>
            <a:off x="3931920" y="2093976"/>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Numbered REQ-IDs + acceptance criteria</a:t>
            </a:r>
          </a:p>
        </p:txBody>
      </p:sp>
      <p:sp>
        <p:nvSpPr>
          <p:cNvPr id="12" name="TextBox 11"/>
          <p:cNvSpPr txBox="1"/>
          <p:nvPr/>
        </p:nvSpPr>
        <p:spPr>
          <a:xfrm>
            <a:off x="8229600" y="2093976"/>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requirements-document</a:t>
            </a:r>
          </a:p>
        </p:txBody>
      </p:sp>
      <p:sp>
        <p:nvSpPr>
          <p:cNvPr id="13" name="Rounded Rectangle 12"/>
          <p:cNvSpPr/>
          <p:nvPr/>
        </p:nvSpPr>
        <p:spPr>
          <a:xfrm>
            <a:off x="1371600" y="2441448"/>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478024"/>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design-doc</a:t>
            </a:r>
          </a:p>
        </p:txBody>
      </p:sp>
      <p:sp>
        <p:nvSpPr>
          <p:cNvPr id="15" name="TextBox 14"/>
          <p:cNvSpPr txBox="1"/>
          <p:nvPr/>
        </p:nvSpPr>
        <p:spPr>
          <a:xfrm>
            <a:off x="3931920" y="2478024"/>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Architecture, APIs, tradeoff analysis</a:t>
            </a:r>
          </a:p>
        </p:txBody>
      </p:sp>
      <p:sp>
        <p:nvSpPr>
          <p:cNvPr id="16" name="TextBox 15"/>
          <p:cNvSpPr txBox="1"/>
          <p:nvPr/>
        </p:nvSpPr>
        <p:spPr>
          <a:xfrm>
            <a:off x="8229600" y="2478024"/>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design-document</a:t>
            </a:r>
          </a:p>
        </p:txBody>
      </p:sp>
      <p:sp>
        <p:nvSpPr>
          <p:cNvPr id="17" name="Rounded Rectangle 16"/>
          <p:cNvSpPr/>
          <p:nvPr/>
        </p:nvSpPr>
        <p:spPr>
          <a:xfrm>
            <a:off x="1371600" y="2825496"/>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2862072"/>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validation-plan</a:t>
            </a:r>
          </a:p>
        </p:txBody>
      </p:sp>
      <p:sp>
        <p:nvSpPr>
          <p:cNvPr id="19" name="TextBox 18"/>
          <p:cNvSpPr txBox="1"/>
          <p:nvPr/>
        </p:nvSpPr>
        <p:spPr>
          <a:xfrm>
            <a:off x="3931920" y="2862072"/>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Test cases + traceability matrix</a:t>
            </a:r>
          </a:p>
        </p:txBody>
      </p:sp>
      <p:sp>
        <p:nvSpPr>
          <p:cNvPr id="20" name="TextBox 19"/>
          <p:cNvSpPr txBox="1"/>
          <p:nvPr/>
        </p:nvSpPr>
        <p:spPr>
          <a:xfrm>
            <a:off x="8229600" y="2862072"/>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validation-plan</a:t>
            </a:r>
          </a:p>
        </p:txBody>
      </p:sp>
      <p:sp>
        <p:nvSpPr>
          <p:cNvPr id="21" name="Rounded Rectangle 20"/>
          <p:cNvSpPr/>
          <p:nvPr/>
        </p:nvSpPr>
        <p:spPr>
          <a:xfrm>
            <a:off x="1371600" y="3209544"/>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3246120"/>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investigation-report</a:t>
            </a:r>
          </a:p>
        </p:txBody>
      </p:sp>
      <p:sp>
        <p:nvSpPr>
          <p:cNvPr id="23" name="TextBox 22"/>
          <p:cNvSpPr txBox="1"/>
          <p:nvPr/>
        </p:nvSpPr>
        <p:spPr>
          <a:xfrm>
            <a:off x="3931920" y="3246120"/>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Findings, RCA, remediation</a:t>
            </a:r>
          </a:p>
        </p:txBody>
      </p:sp>
      <p:sp>
        <p:nvSpPr>
          <p:cNvPr id="24" name="TextBox 23"/>
          <p:cNvSpPr txBox="1"/>
          <p:nvPr/>
        </p:nvSpPr>
        <p:spPr>
          <a:xfrm>
            <a:off x="8229600" y="3246120"/>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investigation-report</a:t>
            </a:r>
          </a:p>
        </p:txBody>
      </p:sp>
      <p:sp>
        <p:nvSpPr>
          <p:cNvPr id="25" name="Rounded Rectangle 24"/>
          <p:cNvSpPr/>
          <p:nvPr/>
        </p:nvSpPr>
        <p:spPr>
          <a:xfrm>
            <a:off x="1371600" y="3593591"/>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3630167"/>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implementation-plan</a:t>
            </a:r>
          </a:p>
        </p:txBody>
      </p:sp>
      <p:sp>
        <p:nvSpPr>
          <p:cNvPr id="27" name="TextBox 26"/>
          <p:cNvSpPr txBox="1"/>
          <p:nvPr/>
        </p:nvSpPr>
        <p:spPr>
          <a:xfrm>
            <a:off x="3931920" y="3630167"/>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Task breakdown + dependencies</a:t>
            </a:r>
          </a:p>
        </p:txBody>
      </p:sp>
      <p:sp>
        <p:nvSpPr>
          <p:cNvPr id="28" name="TextBox 27"/>
          <p:cNvSpPr txBox="1"/>
          <p:nvPr/>
        </p:nvSpPr>
        <p:spPr>
          <a:xfrm>
            <a:off x="8229600" y="3630167"/>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implementation-plan</a:t>
            </a:r>
          </a:p>
        </p:txBody>
      </p:sp>
      <p:sp>
        <p:nvSpPr>
          <p:cNvPr id="29" name="Rounded Rectangle 28"/>
          <p:cNvSpPr/>
          <p:nvPr/>
        </p:nvSpPr>
        <p:spPr>
          <a:xfrm>
            <a:off x="1371600" y="3977639"/>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54480" y="4014215"/>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agent-instructions</a:t>
            </a:r>
          </a:p>
        </p:txBody>
      </p:sp>
      <p:sp>
        <p:nvSpPr>
          <p:cNvPr id="31" name="TextBox 30"/>
          <p:cNvSpPr txBox="1"/>
          <p:nvPr/>
        </p:nvSpPr>
        <p:spPr>
          <a:xfrm>
            <a:off x="3931920" y="4014215"/>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.github/instructions/, CLAUDE.md, .cursorrules</a:t>
            </a:r>
          </a:p>
        </p:txBody>
      </p:sp>
      <p:sp>
        <p:nvSpPr>
          <p:cNvPr id="32" name="TextBox 31"/>
          <p:cNvSpPr txBox="1"/>
          <p:nvPr/>
        </p:nvSpPr>
        <p:spPr>
          <a:xfrm>
            <a:off x="8229600" y="4014215"/>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agent-instructions</a:t>
            </a:r>
          </a:p>
        </p:txBody>
      </p:sp>
      <p:sp>
        <p:nvSpPr>
          <p:cNvPr id="33" name="Rounded Rectangle 32"/>
          <p:cNvSpPr/>
          <p:nvPr/>
        </p:nvSpPr>
        <p:spPr>
          <a:xfrm>
            <a:off x="1371600" y="4361688"/>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54480" y="4398264"/>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pipeline-spec</a:t>
            </a:r>
          </a:p>
        </p:txBody>
      </p:sp>
      <p:sp>
        <p:nvSpPr>
          <p:cNvPr id="35" name="TextBox 34"/>
          <p:cNvSpPr txBox="1"/>
          <p:nvPr/>
        </p:nvSpPr>
        <p:spPr>
          <a:xfrm>
            <a:off x="3931920" y="4398264"/>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YAML pipelines + design rationale</a:t>
            </a:r>
          </a:p>
        </p:txBody>
      </p:sp>
      <p:sp>
        <p:nvSpPr>
          <p:cNvPr id="36" name="TextBox 35"/>
          <p:cNvSpPr txBox="1"/>
          <p:nvPr/>
        </p:nvSpPr>
        <p:spPr>
          <a:xfrm>
            <a:off x="8229600" y="4398264"/>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pipeline-spec</a:t>
            </a:r>
          </a:p>
        </p:txBody>
      </p:sp>
      <p:sp>
        <p:nvSpPr>
          <p:cNvPr id="37" name="Rounded Rectangle 36"/>
          <p:cNvSpPr/>
          <p:nvPr/>
        </p:nvSpPr>
        <p:spPr>
          <a:xfrm>
            <a:off x="1371600" y="4745736"/>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554480" y="4782312"/>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release-notes</a:t>
            </a:r>
          </a:p>
        </p:txBody>
      </p:sp>
      <p:sp>
        <p:nvSpPr>
          <p:cNvPr id="39" name="TextBox 38"/>
          <p:cNvSpPr txBox="1"/>
          <p:nvPr/>
        </p:nvSpPr>
        <p:spPr>
          <a:xfrm>
            <a:off x="3931920" y="4782312"/>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Changelog, breaking changes, upgrade path</a:t>
            </a:r>
          </a:p>
        </p:txBody>
      </p:sp>
      <p:sp>
        <p:nvSpPr>
          <p:cNvPr id="40" name="TextBox 39"/>
          <p:cNvSpPr txBox="1"/>
          <p:nvPr/>
        </p:nvSpPr>
        <p:spPr>
          <a:xfrm>
            <a:off x="8229600" y="4782312"/>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release-notes</a:t>
            </a:r>
          </a:p>
        </p:txBody>
      </p:sp>
      <p:sp>
        <p:nvSpPr>
          <p:cNvPr id="41" name="Rounded Rectangle 40"/>
          <p:cNvSpPr/>
          <p:nvPr/>
        </p:nvSpPr>
        <p:spPr>
          <a:xfrm>
            <a:off x="1371600" y="5129783"/>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554480" y="5166359"/>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multi-artifact</a:t>
            </a:r>
          </a:p>
        </p:txBody>
      </p:sp>
      <p:sp>
        <p:nvSpPr>
          <p:cNvPr id="43" name="TextBox 42"/>
          <p:cNvSpPr txBox="1"/>
          <p:nvPr/>
        </p:nvSpPr>
        <p:spPr>
          <a:xfrm>
            <a:off x="3931920" y="5166359"/>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Multiple structured files</a:t>
            </a:r>
          </a:p>
        </p:txBody>
      </p:sp>
      <p:sp>
        <p:nvSpPr>
          <p:cNvPr id="44" name="TextBox 43"/>
          <p:cNvSpPr txBox="1"/>
          <p:nvPr/>
        </p:nvSpPr>
        <p:spPr>
          <a:xfrm>
            <a:off x="8229600" y="5166359"/>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multi-artifact</a:t>
            </a:r>
          </a:p>
        </p:txBody>
      </p:sp>
      <p:sp>
        <p:nvSpPr>
          <p:cNvPr id="45" name="Rounded Rectangle 44"/>
          <p:cNvSpPr/>
          <p:nvPr/>
        </p:nvSpPr>
        <p:spPr>
          <a:xfrm>
            <a:off x="1371600" y="5513831"/>
            <a:ext cx="9418320" cy="347472"/>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554480" y="5550407"/>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triage-report</a:t>
            </a:r>
          </a:p>
        </p:txBody>
      </p:sp>
      <p:sp>
        <p:nvSpPr>
          <p:cNvPr id="47" name="TextBox 46"/>
          <p:cNvSpPr txBox="1"/>
          <p:nvPr/>
        </p:nvSpPr>
        <p:spPr>
          <a:xfrm>
            <a:off x="3931920" y="5550407"/>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Issue/PR triage with priority ranking</a:t>
            </a:r>
          </a:p>
        </p:txBody>
      </p:sp>
      <p:sp>
        <p:nvSpPr>
          <p:cNvPr id="48" name="TextBox 47"/>
          <p:cNvSpPr txBox="1"/>
          <p:nvPr/>
        </p:nvSpPr>
        <p:spPr>
          <a:xfrm>
            <a:off x="8229600" y="5550407"/>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triage-report</a:t>
            </a:r>
          </a:p>
        </p:txBody>
      </p:sp>
      <p:sp>
        <p:nvSpPr>
          <p:cNvPr id="49" name="Rounded Rectangle 48"/>
          <p:cNvSpPr/>
          <p:nvPr/>
        </p:nvSpPr>
        <p:spPr>
          <a:xfrm>
            <a:off x="1371600" y="5897880"/>
            <a:ext cx="9418320" cy="347472"/>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54480" y="5934456"/>
            <a:ext cx="2286000" cy="274320"/>
          </a:xfrm>
          <a:prstGeom prst="rect">
            <a:avLst/>
          </a:prstGeom>
          <a:noFill/>
        </p:spPr>
        <p:txBody>
          <a:bodyPr wrap="square">
            <a:spAutoFit/>
          </a:bodyPr>
          <a:lstStyle/>
          <a:p>
            <a:pPr algn="l">
              <a:lnSpc>
                <a:spcPts val="1439"/>
              </a:lnSpc>
              <a:spcAft>
                <a:spcPts val="359"/>
              </a:spcAft>
              <a:defRPr sz="1200" b="0">
                <a:solidFill>
                  <a:srgbClr val="89B4FA"/>
                </a:solidFill>
                <a:latin typeface="Cascadia Code"/>
              </a:defRPr>
            </a:pPr>
            <a:r>
              <a:t>promptkit-pull-request</a:t>
            </a:r>
          </a:p>
        </p:txBody>
      </p:sp>
      <p:sp>
        <p:nvSpPr>
          <p:cNvPr id="51" name="TextBox 50"/>
          <p:cNvSpPr txBox="1"/>
          <p:nvPr/>
        </p:nvSpPr>
        <p:spPr>
          <a:xfrm>
            <a:off x="3931920" y="5934456"/>
            <a:ext cx="411480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PromptKit contribution PRs</a:t>
            </a:r>
          </a:p>
        </p:txBody>
      </p:sp>
      <p:sp>
        <p:nvSpPr>
          <p:cNvPr id="52" name="TextBox 51"/>
          <p:cNvSpPr txBox="1"/>
          <p:nvPr/>
        </p:nvSpPr>
        <p:spPr>
          <a:xfrm>
            <a:off x="8229600" y="5934456"/>
            <a:ext cx="2286000" cy="274320"/>
          </a:xfrm>
          <a:prstGeom prst="rect">
            <a:avLst/>
          </a:prstGeom>
          <a:noFill/>
        </p:spPr>
        <p:txBody>
          <a:bodyPr wrap="square">
            <a:spAutoFit/>
          </a:bodyPr>
          <a:lstStyle/>
          <a:p>
            <a:pPr algn="l">
              <a:lnSpc>
                <a:spcPts val="1200"/>
              </a:lnSpc>
              <a:spcAft>
                <a:spcPts val="300"/>
              </a:spcAft>
              <a:defRPr sz="1000" b="0">
                <a:solidFill>
                  <a:srgbClr val="6C7086"/>
                </a:solidFill>
                <a:latin typeface="Cascadia Code"/>
              </a:defRPr>
            </a:pPr>
            <a:r>
              <a:t>promptkit-pull-request</a:t>
            </a:r>
          </a:p>
        </p:txBody>
      </p:sp>
      <p:sp>
        <p:nvSpPr>
          <p:cNvPr id="53" name="TextBox 52"/>
          <p:cNvSpPr txBox="1"/>
          <p:nvPr/>
        </p:nvSpPr>
        <p:spPr>
          <a:xfrm>
            <a:off x="1371600" y="6400800"/>
            <a:ext cx="941832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Each format declares a produces field → enables pipeline chaining between templates</a:t>
            </a:r>
          </a:p>
        </p:txBody>
      </p:sp>
      <p:sp>
        <p:nvSpPr>
          <p:cNvPr id="54" name="TextBox 53"/>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Investigation Report</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The most common output format — 9 structured sections</a:t>
            </a:r>
          </a:p>
        </p:txBody>
      </p:sp>
      <p:sp>
        <p:nvSpPr>
          <p:cNvPr id="5" name="Rounded Rectangle 4"/>
          <p:cNvSpPr/>
          <p:nvPr/>
        </p:nvSpPr>
        <p:spPr>
          <a:xfrm>
            <a:off x="731520" y="1371600"/>
            <a:ext cx="5029200" cy="16459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1463040"/>
          </a:xfrm>
          <a:prstGeom prst="rect">
            <a:avLst/>
          </a:prstGeom>
          <a:noFill/>
        </p:spPr>
        <p:txBody>
          <a:bodyPr wrap="square">
            <a:spAutoFit/>
          </a:bodyPr>
          <a:lstStyle/>
          <a:p>
            <a:pPr algn="l">
              <a:lnSpc>
                <a:spcPts val="1560"/>
              </a:lnSpc>
              <a:spcAft>
                <a:spcPts val="359"/>
              </a:spcAft>
              <a:defRPr sz="1200" b="0">
                <a:solidFill>
                  <a:srgbClr val="A6E3A1"/>
                </a:solidFill>
                <a:latin typeface="Cascadia Code"/>
              </a:defRPr>
            </a:pPr>
            <a:r>
              <a:t>---</a:t>
            </a:r>
            <a:br/>
            <a:r>
              <a:t>name: investigation-report</a:t>
            </a:r>
            <a:br/>
            <a:r>
              <a:t>type: format</a:t>
            </a:r>
            <a:br/>
            <a:r>
              <a:t>produces: investigation-report</a:t>
            </a:r>
            <a:br/>
            <a:r>
              <a:t>description: &gt;</a:t>
            </a:r>
            <a:br/>
            <a:r>
              <a:t>  Structured findings with root cause analysis</a:t>
            </a:r>
            <a:br/>
            <a:r>
              <a:t>---</a:t>
            </a:r>
          </a:p>
        </p:txBody>
      </p:sp>
      <p:sp>
        <p:nvSpPr>
          <p:cNvPr id="7" name="TextBox 6"/>
          <p:cNvSpPr txBox="1"/>
          <p:nvPr/>
        </p:nvSpPr>
        <p:spPr>
          <a:xfrm>
            <a:off x="731520" y="3291840"/>
            <a:ext cx="5029200" cy="32004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Required Sections</a:t>
            </a:r>
          </a:p>
        </p:txBody>
      </p:sp>
      <p:sp>
        <p:nvSpPr>
          <p:cNvPr id="8" name="TextBox 7"/>
          <p:cNvSpPr txBox="1"/>
          <p:nvPr/>
        </p:nvSpPr>
        <p:spPr>
          <a:xfrm>
            <a:off x="731520" y="3749039"/>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1. Executive Summary</a:t>
            </a:r>
          </a:p>
        </p:txBody>
      </p:sp>
      <p:sp>
        <p:nvSpPr>
          <p:cNvPr id="9" name="TextBox 8"/>
          <p:cNvSpPr txBox="1"/>
          <p:nvPr/>
        </p:nvSpPr>
        <p:spPr>
          <a:xfrm>
            <a:off x="3291840" y="3749039"/>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2-4 sentence overview of findings</a:t>
            </a:r>
          </a:p>
        </p:txBody>
      </p:sp>
      <p:sp>
        <p:nvSpPr>
          <p:cNvPr id="10" name="TextBox 9"/>
          <p:cNvSpPr txBox="1"/>
          <p:nvPr/>
        </p:nvSpPr>
        <p:spPr>
          <a:xfrm>
            <a:off x="731520" y="4078224"/>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2. Problem Statement</a:t>
            </a:r>
          </a:p>
        </p:txBody>
      </p:sp>
      <p:sp>
        <p:nvSpPr>
          <p:cNvPr id="11" name="TextBox 10"/>
          <p:cNvSpPr txBox="1"/>
          <p:nvPr/>
        </p:nvSpPr>
        <p:spPr>
          <a:xfrm>
            <a:off x="3291840" y="4078224"/>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What was reported and by whom</a:t>
            </a:r>
          </a:p>
        </p:txBody>
      </p:sp>
      <p:sp>
        <p:nvSpPr>
          <p:cNvPr id="12" name="TextBox 11"/>
          <p:cNvSpPr txBox="1"/>
          <p:nvPr/>
        </p:nvSpPr>
        <p:spPr>
          <a:xfrm>
            <a:off x="731520" y="4407407"/>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3. Investigation Scope</a:t>
            </a:r>
          </a:p>
        </p:txBody>
      </p:sp>
      <p:sp>
        <p:nvSpPr>
          <p:cNvPr id="13" name="TextBox 12"/>
          <p:cNvSpPr txBox="1"/>
          <p:nvPr/>
        </p:nvSpPr>
        <p:spPr>
          <a:xfrm>
            <a:off x="3291840" y="4407407"/>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Boundaries + limitations of the analysis</a:t>
            </a:r>
          </a:p>
        </p:txBody>
      </p:sp>
      <p:sp>
        <p:nvSpPr>
          <p:cNvPr id="14" name="TextBox 13"/>
          <p:cNvSpPr txBox="1"/>
          <p:nvPr/>
        </p:nvSpPr>
        <p:spPr>
          <a:xfrm>
            <a:off x="731520" y="4736592"/>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4. Findings (F-NNN)</a:t>
            </a:r>
          </a:p>
        </p:txBody>
      </p:sp>
      <p:sp>
        <p:nvSpPr>
          <p:cNvPr id="15" name="TextBox 14"/>
          <p:cNvSpPr txBox="1"/>
          <p:nvPr/>
        </p:nvSpPr>
        <p:spPr>
          <a:xfrm>
            <a:off x="3291840" y="4736592"/>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Severity-ordered, classified findings</a:t>
            </a:r>
          </a:p>
        </p:txBody>
      </p:sp>
      <p:sp>
        <p:nvSpPr>
          <p:cNvPr id="16" name="TextBox 15"/>
          <p:cNvSpPr txBox="1"/>
          <p:nvPr/>
        </p:nvSpPr>
        <p:spPr>
          <a:xfrm>
            <a:off x="731520" y="5065775"/>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5. Root Cause Analysis</a:t>
            </a:r>
          </a:p>
        </p:txBody>
      </p:sp>
      <p:sp>
        <p:nvSpPr>
          <p:cNvPr id="17" name="TextBox 16"/>
          <p:cNvSpPr txBox="1"/>
          <p:nvPr/>
        </p:nvSpPr>
        <p:spPr>
          <a:xfrm>
            <a:off x="3291840" y="5065775"/>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Full causal chain, root vs proximate</a:t>
            </a:r>
          </a:p>
        </p:txBody>
      </p:sp>
      <p:sp>
        <p:nvSpPr>
          <p:cNvPr id="18" name="TextBox 17"/>
          <p:cNvSpPr txBox="1"/>
          <p:nvPr/>
        </p:nvSpPr>
        <p:spPr>
          <a:xfrm>
            <a:off x="731520" y="5394959"/>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6. Remediation Plan</a:t>
            </a:r>
          </a:p>
        </p:txBody>
      </p:sp>
      <p:sp>
        <p:nvSpPr>
          <p:cNvPr id="19" name="TextBox 18"/>
          <p:cNvSpPr txBox="1"/>
          <p:nvPr/>
        </p:nvSpPr>
        <p:spPr>
          <a:xfrm>
            <a:off x="3291840" y="5394959"/>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Priority table with effort estimates</a:t>
            </a:r>
          </a:p>
        </p:txBody>
      </p:sp>
      <p:sp>
        <p:nvSpPr>
          <p:cNvPr id="20" name="TextBox 19"/>
          <p:cNvSpPr txBox="1"/>
          <p:nvPr/>
        </p:nvSpPr>
        <p:spPr>
          <a:xfrm>
            <a:off x="731520" y="5724144"/>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7. Prevention</a:t>
            </a:r>
          </a:p>
        </p:txBody>
      </p:sp>
      <p:sp>
        <p:nvSpPr>
          <p:cNvPr id="21" name="TextBox 20"/>
          <p:cNvSpPr txBox="1"/>
          <p:nvPr/>
        </p:nvSpPr>
        <p:spPr>
          <a:xfrm>
            <a:off x="3291840" y="5724144"/>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Code, process, and tooling changes</a:t>
            </a:r>
          </a:p>
        </p:txBody>
      </p:sp>
      <p:sp>
        <p:nvSpPr>
          <p:cNvPr id="22" name="TextBox 21"/>
          <p:cNvSpPr txBox="1"/>
          <p:nvPr/>
        </p:nvSpPr>
        <p:spPr>
          <a:xfrm>
            <a:off x="731520" y="6053327"/>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8. Open Questions</a:t>
            </a:r>
          </a:p>
        </p:txBody>
      </p:sp>
      <p:sp>
        <p:nvSpPr>
          <p:cNvPr id="23" name="TextBox 22"/>
          <p:cNvSpPr txBox="1"/>
          <p:nvPr/>
        </p:nvSpPr>
        <p:spPr>
          <a:xfrm>
            <a:off x="3291840" y="6053327"/>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What remains unknown or unverified</a:t>
            </a:r>
          </a:p>
        </p:txBody>
      </p:sp>
      <p:sp>
        <p:nvSpPr>
          <p:cNvPr id="24" name="TextBox 23"/>
          <p:cNvSpPr txBox="1"/>
          <p:nvPr/>
        </p:nvSpPr>
        <p:spPr>
          <a:xfrm>
            <a:off x="731520" y="6382512"/>
            <a:ext cx="2560320" cy="320040"/>
          </a:xfrm>
          <a:prstGeom prst="rect">
            <a:avLst/>
          </a:prstGeom>
          <a:noFill/>
        </p:spPr>
        <p:txBody>
          <a:bodyPr wrap="square">
            <a:spAutoFit/>
          </a:bodyPr>
          <a:lstStyle/>
          <a:p>
            <a:pPr algn="l">
              <a:lnSpc>
                <a:spcPts val="1439"/>
              </a:lnSpc>
              <a:spcAft>
                <a:spcPts val="359"/>
              </a:spcAft>
              <a:defRPr sz="1200" b="1">
                <a:solidFill>
                  <a:srgbClr val="CDD6F4"/>
                </a:solidFill>
                <a:latin typeface="Segoe UI"/>
              </a:defRPr>
            </a:pPr>
            <a:r>
              <a:t>9. Revision History</a:t>
            </a:r>
          </a:p>
        </p:txBody>
      </p:sp>
      <p:sp>
        <p:nvSpPr>
          <p:cNvPr id="25" name="TextBox 24"/>
          <p:cNvSpPr txBox="1"/>
          <p:nvPr/>
        </p:nvSpPr>
        <p:spPr>
          <a:xfrm>
            <a:off x="3291840" y="6382512"/>
            <a:ext cx="365760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Audit trail of report changes</a:t>
            </a:r>
          </a:p>
        </p:txBody>
      </p:sp>
      <p:sp>
        <p:nvSpPr>
          <p:cNvPr id="26" name="TextBox 25"/>
          <p:cNvSpPr txBox="1"/>
          <p:nvPr/>
        </p:nvSpPr>
        <p:spPr>
          <a:xfrm>
            <a:off x="6400800" y="1371600"/>
            <a:ext cx="50292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Format Rules</a:t>
            </a:r>
          </a:p>
        </p:txBody>
      </p:sp>
      <p:sp>
        <p:nvSpPr>
          <p:cNvPr id="27" name="Rectangle 26"/>
          <p:cNvSpPr/>
          <p:nvPr/>
        </p:nvSpPr>
        <p:spPr>
          <a:xfrm>
            <a:off x="6400800" y="18288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9400" y="18288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Severity ordering</a:t>
            </a:r>
          </a:p>
        </p:txBody>
      </p:sp>
      <p:sp>
        <p:nvSpPr>
          <p:cNvPr id="29" name="TextBox 28"/>
          <p:cNvSpPr txBox="1"/>
          <p:nvPr/>
        </p:nvSpPr>
        <p:spPr>
          <a:xfrm>
            <a:off x="6629400" y="21031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Findings presented Critical → High →</a:t>
            </a:r>
            <a:br/>
            <a:r>
              <a:t>Medium → Low → Informational</a:t>
            </a:r>
          </a:p>
        </p:txBody>
      </p:sp>
      <p:sp>
        <p:nvSpPr>
          <p:cNvPr id="30" name="Rectangle 29"/>
          <p:cNvSpPr/>
          <p:nvPr/>
        </p:nvSpPr>
        <p:spPr>
          <a:xfrm>
            <a:off x="6400800" y="27432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9400" y="27432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F-NNN identifiers</a:t>
            </a:r>
          </a:p>
        </p:txBody>
      </p:sp>
      <p:sp>
        <p:nvSpPr>
          <p:cNvPr id="32" name="TextBox 31"/>
          <p:cNvSpPr txBox="1"/>
          <p:nvPr/>
        </p:nvSpPr>
        <p:spPr>
          <a:xfrm>
            <a:off x="6629400" y="30175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Every finding gets a unique ID</a:t>
            </a:r>
            <a:br/>
            <a:r>
              <a:t>for cross-referencing</a:t>
            </a:r>
          </a:p>
        </p:txBody>
      </p:sp>
      <p:sp>
        <p:nvSpPr>
          <p:cNvPr id="33" name="Rectangle 32"/>
          <p:cNvSpPr/>
          <p:nvPr/>
        </p:nvSpPr>
        <p:spPr>
          <a:xfrm>
            <a:off x="6400800" y="36576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6576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Causal chains</a:t>
            </a:r>
          </a:p>
        </p:txBody>
      </p:sp>
      <p:sp>
        <p:nvSpPr>
          <p:cNvPr id="35" name="TextBox 34"/>
          <p:cNvSpPr txBox="1"/>
          <p:nvPr/>
        </p:nvSpPr>
        <p:spPr>
          <a:xfrm>
            <a:off x="6629400" y="39319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Root cause must trace back to</a:t>
            </a:r>
            <a:br/>
            <a:r>
              <a:t>the proximate symptom</a:t>
            </a:r>
          </a:p>
        </p:txBody>
      </p:sp>
      <p:sp>
        <p:nvSpPr>
          <p:cNvPr id="36" name="Rectangle 35"/>
          <p:cNvSpPr/>
          <p:nvPr/>
        </p:nvSpPr>
        <p:spPr>
          <a:xfrm>
            <a:off x="6400800" y="45720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5720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Remediation table</a:t>
            </a:r>
          </a:p>
        </p:txBody>
      </p:sp>
      <p:sp>
        <p:nvSpPr>
          <p:cNvPr id="38" name="TextBox 37"/>
          <p:cNvSpPr txBox="1"/>
          <p:nvPr/>
        </p:nvSpPr>
        <p:spPr>
          <a:xfrm>
            <a:off x="6629400" y="48463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Each finding maps to a fix</a:t>
            </a:r>
            <a:br/>
            <a:r>
              <a:t>with priority and effort</a:t>
            </a:r>
          </a:p>
        </p:txBody>
      </p:sp>
      <p:sp>
        <p:nvSpPr>
          <p:cNvPr id="39" name="Rectangle 38"/>
          <p:cNvSpPr/>
          <p:nvPr/>
        </p:nvSpPr>
        <p:spPr>
          <a:xfrm>
            <a:off x="6400800" y="5486400"/>
            <a:ext cx="54864" cy="6858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48640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Non-goals section</a:t>
            </a:r>
          </a:p>
        </p:txBody>
      </p:sp>
      <p:sp>
        <p:nvSpPr>
          <p:cNvPr id="41" name="TextBox 40"/>
          <p:cNvSpPr txBox="1"/>
          <p:nvPr/>
        </p:nvSpPr>
        <p:spPr>
          <a:xfrm>
            <a:off x="6629400" y="5760720"/>
            <a:ext cx="5029200" cy="45720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Explicitly state what is NOT</a:t>
            </a:r>
            <a:br/>
            <a:r>
              <a:t>in scope for this report</a:t>
            </a:r>
          </a:p>
        </p:txBody>
      </p:sp>
      <p:sp>
        <p:nvSpPr>
          <p:cNvPr id="42" name="TextBox 41"/>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Template Anatomy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⑤ — The task declaration</a:t>
            </a:r>
          </a:p>
        </p:txBody>
      </p:sp>
      <p:sp>
        <p:nvSpPr>
          <p:cNvPr id="5" name="Rounded Rectangle 4"/>
          <p:cNvSpPr/>
          <p:nvPr/>
        </p:nvSpPr>
        <p:spPr>
          <a:xfrm>
            <a:off x="731520" y="1371600"/>
            <a:ext cx="5029200" cy="4572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4389120"/>
          </a:xfrm>
          <a:prstGeom prst="rect">
            <a:avLst/>
          </a:prstGeom>
          <a:noFill/>
        </p:spPr>
        <p:txBody>
          <a:bodyPr wrap="square">
            <a:spAutoFit/>
          </a:bodyPr>
          <a:lstStyle/>
          <a:p>
            <a:pPr algn="l">
              <a:lnSpc>
                <a:spcPts val="1430"/>
              </a:lnSpc>
              <a:spcAft>
                <a:spcPts val="330"/>
              </a:spcAft>
              <a:defRPr sz="1100" b="0">
                <a:solidFill>
                  <a:srgbClr val="A6E3A1"/>
                </a:solidFill>
                <a:latin typeface="Cascadia Code"/>
              </a:defRPr>
            </a:pPr>
            <a:r>
              <a:t>---</a:t>
            </a:r>
            <a:br/>
            <a:r>
              <a:t>name: investigate-bug</a:t>
            </a:r>
            <a:br/>
            <a:r>
              <a:t>description: &gt;</a:t>
            </a:r>
            <a:br/>
            <a:r>
              <a:t>  Systematically investigate a bug.</a:t>
            </a:r>
            <a:br/>
            <a:r>
              <a:t>  Apply root cause analysis and produce</a:t>
            </a:r>
            <a:br/>
            <a:r>
              <a:t>  an investigation report.</a:t>
            </a:r>
            <a:br/>
            <a:r>
              <a:t>persona: systems-engineer</a:t>
            </a:r>
            <a:br/>
            <a:r>
              <a:t>protocols:</a:t>
            </a:r>
            <a:br/>
            <a:r>
              <a:t>  - guardrails/anti-hallucination</a:t>
            </a:r>
            <a:br/>
            <a:r>
              <a:t>  - guardrails/self-verification</a:t>
            </a:r>
            <a:br/>
            <a:r>
              <a:t>  - guardrails/operational-constraints</a:t>
            </a:r>
            <a:br/>
            <a:r>
              <a:t>  - reasoning/root-cause-analysis</a:t>
            </a:r>
            <a:br/>
            <a:r>
              <a:t>format: investigation-report</a:t>
            </a:r>
            <a:br/>
            <a:r>
              <a:t>params:</a:t>
            </a:r>
            <a:br/>
            <a:r>
              <a:t>  problem_description: "Bug description"</a:t>
            </a:r>
            <a:br/>
            <a:r>
              <a:t>  code_context: "Relevant code/logs"</a:t>
            </a:r>
            <a:br/>
            <a:r>
              <a:t>  environment: "OS, runtime, build"</a:t>
            </a:r>
            <a:br/>
            <a:r>
              <a:t>input_contract: null</a:t>
            </a:r>
            <a:br/>
            <a:r>
              <a:t>output_contract:</a:t>
            </a:r>
            <a:br/>
            <a:r>
              <a:t>  type: investigation-report</a:t>
            </a:r>
            <a:br/>
            <a:r>
              <a:t>---</a:t>
            </a:r>
          </a:p>
        </p:txBody>
      </p:sp>
      <p:sp>
        <p:nvSpPr>
          <p:cNvPr id="7" name="TextBox 6"/>
          <p:cNvSpPr txBox="1"/>
          <p:nvPr/>
        </p:nvSpPr>
        <p:spPr>
          <a:xfrm>
            <a:off x="6126480" y="1371600"/>
            <a:ext cx="2286000" cy="274320"/>
          </a:xfrm>
          <a:prstGeom prst="rect">
            <a:avLst/>
          </a:prstGeom>
          <a:noFill/>
        </p:spPr>
        <p:txBody>
          <a:bodyPr wrap="square">
            <a:spAutoFit/>
          </a:bodyPr>
          <a:lstStyle/>
          <a:p>
            <a:pPr algn="l">
              <a:lnSpc>
                <a:spcPts val="1800"/>
              </a:lnSpc>
              <a:spcAft>
                <a:spcPts val="450"/>
              </a:spcAft>
              <a:defRPr sz="1500" b="1">
                <a:solidFill>
                  <a:srgbClr val="89B4FA"/>
                </a:solidFill>
                <a:latin typeface="Cascadia Code"/>
              </a:defRPr>
            </a:pPr>
            <a:r>
              <a:t>persona:</a:t>
            </a:r>
          </a:p>
        </p:txBody>
      </p:sp>
      <p:sp>
        <p:nvSpPr>
          <p:cNvPr id="8" name="TextBox 7"/>
          <p:cNvSpPr txBox="1"/>
          <p:nvPr/>
        </p:nvSpPr>
        <p:spPr>
          <a:xfrm>
            <a:off x="6126480" y="16642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persona file.</a:t>
            </a:r>
            <a:br/>
            <a:r>
              <a:t>Becomes the # Identity section.</a:t>
            </a:r>
          </a:p>
        </p:txBody>
      </p:sp>
      <p:sp>
        <p:nvSpPr>
          <p:cNvPr id="9" name="TextBox 8"/>
          <p:cNvSpPr txBox="1"/>
          <p:nvPr/>
        </p:nvSpPr>
        <p:spPr>
          <a:xfrm>
            <a:off x="6126480" y="2194560"/>
            <a:ext cx="2286000" cy="274320"/>
          </a:xfrm>
          <a:prstGeom prst="rect">
            <a:avLst/>
          </a:prstGeom>
          <a:noFill/>
        </p:spPr>
        <p:txBody>
          <a:bodyPr wrap="square">
            <a:spAutoFit/>
          </a:bodyPr>
          <a:lstStyle/>
          <a:p>
            <a:pPr algn="l">
              <a:lnSpc>
                <a:spcPts val="1800"/>
              </a:lnSpc>
              <a:spcAft>
                <a:spcPts val="450"/>
              </a:spcAft>
              <a:defRPr sz="1500" b="1">
                <a:solidFill>
                  <a:srgbClr val="A6E3A1"/>
                </a:solidFill>
                <a:latin typeface="Cascadia Code"/>
              </a:defRPr>
            </a:pPr>
            <a:r>
              <a:t>protocols:</a:t>
            </a:r>
          </a:p>
        </p:txBody>
      </p:sp>
      <p:sp>
        <p:nvSpPr>
          <p:cNvPr id="10" name="TextBox 9"/>
          <p:cNvSpPr txBox="1"/>
          <p:nvPr/>
        </p:nvSpPr>
        <p:spPr>
          <a:xfrm>
            <a:off x="6126480" y="248716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List of category/name paths.</a:t>
            </a:r>
            <a:br/>
            <a:r>
              <a:t>Each loaded as # Reasoning Protocol.</a:t>
            </a:r>
          </a:p>
        </p:txBody>
      </p:sp>
      <p:sp>
        <p:nvSpPr>
          <p:cNvPr id="11" name="TextBox 10"/>
          <p:cNvSpPr txBox="1"/>
          <p:nvPr/>
        </p:nvSpPr>
        <p:spPr>
          <a:xfrm>
            <a:off x="6126480" y="3017520"/>
            <a:ext cx="2286000" cy="274320"/>
          </a:xfrm>
          <a:prstGeom prst="rect">
            <a:avLst/>
          </a:prstGeom>
          <a:noFill/>
        </p:spPr>
        <p:txBody>
          <a:bodyPr wrap="square">
            <a:spAutoFit/>
          </a:bodyPr>
          <a:lstStyle/>
          <a:p>
            <a:pPr algn="l">
              <a:lnSpc>
                <a:spcPts val="1800"/>
              </a:lnSpc>
              <a:spcAft>
                <a:spcPts val="450"/>
              </a:spcAft>
              <a:defRPr sz="1500" b="1">
                <a:solidFill>
                  <a:srgbClr val="F9E2AF"/>
                </a:solidFill>
                <a:latin typeface="Cascadia Code"/>
              </a:defRPr>
            </a:pPr>
            <a:r>
              <a:t>format:</a:t>
            </a:r>
          </a:p>
        </p:txBody>
      </p:sp>
      <p:sp>
        <p:nvSpPr>
          <p:cNvPr id="12" name="TextBox 11"/>
          <p:cNvSpPr txBox="1"/>
          <p:nvPr/>
        </p:nvSpPr>
        <p:spPr>
          <a:xfrm>
            <a:off x="6126480" y="331012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format file.</a:t>
            </a:r>
            <a:br/>
            <a:r>
              <a:t>Becomes the # Output Format section.</a:t>
            </a:r>
          </a:p>
        </p:txBody>
      </p:sp>
      <p:sp>
        <p:nvSpPr>
          <p:cNvPr id="13" name="TextBox 12"/>
          <p:cNvSpPr txBox="1"/>
          <p:nvPr/>
        </p:nvSpPr>
        <p:spPr>
          <a:xfrm>
            <a:off x="6126480" y="3840480"/>
            <a:ext cx="2286000" cy="274320"/>
          </a:xfrm>
          <a:prstGeom prst="rect">
            <a:avLst/>
          </a:prstGeom>
          <a:noFill/>
        </p:spPr>
        <p:txBody>
          <a:bodyPr wrap="square">
            <a:spAutoFit/>
          </a:bodyPr>
          <a:lstStyle/>
          <a:p>
            <a:pPr algn="l">
              <a:lnSpc>
                <a:spcPts val="1800"/>
              </a:lnSpc>
              <a:spcAft>
                <a:spcPts val="450"/>
              </a:spcAft>
              <a:defRPr sz="1500" b="1">
                <a:solidFill>
                  <a:srgbClr val="FAB387"/>
                </a:solidFill>
                <a:latin typeface="Cascadia Code"/>
              </a:defRPr>
            </a:pPr>
            <a:r>
              <a:t>params:</a:t>
            </a:r>
          </a:p>
        </p:txBody>
      </p:sp>
      <p:sp>
        <p:nvSpPr>
          <p:cNvPr id="14" name="TextBox 13"/>
          <p:cNvSpPr txBox="1"/>
          <p:nvPr/>
        </p:nvSpPr>
        <p:spPr>
          <a:xfrm>
            <a:off x="6126480" y="413308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Key-value map → {{param}} placeholders</a:t>
            </a:r>
            <a:br/>
            <a:r>
              <a:t>in template body get substituted.</a:t>
            </a:r>
          </a:p>
        </p:txBody>
      </p:sp>
      <p:sp>
        <p:nvSpPr>
          <p:cNvPr id="15" name="TextBox 14"/>
          <p:cNvSpPr txBox="1"/>
          <p:nvPr/>
        </p:nvSpPr>
        <p:spPr>
          <a:xfrm>
            <a:off x="6126480" y="4663440"/>
            <a:ext cx="2286000" cy="274320"/>
          </a:xfrm>
          <a:prstGeom prst="rect">
            <a:avLst/>
          </a:prstGeom>
          <a:noFill/>
        </p:spPr>
        <p:txBody>
          <a:bodyPr wrap="square">
            <a:spAutoFit/>
          </a:bodyPr>
          <a:lstStyle/>
          <a:p>
            <a:pPr algn="l">
              <a:lnSpc>
                <a:spcPts val="1800"/>
              </a:lnSpc>
              <a:spcAft>
                <a:spcPts val="450"/>
              </a:spcAft>
              <a:defRPr sz="1500" b="1">
                <a:solidFill>
                  <a:srgbClr val="F38BA8"/>
                </a:solidFill>
                <a:latin typeface="Cascadia Code"/>
              </a:defRPr>
            </a:pPr>
            <a:r>
              <a:t>input_contract:</a:t>
            </a:r>
          </a:p>
        </p:txBody>
      </p:sp>
      <p:sp>
        <p:nvSpPr>
          <p:cNvPr id="16" name="TextBox 15"/>
          <p:cNvSpPr txBox="1"/>
          <p:nvPr/>
        </p:nvSpPr>
        <p:spPr>
          <a:xfrm>
            <a:off x="6126480" y="495604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consumes.</a:t>
            </a:r>
            <a:br/>
            <a:r>
              <a:t>null = no prerequisite.</a:t>
            </a:r>
          </a:p>
        </p:txBody>
      </p:sp>
      <p:sp>
        <p:nvSpPr>
          <p:cNvPr id="17" name="TextBox 16"/>
          <p:cNvSpPr txBox="1"/>
          <p:nvPr/>
        </p:nvSpPr>
        <p:spPr>
          <a:xfrm>
            <a:off x="6126480" y="5486400"/>
            <a:ext cx="2286000" cy="274320"/>
          </a:xfrm>
          <a:prstGeom prst="rect">
            <a:avLst/>
          </a:prstGeom>
          <a:noFill/>
        </p:spPr>
        <p:txBody>
          <a:bodyPr wrap="square">
            <a:spAutoFit/>
          </a:bodyPr>
          <a:lstStyle/>
          <a:p>
            <a:pPr algn="l">
              <a:lnSpc>
                <a:spcPts val="1800"/>
              </a:lnSpc>
              <a:spcAft>
                <a:spcPts val="450"/>
              </a:spcAft>
              <a:defRPr sz="1500" b="1">
                <a:solidFill>
                  <a:srgbClr val="CBA6F7"/>
                </a:solidFill>
                <a:latin typeface="Cascadia Code"/>
              </a:defRPr>
            </a:pPr>
            <a:r>
              <a:t>output_contract:</a:t>
            </a:r>
          </a:p>
        </p:txBody>
      </p:sp>
      <p:sp>
        <p:nvSpPr>
          <p:cNvPr id="18" name="TextBox 17"/>
          <p:cNvSpPr txBox="1"/>
          <p:nvPr/>
        </p:nvSpPr>
        <p:spPr>
          <a:xfrm>
            <a:off x="6126480" y="57790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produces.</a:t>
            </a:r>
            <a:br/>
            <a:r>
              <a:t>Enables pipeline chaining.</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Manifest: Source of Truth</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manifest.yaml — the component registry</a:t>
            </a:r>
          </a:p>
        </p:txBody>
      </p:sp>
      <p:sp>
        <p:nvSpPr>
          <p:cNvPr id="5" name="Rounded Rectangle 4"/>
          <p:cNvSpPr/>
          <p:nvPr/>
        </p:nvSpPr>
        <p:spPr>
          <a:xfrm>
            <a:off x="731520" y="1371600"/>
            <a:ext cx="502920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663440" cy="4572000"/>
          </a:xfrm>
          <a:prstGeom prst="rect">
            <a:avLst/>
          </a:prstGeom>
          <a:noFill/>
        </p:spPr>
        <p:txBody>
          <a:bodyPr wrap="square">
            <a:spAutoFit/>
          </a:bodyPr>
          <a:lstStyle/>
          <a:p>
            <a:pPr algn="l">
              <a:lnSpc>
                <a:spcPts val="1300"/>
              </a:lnSpc>
              <a:spcAft>
                <a:spcPts val="300"/>
              </a:spcAft>
              <a:defRPr sz="1000" b="0">
                <a:solidFill>
                  <a:srgbClr val="A6E3A1"/>
                </a:solidFill>
                <a:latin typeface="Cascadia Code"/>
              </a:defRPr>
            </a:pPr>
            <a:r>
              <a:t># manifest.yaml</a:t>
            </a:r>
            <a:br/>
            <a:r>
              <a:t>version: "0.2.0"</a:t>
            </a:r>
            <a:br/>
            <a:r>
              <a:t>personas:</a:t>
            </a:r>
            <a:br/>
            <a:r>
              <a:t>  - name: systems-engineer</a:t>
            </a:r>
            <a:br/>
            <a:r>
              <a:t>    path: personas/systems-engineer.md</a:t>
            </a:r>
            <a:br/>
            <a:r>
              <a:t>protocols:</a:t>
            </a:r>
            <a:br/>
            <a:r>
              <a:t>  guardrails:</a:t>
            </a:r>
            <a:br/>
            <a:r>
              <a:t>    - name: anti-hallucination</a:t>
            </a:r>
            <a:br/>
            <a:r>
              <a:t>      path: protocols/guardrails/...</a:t>
            </a:r>
            <a:br/>
            <a:r>
              <a:t>  analysis:</a:t>
            </a:r>
            <a:br/>
            <a:r>
              <a:t>    - name: memory-safety-c</a:t>
            </a:r>
            <a:br/>
            <a:r>
              <a:t>  reasoning:</a:t>
            </a:r>
            <a:br/>
            <a:r>
              <a:t>    - name: root-cause-analysis</a:t>
            </a:r>
            <a:br/>
            <a:r>
              <a:t>formats:</a:t>
            </a:r>
            <a:br/>
            <a:r>
              <a:t>  - name: investigation-report</a:t>
            </a:r>
            <a:br/>
            <a:r>
              <a:t>    produces: investigation-report</a:t>
            </a:r>
            <a:br/>
            <a:r>
              <a:t>templates:</a:t>
            </a:r>
            <a:br/>
            <a:r>
              <a:t>  investigation:</a:t>
            </a:r>
            <a:br/>
            <a:r>
              <a:t>    - name: investigate-bug</a:t>
            </a:r>
            <a:br/>
            <a:r>
              <a:t>      protocols: [anti-hallucination, ...]</a:t>
            </a:r>
            <a:br/>
            <a:r>
              <a:t>      format: investigation-report</a:t>
            </a:r>
            <a:br/>
            <a:r>
              <a:t>pipelines:</a:t>
            </a:r>
            <a:br/>
            <a:r>
              <a:t>  document-lifecycle:</a:t>
            </a:r>
            <a:br/>
            <a:r>
              <a:t>    stages:</a:t>
            </a:r>
            <a:br/>
            <a:r>
              <a:t>      - template: author-requirements-doc</a:t>
            </a:r>
            <a:br/>
            <a:r>
              <a:t>        produces: requirements-document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Key Rules</a:t>
            </a:r>
          </a:p>
        </p:txBody>
      </p:sp>
      <p:sp>
        <p:nvSpPr>
          <p:cNvPr id="8" name="Rectangle 7"/>
          <p:cNvSpPr/>
          <p:nvPr/>
        </p:nvSpPr>
        <p:spPr>
          <a:xfrm>
            <a:off x="6217920" y="1920240"/>
            <a:ext cx="54864" cy="9144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92024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Protocol naming duality</a:t>
            </a:r>
          </a:p>
        </p:txBody>
      </p:sp>
      <p:sp>
        <p:nvSpPr>
          <p:cNvPr id="10" name="TextBox 9"/>
          <p:cNvSpPr txBox="1"/>
          <p:nvPr/>
        </p:nvSpPr>
        <p:spPr>
          <a:xfrm>
            <a:off x="6446520" y="2194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Templates use category paths:</a:t>
            </a:r>
            <a:br/>
            <a:r>
              <a:t>  guardrails/anti-hallucination</a:t>
            </a:r>
            <a:br/>
            <a:r>
              <a:t>Manifest uses short names:</a:t>
            </a:r>
            <a:br/>
            <a:r>
              <a:t>  anti-hallucination</a:t>
            </a:r>
            <a:br/>
            <a:r>
              <a:t>CI enforces they stay in sync.</a:t>
            </a:r>
          </a:p>
        </p:txBody>
      </p:sp>
      <p:sp>
        <p:nvSpPr>
          <p:cNvPr id="11" name="Rectangle 10"/>
          <p:cNvSpPr/>
          <p:nvPr/>
        </p:nvSpPr>
        <p:spPr>
          <a:xfrm>
            <a:off x="6217920" y="3063240"/>
            <a:ext cx="54864" cy="9144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063240"/>
            <a:ext cx="5029200" cy="274320"/>
          </a:xfrm>
          <a:prstGeom prst="rect">
            <a:avLst/>
          </a:prstGeom>
          <a:noFill/>
        </p:spPr>
        <p:txBody>
          <a:bodyPr wrap="square">
            <a:spAutoFit/>
          </a:bodyPr>
          <a:lstStyle/>
          <a:p>
            <a:pPr algn="l">
              <a:lnSpc>
                <a:spcPts val="1680"/>
              </a:lnSpc>
              <a:spcAft>
                <a:spcPts val="420"/>
              </a:spcAft>
              <a:defRPr sz="1400" b="1">
                <a:solidFill>
                  <a:srgbClr val="A6E3A1"/>
                </a:solidFill>
                <a:latin typeface="Segoe UI"/>
              </a:defRPr>
            </a:pPr>
            <a:r>
              <a:t>Path resolution</a:t>
            </a:r>
          </a:p>
        </p:txBody>
      </p:sp>
      <p:sp>
        <p:nvSpPr>
          <p:cNvPr id="13" name="TextBox 12"/>
          <p:cNvSpPr txBox="1"/>
          <p:nvPr/>
        </p:nvSpPr>
        <p:spPr>
          <a:xfrm>
            <a:off x="6446520" y="3337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Every component has a path field</a:t>
            </a:r>
            <a:br/>
            <a:r>
              <a:t>pointing to its .md source file.</a:t>
            </a:r>
            <a:br/>
            <a:r>
              <a:t>Assembly engine reads these paths.</a:t>
            </a:r>
          </a:p>
        </p:txBody>
      </p:sp>
      <p:sp>
        <p:nvSpPr>
          <p:cNvPr id="14" name="Rectangle 13"/>
          <p:cNvSpPr/>
          <p:nvPr/>
        </p:nvSpPr>
        <p:spPr>
          <a:xfrm>
            <a:off x="6217920" y="4206240"/>
            <a:ext cx="54864" cy="91440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06240"/>
            <a:ext cx="5029200" cy="274320"/>
          </a:xfrm>
          <a:prstGeom prst="rect">
            <a:avLst/>
          </a:prstGeom>
          <a:noFill/>
        </p:spPr>
        <p:txBody>
          <a:bodyPr wrap="square">
            <a:spAutoFit/>
          </a:bodyPr>
          <a:lstStyle/>
          <a:p>
            <a:pPr algn="l">
              <a:lnSpc>
                <a:spcPts val="1680"/>
              </a:lnSpc>
              <a:spcAft>
                <a:spcPts val="420"/>
              </a:spcAft>
              <a:defRPr sz="1400" b="1">
                <a:solidFill>
                  <a:srgbClr val="F9E2AF"/>
                </a:solidFill>
                <a:latin typeface="Segoe UI"/>
              </a:defRPr>
            </a:pPr>
            <a:r>
              <a:t>Pipeline stages</a:t>
            </a:r>
          </a:p>
        </p:txBody>
      </p:sp>
      <p:sp>
        <p:nvSpPr>
          <p:cNvPr id="16" name="TextBox 15"/>
          <p:cNvSpPr txBox="1"/>
          <p:nvPr/>
        </p:nvSpPr>
        <p:spPr>
          <a:xfrm>
            <a:off x="6446520" y="4480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produces/consumes fields enable</a:t>
            </a:r>
            <a:br/>
            <a:r>
              <a:t>the bootstrap engine to validate</a:t>
            </a:r>
            <a:br/>
            <a:r>
              <a:t>chaining and suggest next stages.</a:t>
            </a:r>
          </a:p>
        </p:txBody>
      </p:sp>
      <p:sp>
        <p:nvSpPr>
          <p:cNvPr id="17" name="Rectangle 16"/>
          <p:cNvSpPr/>
          <p:nvPr/>
        </p:nvSpPr>
        <p:spPr>
          <a:xfrm>
            <a:off x="6217920" y="5349240"/>
            <a:ext cx="54864" cy="9144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5349240"/>
            <a:ext cx="5029200" cy="274320"/>
          </a:xfrm>
          <a:prstGeom prst="rect">
            <a:avLst/>
          </a:prstGeom>
          <a:noFill/>
        </p:spPr>
        <p:txBody>
          <a:bodyPr wrap="square">
            <a:spAutoFit/>
          </a:bodyPr>
          <a:lstStyle/>
          <a:p>
            <a:pPr algn="l">
              <a:lnSpc>
                <a:spcPts val="1680"/>
              </a:lnSpc>
              <a:spcAft>
                <a:spcPts val="420"/>
              </a:spcAft>
              <a:defRPr sz="1400" b="1">
                <a:solidFill>
                  <a:srgbClr val="FAB387"/>
                </a:solidFill>
                <a:latin typeface="Segoe UI"/>
              </a:defRPr>
            </a:pPr>
            <a:r>
              <a:t>CI validation</a:t>
            </a:r>
          </a:p>
        </p:txBody>
      </p:sp>
      <p:sp>
        <p:nvSpPr>
          <p:cNvPr id="19" name="TextBox 18"/>
          <p:cNvSpPr txBox="1"/>
          <p:nvPr/>
        </p:nvSpPr>
        <p:spPr>
          <a:xfrm>
            <a:off x="6446520" y="5623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tests/validate-manifest.py checks</a:t>
            </a:r>
            <a:br/>
            <a:r>
              <a:t>that manifest protocols match</a:t>
            </a:r>
            <a:br/>
            <a:r>
              <a:t>template frontmatter protocols.</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Bootstrap Flow</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bootstrap.md — the meta-prompt that drives composition</a:t>
            </a:r>
          </a:p>
        </p:txBody>
      </p:sp>
      <p:sp>
        <p:nvSpPr>
          <p:cNvPr id="5" name="Rounded Rectangle 4"/>
          <p:cNvSpPr/>
          <p:nvPr/>
        </p:nvSpPr>
        <p:spPr>
          <a:xfrm>
            <a:off x="7237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2374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946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1</a:t>
            </a:r>
          </a:p>
        </p:txBody>
      </p:sp>
      <p:sp>
        <p:nvSpPr>
          <p:cNvPr id="8" name="TextBox 7"/>
          <p:cNvSpPr txBox="1"/>
          <p:nvPr/>
        </p:nvSpPr>
        <p:spPr>
          <a:xfrm>
            <a:off x="7694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Understand</a:t>
            </a:r>
            <a:br/>
            <a:r>
              <a:t>the task</a:t>
            </a:r>
          </a:p>
        </p:txBody>
      </p:sp>
      <p:sp>
        <p:nvSpPr>
          <p:cNvPr id="9" name="TextBox 8"/>
          <p:cNvSpPr txBox="1"/>
          <p:nvPr/>
        </p:nvSpPr>
        <p:spPr>
          <a:xfrm>
            <a:off x="7694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Ask user what they</a:t>
            </a:r>
            <a:br/>
            <a:r>
              <a:t>want to accomplish</a:t>
            </a:r>
          </a:p>
        </p:txBody>
      </p:sp>
      <p:sp>
        <p:nvSpPr>
          <p:cNvPr id="10" name="TextBox 9"/>
          <p:cNvSpPr txBox="1"/>
          <p:nvPr/>
        </p:nvSpPr>
        <p:spPr>
          <a:xfrm>
            <a:off x="20953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1" name="Rounded Rectangle 10"/>
          <p:cNvSpPr/>
          <p:nvPr/>
        </p:nvSpPr>
        <p:spPr>
          <a:xfrm>
            <a:off x="22782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78227" y="1554480"/>
            <a:ext cx="141732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3947" y="1691640"/>
            <a:ext cx="1325880" cy="274320"/>
          </a:xfrm>
          <a:prstGeom prst="rect">
            <a:avLst/>
          </a:prstGeom>
          <a:noFill/>
        </p:spPr>
        <p:txBody>
          <a:bodyPr wrap="square">
            <a:spAutoFit/>
          </a:bodyPr>
          <a:lstStyle/>
          <a:p>
            <a:pPr algn="ctr">
              <a:lnSpc>
                <a:spcPts val="2879"/>
              </a:lnSpc>
              <a:spcAft>
                <a:spcPts val="719"/>
              </a:spcAft>
              <a:defRPr sz="2400" b="1">
                <a:solidFill>
                  <a:srgbClr val="A6E3A1"/>
                </a:solidFill>
                <a:latin typeface="Segoe UI"/>
              </a:defRPr>
            </a:pPr>
            <a:r>
              <a:t>2</a:t>
            </a:r>
          </a:p>
        </p:txBody>
      </p:sp>
      <p:sp>
        <p:nvSpPr>
          <p:cNvPr id="14" name="TextBox 13"/>
          <p:cNvSpPr txBox="1"/>
          <p:nvPr/>
        </p:nvSpPr>
        <p:spPr>
          <a:xfrm>
            <a:off x="23239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Read</a:t>
            </a:r>
            <a:br/>
            <a:r>
              <a:t>manifest</a:t>
            </a:r>
          </a:p>
        </p:txBody>
      </p:sp>
      <p:sp>
        <p:nvSpPr>
          <p:cNvPr id="15" name="TextBox 14"/>
          <p:cNvSpPr txBox="1"/>
          <p:nvPr/>
        </p:nvSpPr>
        <p:spPr>
          <a:xfrm>
            <a:off x="23239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Discover all available</a:t>
            </a:r>
            <a:br/>
            <a:r>
              <a:t>components</a:t>
            </a:r>
          </a:p>
        </p:txBody>
      </p:sp>
      <p:sp>
        <p:nvSpPr>
          <p:cNvPr id="16" name="TextBox 15"/>
          <p:cNvSpPr txBox="1"/>
          <p:nvPr/>
        </p:nvSpPr>
        <p:spPr>
          <a:xfrm>
            <a:off x="364982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7" name="Rounded Rectangle 16"/>
          <p:cNvSpPr/>
          <p:nvPr/>
        </p:nvSpPr>
        <p:spPr>
          <a:xfrm>
            <a:off x="383270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32707" y="1554480"/>
            <a:ext cx="141732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8427" y="1691640"/>
            <a:ext cx="1325880" cy="274320"/>
          </a:xfrm>
          <a:prstGeom prst="rect">
            <a:avLst/>
          </a:prstGeom>
          <a:noFill/>
        </p:spPr>
        <p:txBody>
          <a:bodyPr wrap="square">
            <a:spAutoFit/>
          </a:bodyPr>
          <a:lstStyle/>
          <a:p>
            <a:pPr algn="ctr">
              <a:lnSpc>
                <a:spcPts val="2879"/>
              </a:lnSpc>
              <a:spcAft>
                <a:spcPts val="719"/>
              </a:spcAft>
              <a:defRPr sz="2400" b="1">
                <a:solidFill>
                  <a:srgbClr val="F9E2AF"/>
                </a:solidFill>
                <a:latin typeface="Segoe UI"/>
              </a:defRPr>
            </a:pPr>
            <a:r>
              <a:t>3</a:t>
            </a:r>
          </a:p>
        </p:txBody>
      </p:sp>
      <p:sp>
        <p:nvSpPr>
          <p:cNvPr id="20" name="TextBox 19"/>
          <p:cNvSpPr txBox="1"/>
          <p:nvPr/>
        </p:nvSpPr>
        <p:spPr>
          <a:xfrm>
            <a:off x="387842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Select</a:t>
            </a:r>
            <a:br/>
            <a:r>
              <a:t>template</a:t>
            </a:r>
          </a:p>
        </p:txBody>
      </p:sp>
      <p:sp>
        <p:nvSpPr>
          <p:cNvPr id="21" name="TextBox 20"/>
          <p:cNvSpPr txBox="1"/>
          <p:nvPr/>
        </p:nvSpPr>
        <p:spPr>
          <a:xfrm>
            <a:off x="387842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Match task to</a:t>
            </a:r>
            <a:br/>
            <a:r>
              <a:t>best template</a:t>
            </a:r>
          </a:p>
        </p:txBody>
      </p:sp>
      <p:sp>
        <p:nvSpPr>
          <p:cNvPr id="22" name="TextBox 21"/>
          <p:cNvSpPr txBox="1"/>
          <p:nvPr/>
        </p:nvSpPr>
        <p:spPr>
          <a:xfrm>
            <a:off x="520430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3" name="Rounded Rectangle 22"/>
          <p:cNvSpPr/>
          <p:nvPr/>
        </p:nvSpPr>
        <p:spPr>
          <a:xfrm>
            <a:off x="538718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87187" y="1554480"/>
            <a:ext cx="141732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32907" y="1691640"/>
            <a:ext cx="1325880" cy="274320"/>
          </a:xfrm>
          <a:prstGeom prst="rect">
            <a:avLst/>
          </a:prstGeom>
          <a:noFill/>
        </p:spPr>
        <p:txBody>
          <a:bodyPr wrap="square">
            <a:spAutoFit/>
          </a:bodyPr>
          <a:lstStyle/>
          <a:p>
            <a:pPr algn="ctr">
              <a:lnSpc>
                <a:spcPts val="2879"/>
              </a:lnSpc>
              <a:spcAft>
                <a:spcPts val="719"/>
              </a:spcAft>
              <a:defRPr sz="2400" b="1">
                <a:solidFill>
                  <a:srgbClr val="FAB387"/>
                </a:solidFill>
                <a:latin typeface="Segoe UI"/>
              </a:defRPr>
            </a:pPr>
            <a:r>
              <a:t>4</a:t>
            </a:r>
          </a:p>
        </p:txBody>
      </p:sp>
      <p:sp>
        <p:nvSpPr>
          <p:cNvPr id="26" name="TextBox 25"/>
          <p:cNvSpPr txBox="1"/>
          <p:nvPr/>
        </p:nvSpPr>
        <p:spPr>
          <a:xfrm>
            <a:off x="543290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Check</a:t>
            </a:r>
            <a:br/>
            <a:r>
              <a:t>mode</a:t>
            </a:r>
          </a:p>
        </p:txBody>
      </p:sp>
      <p:sp>
        <p:nvSpPr>
          <p:cNvPr id="27" name="TextBox 26"/>
          <p:cNvSpPr txBox="1"/>
          <p:nvPr/>
        </p:nvSpPr>
        <p:spPr>
          <a:xfrm>
            <a:off x="543290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Interactive → execute</a:t>
            </a:r>
            <a:br/>
            <a:r>
              <a:t>Single-shot → file</a:t>
            </a:r>
          </a:p>
        </p:txBody>
      </p:sp>
      <p:sp>
        <p:nvSpPr>
          <p:cNvPr id="28" name="TextBox 27"/>
          <p:cNvSpPr txBox="1"/>
          <p:nvPr/>
        </p:nvSpPr>
        <p:spPr>
          <a:xfrm>
            <a:off x="675878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9" name="Rounded Rectangle 28"/>
          <p:cNvSpPr/>
          <p:nvPr/>
        </p:nvSpPr>
        <p:spPr>
          <a:xfrm>
            <a:off x="694166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41667" y="1554480"/>
            <a:ext cx="141732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7387" y="1691640"/>
            <a:ext cx="1325880" cy="274320"/>
          </a:xfrm>
          <a:prstGeom prst="rect">
            <a:avLst/>
          </a:prstGeom>
          <a:noFill/>
        </p:spPr>
        <p:txBody>
          <a:bodyPr wrap="square">
            <a:spAutoFit/>
          </a:bodyPr>
          <a:lstStyle/>
          <a:p>
            <a:pPr algn="ctr">
              <a:lnSpc>
                <a:spcPts val="2879"/>
              </a:lnSpc>
              <a:spcAft>
                <a:spcPts val="719"/>
              </a:spcAft>
              <a:defRPr sz="2400" b="1">
                <a:solidFill>
                  <a:srgbClr val="F38BA8"/>
                </a:solidFill>
                <a:latin typeface="Segoe UI"/>
              </a:defRPr>
            </a:pPr>
            <a:r>
              <a:t>5</a:t>
            </a:r>
          </a:p>
        </p:txBody>
      </p:sp>
      <p:sp>
        <p:nvSpPr>
          <p:cNvPr id="32" name="TextBox 31"/>
          <p:cNvSpPr txBox="1"/>
          <p:nvPr/>
        </p:nvSpPr>
        <p:spPr>
          <a:xfrm>
            <a:off x="698738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Collect</a:t>
            </a:r>
            <a:br/>
            <a:r>
              <a:t>params</a:t>
            </a:r>
          </a:p>
        </p:txBody>
      </p:sp>
      <p:sp>
        <p:nvSpPr>
          <p:cNvPr id="33" name="TextBox 32"/>
          <p:cNvSpPr txBox="1"/>
          <p:nvPr/>
        </p:nvSpPr>
        <p:spPr>
          <a:xfrm>
            <a:off x="698738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Gather template-</a:t>
            </a:r>
            <a:br/>
            <a:r>
              <a:t>specific inputs</a:t>
            </a:r>
          </a:p>
        </p:txBody>
      </p:sp>
      <p:sp>
        <p:nvSpPr>
          <p:cNvPr id="34" name="TextBox 33"/>
          <p:cNvSpPr txBox="1"/>
          <p:nvPr/>
        </p:nvSpPr>
        <p:spPr>
          <a:xfrm>
            <a:off x="831326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35" name="Rounded Rectangle 34"/>
          <p:cNvSpPr/>
          <p:nvPr/>
        </p:nvSpPr>
        <p:spPr>
          <a:xfrm>
            <a:off x="84961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96147" y="1554480"/>
            <a:ext cx="1417320" cy="4572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1867" y="1691640"/>
            <a:ext cx="1325880" cy="274320"/>
          </a:xfrm>
          <a:prstGeom prst="rect">
            <a:avLst/>
          </a:prstGeom>
          <a:noFill/>
        </p:spPr>
        <p:txBody>
          <a:bodyPr wrap="square">
            <a:spAutoFit/>
          </a:bodyPr>
          <a:lstStyle/>
          <a:p>
            <a:pPr algn="ctr">
              <a:lnSpc>
                <a:spcPts val="2879"/>
              </a:lnSpc>
              <a:spcAft>
                <a:spcPts val="719"/>
              </a:spcAft>
              <a:defRPr sz="2400" b="1">
                <a:solidFill>
                  <a:srgbClr val="CBA6F7"/>
                </a:solidFill>
                <a:latin typeface="Segoe UI"/>
              </a:defRPr>
            </a:pPr>
            <a:r>
              <a:t>6</a:t>
            </a:r>
          </a:p>
        </p:txBody>
      </p:sp>
      <p:sp>
        <p:nvSpPr>
          <p:cNvPr id="38" name="TextBox 37"/>
          <p:cNvSpPr txBox="1"/>
          <p:nvPr/>
        </p:nvSpPr>
        <p:spPr>
          <a:xfrm>
            <a:off x="85418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Assemble</a:t>
            </a:r>
          </a:p>
        </p:txBody>
      </p:sp>
      <p:sp>
        <p:nvSpPr>
          <p:cNvPr id="39" name="TextBox 38"/>
          <p:cNvSpPr txBox="1"/>
          <p:nvPr/>
        </p:nvSpPr>
        <p:spPr>
          <a:xfrm>
            <a:off x="85418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Compose layers</a:t>
            </a:r>
            <a:br/>
            <a:r>
              <a:t>in order</a:t>
            </a:r>
          </a:p>
        </p:txBody>
      </p:sp>
      <p:sp>
        <p:nvSpPr>
          <p:cNvPr id="40" name="TextBox 39"/>
          <p:cNvSpPr txBox="1"/>
          <p:nvPr/>
        </p:nvSpPr>
        <p:spPr>
          <a:xfrm>
            <a:off x="98677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41" name="Rounded Rectangle 40"/>
          <p:cNvSpPr/>
          <p:nvPr/>
        </p:nvSpPr>
        <p:spPr>
          <a:xfrm>
            <a:off x="100506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05062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9634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7</a:t>
            </a:r>
          </a:p>
        </p:txBody>
      </p:sp>
      <p:sp>
        <p:nvSpPr>
          <p:cNvPr id="44" name="TextBox 43"/>
          <p:cNvSpPr txBox="1"/>
          <p:nvPr/>
        </p:nvSpPr>
        <p:spPr>
          <a:xfrm>
            <a:off x="100963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Output</a:t>
            </a:r>
          </a:p>
        </p:txBody>
      </p:sp>
      <p:sp>
        <p:nvSpPr>
          <p:cNvPr id="45" name="TextBox 44"/>
          <p:cNvSpPr txBox="1"/>
          <p:nvPr/>
        </p:nvSpPr>
        <p:spPr>
          <a:xfrm>
            <a:off x="100963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Write prompt file</a:t>
            </a:r>
            <a:br/>
            <a:r>
              <a:t>or execute directly</a:t>
            </a:r>
          </a:p>
        </p:txBody>
      </p:sp>
      <p:sp>
        <p:nvSpPr>
          <p:cNvPr id="46" name="Rounded Rectangle 45"/>
          <p:cNvSpPr/>
          <p:nvPr/>
        </p:nvSpPr>
        <p:spPr>
          <a:xfrm>
            <a:off x="7315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4297680"/>
            <a:ext cx="4846320" cy="274320"/>
          </a:xfrm>
          <a:prstGeom prst="rect">
            <a:avLst/>
          </a:prstGeom>
          <a:noFill/>
        </p:spPr>
        <p:txBody>
          <a:bodyPr wrap="square">
            <a:spAutoFit/>
          </a:bodyPr>
          <a:lstStyle/>
          <a:p>
            <a:pPr algn="l">
              <a:lnSpc>
                <a:spcPts val="1800"/>
              </a:lnSpc>
              <a:spcAft>
                <a:spcPts val="450"/>
              </a:spcAft>
              <a:defRPr sz="1500" b="1">
                <a:solidFill>
                  <a:srgbClr val="89B4FA"/>
                </a:solidFill>
                <a:latin typeface="Segoe UI"/>
              </a:defRPr>
            </a:pPr>
            <a:r>
              <a:t>Single-Shot Mode (default)</a:t>
            </a:r>
          </a:p>
        </p:txBody>
      </p:sp>
      <p:sp>
        <p:nvSpPr>
          <p:cNvPr id="48" name="TextBox 47"/>
          <p:cNvSpPr txBox="1"/>
          <p:nvPr/>
        </p:nvSpPr>
        <p:spPr>
          <a:xfrm>
            <a:off x="9144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Gather params → assemble prompt → write .md file</a:t>
            </a:r>
            <a:br/>
            <a:r>
              <a:t>User pastes into any LLM session</a:t>
            </a:r>
            <a:br/>
            <a:br/>
            <a:r>
              <a:t>Output options:</a:t>
            </a:r>
            <a:br/>
            <a:r>
              <a:t>  (a) Raw prompt file</a:t>
            </a:r>
            <a:br/>
            <a:r>
              <a:t>  (b) Agent instructions (.github/instructions/,</a:t>
            </a:r>
            <a:br/>
            <a:r>
              <a:t>       CLAUDE.md, .cursorrules)</a:t>
            </a:r>
          </a:p>
        </p:txBody>
      </p:sp>
      <p:sp>
        <p:nvSpPr>
          <p:cNvPr id="49" name="Rounded Rectangle 48"/>
          <p:cNvSpPr/>
          <p:nvPr/>
        </p:nvSpPr>
        <p:spPr>
          <a:xfrm>
            <a:off x="62179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4297680"/>
            <a:ext cx="4846320" cy="274320"/>
          </a:xfrm>
          <a:prstGeom prst="rect">
            <a:avLst/>
          </a:prstGeom>
          <a:noFill/>
        </p:spPr>
        <p:txBody>
          <a:bodyPr wrap="square">
            <a:spAutoFit/>
          </a:bodyPr>
          <a:lstStyle/>
          <a:p>
            <a:pPr algn="l">
              <a:lnSpc>
                <a:spcPts val="1800"/>
              </a:lnSpc>
              <a:spcAft>
                <a:spcPts val="450"/>
              </a:spcAft>
              <a:defRPr sz="1500" b="1">
                <a:solidFill>
                  <a:srgbClr val="A6E3A1"/>
                </a:solidFill>
                <a:latin typeface="Segoe UI"/>
              </a:defRPr>
            </a:pPr>
            <a:r>
              <a:t>Interactive Mode</a:t>
            </a:r>
          </a:p>
        </p:txBody>
      </p:sp>
      <p:sp>
        <p:nvSpPr>
          <p:cNvPr id="51" name="TextBox 50"/>
          <p:cNvSpPr txBox="1"/>
          <p:nvPr/>
        </p:nvSpPr>
        <p:spPr>
          <a:xfrm>
            <a:off x="64008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Load components → execute directly in session</a:t>
            </a:r>
            <a:br/>
            <a:r>
              <a:t>Reasoning-and-challenge phase before output</a:t>
            </a:r>
            <a:br/>
            <a:br/>
            <a:r>
              <a:t>Template declares: mode: interactive</a:t>
            </a:r>
            <a:br/>
            <a:r>
              <a:t>Used by: extend-library, interactive-design</a:t>
            </a:r>
            <a:br/>
            <a:r>
              <a:t>No file written — LLM acts on the prompt live</a:t>
            </a:r>
          </a:p>
        </p:txBody>
      </p:sp>
      <p:sp>
        <p:nvSpPr>
          <p:cNvPr id="52" name="TextBox 51"/>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Assembly Engine Internals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cli/lib/assemble.js — how the sausage is made</a:t>
            </a:r>
          </a:p>
        </p:txBody>
      </p:sp>
      <p:sp>
        <p:nvSpPr>
          <p:cNvPr id="5" name="Rounded Rectangle 4"/>
          <p:cNvSpPr/>
          <p:nvPr/>
        </p:nvSpPr>
        <p:spPr>
          <a:xfrm>
            <a:off x="731520" y="146304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64008" cy="86868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286000" cy="320040"/>
          </a:xfrm>
          <a:prstGeom prst="rect">
            <a:avLst/>
          </a:prstGeom>
          <a:noFill/>
        </p:spPr>
        <p:txBody>
          <a:bodyPr wrap="square">
            <a:spAutoFit/>
          </a:bodyPr>
          <a:lstStyle/>
          <a:p>
            <a:pPr algn="l">
              <a:lnSpc>
                <a:spcPts val="1920"/>
              </a:lnSpc>
              <a:spcAft>
                <a:spcPts val="480"/>
              </a:spcAft>
              <a:defRPr sz="1600" b="1">
                <a:solidFill>
                  <a:srgbClr val="89B4FA"/>
                </a:solidFill>
                <a:latin typeface="Cascadia Code"/>
              </a:defRPr>
            </a:pPr>
            <a:r>
              <a:t># Identity</a:t>
            </a:r>
          </a:p>
        </p:txBody>
      </p:sp>
      <p:sp>
        <p:nvSpPr>
          <p:cNvPr id="8" name="TextBox 7"/>
          <p:cNvSpPr txBox="1"/>
          <p:nvPr/>
        </p:nvSpPr>
        <p:spPr>
          <a:xfrm>
            <a:off x="1005840" y="190195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persona .md, strip frontmatter</a:t>
            </a:r>
          </a:p>
        </p:txBody>
      </p:sp>
      <p:sp>
        <p:nvSpPr>
          <p:cNvPr id="9" name="TextBox 8"/>
          <p:cNvSpPr txBox="1"/>
          <p:nvPr/>
        </p:nvSpPr>
        <p:spPr>
          <a:xfrm>
            <a:off x="3017520" y="233172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0" name="Rounded Rectangle 9"/>
          <p:cNvSpPr/>
          <p:nvPr/>
        </p:nvSpPr>
        <p:spPr>
          <a:xfrm>
            <a:off x="731520" y="251460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514600"/>
            <a:ext cx="64008" cy="86868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587752"/>
            <a:ext cx="2286000" cy="320040"/>
          </a:xfrm>
          <a:prstGeom prst="rect">
            <a:avLst/>
          </a:prstGeom>
          <a:noFill/>
        </p:spPr>
        <p:txBody>
          <a:bodyPr wrap="square">
            <a:spAutoFit/>
          </a:bodyPr>
          <a:lstStyle/>
          <a:p>
            <a:pPr algn="l">
              <a:lnSpc>
                <a:spcPts val="1920"/>
              </a:lnSpc>
              <a:spcAft>
                <a:spcPts val="480"/>
              </a:spcAft>
              <a:defRPr sz="1600" b="1">
                <a:solidFill>
                  <a:srgbClr val="A6E3A1"/>
                </a:solidFill>
                <a:latin typeface="Cascadia Code"/>
              </a:defRPr>
            </a:pPr>
            <a:r>
              <a:t># Reasoning Protocols</a:t>
            </a:r>
          </a:p>
        </p:txBody>
      </p:sp>
      <p:sp>
        <p:nvSpPr>
          <p:cNvPr id="13" name="TextBox 12"/>
          <p:cNvSpPr txBox="1"/>
          <p:nvPr/>
        </p:nvSpPr>
        <p:spPr>
          <a:xfrm>
            <a:off x="1005840" y="295351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each protocol .md, join with ---</a:t>
            </a:r>
          </a:p>
        </p:txBody>
      </p:sp>
      <p:sp>
        <p:nvSpPr>
          <p:cNvPr id="14" name="TextBox 13"/>
          <p:cNvSpPr txBox="1"/>
          <p:nvPr/>
        </p:nvSpPr>
        <p:spPr>
          <a:xfrm>
            <a:off x="3017520" y="338328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5" name="Rounded Rectangle 14"/>
          <p:cNvSpPr/>
          <p:nvPr/>
        </p:nvSpPr>
        <p:spPr>
          <a:xfrm>
            <a:off x="731520" y="356616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566160"/>
            <a:ext cx="64008" cy="86868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639312"/>
            <a:ext cx="2286000" cy="320040"/>
          </a:xfrm>
          <a:prstGeom prst="rect">
            <a:avLst/>
          </a:prstGeom>
          <a:noFill/>
        </p:spPr>
        <p:txBody>
          <a:bodyPr wrap="square">
            <a:spAutoFit/>
          </a:bodyPr>
          <a:lstStyle/>
          <a:p>
            <a:pPr algn="l">
              <a:lnSpc>
                <a:spcPts val="1920"/>
              </a:lnSpc>
              <a:spcAft>
                <a:spcPts val="480"/>
              </a:spcAft>
              <a:defRPr sz="1600" b="1">
                <a:solidFill>
                  <a:srgbClr val="F9E2AF"/>
                </a:solidFill>
                <a:latin typeface="Cascadia Code"/>
              </a:defRPr>
            </a:pPr>
            <a:r>
              <a:t># Output Format</a:t>
            </a:r>
          </a:p>
        </p:txBody>
      </p:sp>
      <p:sp>
        <p:nvSpPr>
          <p:cNvPr id="18" name="TextBox 17"/>
          <p:cNvSpPr txBox="1"/>
          <p:nvPr/>
        </p:nvSpPr>
        <p:spPr>
          <a:xfrm>
            <a:off x="1005840" y="400507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format .md, strip frontmatter</a:t>
            </a:r>
          </a:p>
        </p:txBody>
      </p:sp>
      <p:sp>
        <p:nvSpPr>
          <p:cNvPr id="19" name="TextBox 18"/>
          <p:cNvSpPr txBox="1"/>
          <p:nvPr/>
        </p:nvSpPr>
        <p:spPr>
          <a:xfrm>
            <a:off x="3017520" y="443484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20" name="Rounded Rectangle 19"/>
          <p:cNvSpPr/>
          <p:nvPr/>
        </p:nvSpPr>
        <p:spPr>
          <a:xfrm>
            <a:off x="731520" y="461772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4617720"/>
            <a:ext cx="64008" cy="86868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690872"/>
            <a:ext cx="2286000" cy="320040"/>
          </a:xfrm>
          <a:prstGeom prst="rect">
            <a:avLst/>
          </a:prstGeom>
          <a:noFill/>
        </p:spPr>
        <p:txBody>
          <a:bodyPr wrap="square">
            <a:spAutoFit/>
          </a:bodyPr>
          <a:lstStyle/>
          <a:p>
            <a:pPr algn="l">
              <a:lnSpc>
                <a:spcPts val="1920"/>
              </a:lnSpc>
              <a:spcAft>
                <a:spcPts val="480"/>
              </a:spcAft>
              <a:defRPr sz="1600" b="1">
                <a:solidFill>
                  <a:srgbClr val="FAB387"/>
                </a:solidFill>
                <a:latin typeface="Cascadia Code"/>
              </a:defRPr>
            </a:pPr>
            <a:r>
              <a:t># Task</a:t>
            </a:r>
          </a:p>
        </p:txBody>
      </p:sp>
      <p:sp>
        <p:nvSpPr>
          <p:cNvPr id="23" name="TextBox 22"/>
          <p:cNvSpPr txBox="1"/>
          <p:nvPr/>
        </p:nvSpPr>
        <p:spPr>
          <a:xfrm>
            <a:off x="1005840" y="505663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template .md, substitute {{params}}</a:t>
            </a:r>
          </a:p>
        </p:txBody>
      </p:sp>
      <p:sp>
        <p:nvSpPr>
          <p:cNvPr id="24" name="TextBox 23"/>
          <p:cNvSpPr txBox="1"/>
          <p:nvPr/>
        </p:nvSpPr>
        <p:spPr>
          <a:xfrm>
            <a:off x="6217920" y="1463040"/>
            <a:ext cx="5029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Key Processing Steps</a:t>
            </a:r>
          </a:p>
        </p:txBody>
      </p:sp>
      <p:sp>
        <p:nvSpPr>
          <p:cNvPr id="25" name="TextBox 24"/>
          <p:cNvSpPr txBox="1"/>
          <p:nvPr/>
        </p:nvSpPr>
        <p:spPr>
          <a:xfrm>
            <a:off x="6217920" y="1920240"/>
            <a:ext cx="2743200" cy="228600"/>
          </a:xfrm>
          <a:prstGeom prst="rect">
            <a:avLst/>
          </a:prstGeom>
          <a:noFill/>
        </p:spPr>
        <p:txBody>
          <a:bodyPr wrap="square">
            <a:spAutoFit/>
          </a:bodyPr>
          <a:lstStyle/>
          <a:p>
            <a:pPr algn="l">
              <a:lnSpc>
                <a:spcPts val="1560"/>
              </a:lnSpc>
              <a:spcAft>
                <a:spcPts val="390"/>
              </a:spcAft>
              <a:defRPr sz="1300" b="1">
                <a:solidFill>
                  <a:srgbClr val="89B4FA"/>
                </a:solidFill>
                <a:latin typeface="Cascadia Code"/>
              </a:defRPr>
            </a:pPr>
            <a:r>
              <a:t>stripFrontmatter()</a:t>
            </a:r>
          </a:p>
        </p:txBody>
      </p:sp>
      <p:sp>
        <p:nvSpPr>
          <p:cNvPr id="26" name="TextBox 25"/>
          <p:cNvSpPr txBox="1"/>
          <p:nvPr/>
        </p:nvSpPr>
        <p:spPr>
          <a:xfrm>
            <a:off x="6217920" y="217627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YAML --- block from</a:t>
            </a:r>
            <a:br/>
            <a:r>
              <a:t>each component before assembly</a:t>
            </a:r>
          </a:p>
        </p:txBody>
      </p:sp>
      <p:sp>
        <p:nvSpPr>
          <p:cNvPr id="27" name="TextBox 26"/>
          <p:cNvSpPr txBox="1"/>
          <p:nvPr/>
        </p:nvSpPr>
        <p:spPr>
          <a:xfrm>
            <a:off x="6217920" y="2788920"/>
            <a:ext cx="2743200" cy="228600"/>
          </a:xfrm>
          <a:prstGeom prst="rect">
            <a:avLst/>
          </a:prstGeom>
          <a:noFill/>
        </p:spPr>
        <p:txBody>
          <a:bodyPr wrap="square">
            <a:spAutoFit/>
          </a:bodyPr>
          <a:lstStyle/>
          <a:p>
            <a:pPr algn="l">
              <a:lnSpc>
                <a:spcPts val="1560"/>
              </a:lnSpc>
              <a:spcAft>
                <a:spcPts val="390"/>
              </a:spcAft>
              <a:defRPr sz="1300" b="1">
                <a:solidFill>
                  <a:srgbClr val="A6E3A1"/>
                </a:solidFill>
                <a:latin typeface="Cascadia Code"/>
              </a:defRPr>
            </a:pPr>
            <a:r>
              <a:t>Strip HTML comments</a:t>
            </a:r>
          </a:p>
        </p:txBody>
      </p:sp>
      <p:sp>
        <p:nvSpPr>
          <p:cNvPr id="28" name="TextBox 27"/>
          <p:cNvSpPr txBox="1"/>
          <p:nvPr/>
        </p:nvSpPr>
        <p:spPr>
          <a:xfrm>
            <a:off x="6217920" y="304495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SPDX license headers</a:t>
            </a:r>
            <a:br/>
            <a:r>
              <a:t>(&lt;!-- ... --&gt; blocks)</a:t>
            </a:r>
          </a:p>
        </p:txBody>
      </p:sp>
      <p:sp>
        <p:nvSpPr>
          <p:cNvPr id="29" name="TextBox 28"/>
          <p:cNvSpPr txBox="1"/>
          <p:nvPr/>
        </p:nvSpPr>
        <p:spPr>
          <a:xfrm>
            <a:off x="6217920" y="3657600"/>
            <a:ext cx="2743200" cy="228600"/>
          </a:xfrm>
          <a:prstGeom prst="rect">
            <a:avLst/>
          </a:prstGeom>
          <a:noFill/>
        </p:spPr>
        <p:txBody>
          <a:bodyPr wrap="square">
            <a:spAutoFit/>
          </a:bodyPr>
          <a:lstStyle/>
          <a:p>
            <a:pPr algn="l">
              <a:lnSpc>
                <a:spcPts val="1560"/>
              </a:lnSpc>
              <a:spcAft>
                <a:spcPts val="390"/>
              </a:spcAft>
              <a:defRPr sz="1300" b="1">
                <a:solidFill>
                  <a:srgbClr val="F9E2AF"/>
                </a:solidFill>
                <a:latin typeface="Cascadia Code"/>
              </a:defRPr>
            </a:pPr>
            <a:r>
              <a:t>loadComponent()</a:t>
            </a:r>
          </a:p>
        </p:txBody>
      </p:sp>
      <p:sp>
        <p:nvSpPr>
          <p:cNvPr id="30" name="TextBox 29"/>
          <p:cNvSpPr txBox="1"/>
          <p:nvPr/>
        </p:nvSpPr>
        <p:spPr>
          <a:xfrm>
            <a:off x="6217920" y="391363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Reads file, strips frontmatter +</a:t>
            </a:r>
            <a:br/>
            <a:r>
              <a:t>comments, returns clean body</a:t>
            </a:r>
          </a:p>
        </p:txBody>
      </p:sp>
      <p:sp>
        <p:nvSpPr>
          <p:cNvPr id="31" name="TextBox 30"/>
          <p:cNvSpPr txBox="1"/>
          <p:nvPr/>
        </p:nvSpPr>
        <p:spPr>
          <a:xfrm>
            <a:off x="6217920" y="4526279"/>
            <a:ext cx="2743200" cy="228600"/>
          </a:xfrm>
          <a:prstGeom prst="rect">
            <a:avLst/>
          </a:prstGeom>
          <a:noFill/>
        </p:spPr>
        <p:txBody>
          <a:bodyPr wrap="square">
            <a:spAutoFit/>
          </a:bodyPr>
          <a:lstStyle/>
          <a:p>
            <a:pPr algn="l">
              <a:lnSpc>
                <a:spcPts val="1560"/>
              </a:lnSpc>
              <a:spcAft>
                <a:spcPts val="390"/>
              </a:spcAft>
              <a:defRPr sz="1300" b="1">
                <a:solidFill>
                  <a:srgbClr val="FAB387"/>
                </a:solidFill>
                <a:latin typeface="Cascadia Code"/>
              </a:defRPr>
            </a:pPr>
            <a:r>
              <a:t>Parameter substitution</a:t>
            </a:r>
          </a:p>
        </p:txBody>
      </p:sp>
      <p:sp>
        <p:nvSpPr>
          <p:cNvPr id="32" name="TextBox 31"/>
          <p:cNvSpPr txBox="1"/>
          <p:nvPr/>
        </p:nvSpPr>
        <p:spPr>
          <a:xfrm>
            <a:off x="6217920" y="4782311"/>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Simple {{key}} → value replacement</a:t>
            </a:r>
            <a:br/>
            <a:r>
              <a:t>via split/join (no recursion)</a:t>
            </a:r>
          </a:p>
        </p:txBody>
      </p:sp>
      <p:sp>
        <p:nvSpPr>
          <p:cNvPr id="33" name="TextBox 32"/>
          <p:cNvSpPr txBox="1"/>
          <p:nvPr/>
        </p:nvSpPr>
        <p:spPr>
          <a:xfrm>
            <a:off x="6217920" y="5394960"/>
            <a:ext cx="2743200" cy="228600"/>
          </a:xfrm>
          <a:prstGeom prst="rect">
            <a:avLst/>
          </a:prstGeom>
          <a:noFill/>
        </p:spPr>
        <p:txBody>
          <a:bodyPr wrap="square">
            <a:spAutoFit/>
          </a:bodyPr>
          <a:lstStyle/>
          <a:p>
            <a:pPr algn="l">
              <a:lnSpc>
                <a:spcPts val="1560"/>
              </a:lnSpc>
              <a:spcAft>
                <a:spcPts val="390"/>
              </a:spcAft>
              <a:defRPr sz="1300" b="1">
                <a:solidFill>
                  <a:srgbClr val="F38BA8"/>
                </a:solidFill>
                <a:latin typeface="Cascadia Code"/>
              </a:defRPr>
            </a:pPr>
            <a:r>
              <a:t>Section joining</a:t>
            </a:r>
          </a:p>
        </p:txBody>
      </p:sp>
      <p:sp>
        <p:nvSpPr>
          <p:cNvPr id="34" name="TextBox 33"/>
          <p:cNvSpPr txBox="1"/>
          <p:nvPr/>
        </p:nvSpPr>
        <p:spPr>
          <a:xfrm>
            <a:off x="6217920" y="565099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Sections separated by markdown</a:t>
            </a:r>
            <a:br/>
            <a:r>
              <a:t>horizontal rule (---)</a:t>
            </a:r>
          </a:p>
        </p:txBody>
      </p:sp>
      <p:sp>
        <p:nvSpPr>
          <p:cNvPr id="35" name="Rounded Rectangle 34"/>
          <p:cNvSpPr/>
          <p:nvPr/>
        </p:nvSpPr>
        <p:spPr>
          <a:xfrm>
            <a:off x="731520" y="5669280"/>
            <a:ext cx="10698480" cy="7315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 y="5760720"/>
            <a:ext cx="10149840" cy="548640"/>
          </a:xfrm>
          <a:prstGeom prst="rect">
            <a:avLst/>
          </a:prstGeom>
          <a:noFill/>
        </p:spPr>
        <p:txBody>
          <a:bodyPr wrap="square">
            <a:spAutoFit/>
          </a:bodyPr>
          <a:lstStyle/>
          <a:p>
            <a:pPr algn="ctr">
              <a:lnSpc>
                <a:spcPts val="1439"/>
              </a:lnSpc>
              <a:spcAft>
                <a:spcPts val="359"/>
              </a:spcAft>
              <a:defRPr sz="1200" b="0">
                <a:solidFill>
                  <a:srgbClr val="89B4FA"/>
                </a:solidFill>
                <a:latin typeface="Cascadia Code"/>
              </a:defRPr>
            </a:pPr>
            <a:r>
              <a:t>Output: Single markdown string  →  # Identity\n---\n# Reasoning Protocols\n---\n# Output Format\n---\n# Task</a:t>
            </a:r>
          </a:p>
        </p:txBody>
      </p:sp>
      <p:sp>
        <p:nvSpPr>
          <p:cNvPr id="37" name="TextBox 36"/>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Pipeline Chaining: Multi-Stage Workflows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Templates connected by input/output contracts</a:t>
            </a:r>
          </a:p>
        </p:txBody>
      </p:sp>
      <p:sp>
        <p:nvSpPr>
          <p:cNvPr id="5" name="Rounded Rectangle 4"/>
          <p:cNvSpPr/>
          <p:nvPr/>
        </p:nvSpPr>
        <p:spPr>
          <a:xfrm>
            <a:off x="152384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23847" y="1554480"/>
            <a:ext cx="256032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1528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requirements-doc</a:t>
            </a:r>
          </a:p>
        </p:txBody>
      </p:sp>
      <p:sp>
        <p:nvSpPr>
          <p:cNvPr id="8" name="TextBox 7"/>
          <p:cNvSpPr txBox="1"/>
          <p:nvPr/>
        </p:nvSpPr>
        <p:spPr>
          <a:xfrm>
            <a:off x="161528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9" name="TextBox 8"/>
          <p:cNvSpPr txBox="1"/>
          <p:nvPr/>
        </p:nvSpPr>
        <p:spPr>
          <a:xfrm>
            <a:off x="1615287" y="3108960"/>
            <a:ext cx="2377440" cy="64008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requirements-</a:t>
            </a:r>
            <a:br/>
            <a:r>
              <a:t>document</a:t>
            </a:r>
          </a:p>
        </p:txBody>
      </p:sp>
      <p:sp>
        <p:nvSpPr>
          <p:cNvPr id="10" name="TextBox 9"/>
          <p:cNvSpPr txBox="1"/>
          <p:nvPr/>
        </p:nvSpPr>
        <p:spPr>
          <a:xfrm>
            <a:off x="412988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1" name="Rounded Rectangle 10"/>
          <p:cNvSpPr/>
          <p:nvPr/>
        </p:nvSpPr>
        <p:spPr>
          <a:xfrm>
            <a:off x="481568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815687" y="1554480"/>
            <a:ext cx="256032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0712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design-doc</a:t>
            </a:r>
          </a:p>
        </p:txBody>
      </p:sp>
      <p:sp>
        <p:nvSpPr>
          <p:cNvPr id="14" name="TextBox 13"/>
          <p:cNvSpPr txBox="1"/>
          <p:nvPr/>
        </p:nvSpPr>
        <p:spPr>
          <a:xfrm>
            <a:off x="490712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15" name="TextBox 14"/>
          <p:cNvSpPr txBox="1"/>
          <p:nvPr/>
        </p:nvSpPr>
        <p:spPr>
          <a:xfrm>
            <a:off x="4907127" y="3108960"/>
            <a:ext cx="2377440" cy="640080"/>
          </a:xfrm>
          <a:prstGeom prst="rect">
            <a:avLst/>
          </a:prstGeom>
          <a:noFill/>
        </p:spPr>
        <p:txBody>
          <a:bodyPr wrap="square">
            <a:spAutoFit/>
          </a:bodyPr>
          <a:lstStyle/>
          <a:p>
            <a:pPr algn="ctr">
              <a:lnSpc>
                <a:spcPts val="1680"/>
              </a:lnSpc>
              <a:spcAft>
                <a:spcPts val="420"/>
              </a:spcAft>
              <a:defRPr sz="1400" b="0">
                <a:solidFill>
                  <a:srgbClr val="A6E3A1"/>
                </a:solidFill>
                <a:latin typeface="Cascadia Code"/>
              </a:defRPr>
            </a:pPr>
            <a:r>
              <a:t>design-</a:t>
            </a:r>
            <a:br/>
            <a:r>
              <a:t>document</a:t>
            </a:r>
          </a:p>
        </p:txBody>
      </p:sp>
      <p:sp>
        <p:nvSpPr>
          <p:cNvPr id="16" name="TextBox 15"/>
          <p:cNvSpPr txBox="1"/>
          <p:nvPr/>
        </p:nvSpPr>
        <p:spPr>
          <a:xfrm>
            <a:off x="742172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7" name="Rounded Rectangle 16"/>
          <p:cNvSpPr/>
          <p:nvPr/>
        </p:nvSpPr>
        <p:spPr>
          <a:xfrm>
            <a:off x="810752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7527" y="1554480"/>
            <a:ext cx="256032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896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validation-plan</a:t>
            </a:r>
          </a:p>
        </p:txBody>
      </p:sp>
      <p:sp>
        <p:nvSpPr>
          <p:cNvPr id="20" name="TextBox 19"/>
          <p:cNvSpPr txBox="1"/>
          <p:nvPr/>
        </p:nvSpPr>
        <p:spPr>
          <a:xfrm>
            <a:off x="819896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21" name="TextBox 20"/>
          <p:cNvSpPr txBox="1"/>
          <p:nvPr/>
        </p:nvSpPr>
        <p:spPr>
          <a:xfrm>
            <a:off x="8198967" y="3108960"/>
            <a:ext cx="2377440" cy="640080"/>
          </a:xfrm>
          <a:prstGeom prst="rect">
            <a:avLst/>
          </a:prstGeom>
          <a:noFill/>
        </p:spPr>
        <p:txBody>
          <a:bodyPr wrap="square">
            <a:spAutoFit/>
          </a:bodyPr>
          <a:lstStyle/>
          <a:p>
            <a:pPr algn="ctr">
              <a:lnSpc>
                <a:spcPts val="1680"/>
              </a:lnSpc>
              <a:spcAft>
                <a:spcPts val="420"/>
              </a:spcAft>
              <a:defRPr sz="1400" b="0">
                <a:solidFill>
                  <a:srgbClr val="F9E2AF"/>
                </a:solidFill>
                <a:latin typeface="Cascadia Code"/>
              </a:defRPr>
            </a:pPr>
            <a:r>
              <a:t>validation-</a:t>
            </a:r>
            <a:br/>
            <a:r>
              <a:t>plan</a:t>
            </a:r>
          </a:p>
        </p:txBody>
      </p:sp>
      <p:sp>
        <p:nvSpPr>
          <p:cNvPr id="22" name="Rounded Rectangle 21"/>
          <p:cNvSpPr/>
          <p:nvPr/>
        </p:nvSpPr>
        <p:spPr>
          <a:xfrm>
            <a:off x="731520" y="4206240"/>
            <a:ext cx="10698480" cy="21945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297680"/>
            <a:ext cx="4572000" cy="274320"/>
          </a:xfrm>
          <a:prstGeom prst="rect">
            <a:avLst/>
          </a:prstGeom>
          <a:noFill/>
        </p:spPr>
        <p:txBody>
          <a:bodyPr wrap="square">
            <a:spAutoFit/>
          </a:bodyPr>
          <a:lstStyle/>
          <a:p>
            <a:pPr algn="l">
              <a:lnSpc>
                <a:spcPts val="1920"/>
              </a:lnSpc>
              <a:spcAft>
                <a:spcPts val="480"/>
              </a:spcAft>
              <a:defRPr sz="1600" b="1">
                <a:solidFill>
                  <a:srgbClr val="89B4FA"/>
                </a:solidFill>
                <a:latin typeface="Segoe UI"/>
              </a:defRPr>
            </a:pPr>
            <a:r>
              <a:t>How contracts work:</a:t>
            </a:r>
          </a:p>
        </p:txBody>
      </p:sp>
      <p:sp>
        <p:nvSpPr>
          <p:cNvPr id="24" name="TextBox 23"/>
          <p:cNvSpPr txBox="1"/>
          <p:nvPr/>
        </p:nvSpPr>
        <p:spPr>
          <a:xfrm>
            <a:off x="1005840" y="4709160"/>
            <a:ext cx="365760" cy="274320"/>
          </a:xfrm>
          <a:prstGeom prst="rect">
            <a:avLst/>
          </a:prstGeom>
          <a:noFill/>
        </p:spPr>
        <p:txBody>
          <a:bodyPr wrap="square">
            <a:spAutoFit/>
          </a:bodyPr>
          <a:lstStyle/>
          <a:p>
            <a:pPr algn="l">
              <a:lnSpc>
                <a:spcPts val="1439"/>
              </a:lnSpc>
              <a:spcAft>
                <a:spcPts val="359"/>
              </a:spcAft>
              <a:defRPr sz="1200" b="1">
                <a:solidFill>
                  <a:srgbClr val="89B4FA"/>
                </a:solidFill>
                <a:latin typeface="Segoe UI"/>
              </a:defRPr>
            </a:pPr>
            <a:r>
              <a:t>1.</a:t>
            </a:r>
          </a:p>
        </p:txBody>
      </p:sp>
      <p:sp>
        <p:nvSpPr>
          <p:cNvPr id="25" name="TextBox 24"/>
          <p:cNvSpPr txBox="1"/>
          <p:nvPr/>
        </p:nvSpPr>
        <p:spPr>
          <a:xfrm>
            <a:off x="1371600" y="470916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Template declares</a:t>
            </a:r>
          </a:p>
        </p:txBody>
      </p:sp>
      <p:sp>
        <p:nvSpPr>
          <p:cNvPr id="26" name="TextBox 25"/>
          <p:cNvSpPr txBox="1"/>
          <p:nvPr/>
        </p:nvSpPr>
        <p:spPr>
          <a:xfrm>
            <a:off x="3474720" y="470916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output_contract: { type: requirements-document }</a:t>
            </a:r>
          </a:p>
        </p:txBody>
      </p:sp>
      <p:sp>
        <p:nvSpPr>
          <p:cNvPr id="27" name="TextBox 26"/>
          <p:cNvSpPr txBox="1"/>
          <p:nvPr/>
        </p:nvSpPr>
        <p:spPr>
          <a:xfrm>
            <a:off x="1005840" y="5029200"/>
            <a:ext cx="365760" cy="274320"/>
          </a:xfrm>
          <a:prstGeom prst="rect">
            <a:avLst/>
          </a:prstGeom>
          <a:noFill/>
        </p:spPr>
        <p:txBody>
          <a:bodyPr wrap="square">
            <a:spAutoFit/>
          </a:bodyPr>
          <a:lstStyle/>
          <a:p>
            <a:pPr algn="l">
              <a:lnSpc>
                <a:spcPts val="1439"/>
              </a:lnSpc>
              <a:spcAft>
                <a:spcPts val="359"/>
              </a:spcAft>
              <a:defRPr sz="1200" b="1">
                <a:solidFill>
                  <a:srgbClr val="A6E3A1"/>
                </a:solidFill>
                <a:latin typeface="Segoe UI"/>
              </a:defRPr>
            </a:pPr>
            <a:r>
              <a:t>2.</a:t>
            </a:r>
          </a:p>
        </p:txBody>
      </p:sp>
      <p:sp>
        <p:nvSpPr>
          <p:cNvPr id="28" name="TextBox 27"/>
          <p:cNvSpPr txBox="1"/>
          <p:nvPr/>
        </p:nvSpPr>
        <p:spPr>
          <a:xfrm>
            <a:off x="1371600" y="502920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Next template declares</a:t>
            </a:r>
          </a:p>
        </p:txBody>
      </p:sp>
      <p:sp>
        <p:nvSpPr>
          <p:cNvPr id="29" name="TextBox 28"/>
          <p:cNvSpPr txBox="1"/>
          <p:nvPr/>
        </p:nvSpPr>
        <p:spPr>
          <a:xfrm>
            <a:off x="3474720" y="502920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input_contract: { type: requirements-document }</a:t>
            </a:r>
          </a:p>
        </p:txBody>
      </p:sp>
      <p:sp>
        <p:nvSpPr>
          <p:cNvPr id="30" name="TextBox 29"/>
          <p:cNvSpPr txBox="1"/>
          <p:nvPr/>
        </p:nvSpPr>
        <p:spPr>
          <a:xfrm>
            <a:off x="1005840" y="5349240"/>
            <a:ext cx="365760" cy="274320"/>
          </a:xfrm>
          <a:prstGeom prst="rect">
            <a:avLst/>
          </a:prstGeom>
          <a:noFill/>
        </p:spPr>
        <p:txBody>
          <a:bodyPr wrap="square">
            <a:spAutoFit/>
          </a:bodyPr>
          <a:lstStyle/>
          <a:p>
            <a:pPr algn="l">
              <a:lnSpc>
                <a:spcPts val="1439"/>
              </a:lnSpc>
              <a:spcAft>
                <a:spcPts val="359"/>
              </a:spcAft>
              <a:defRPr sz="1200" b="1">
                <a:solidFill>
                  <a:srgbClr val="F9E2AF"/>
                </a:solidFill>
                <a:latin typeface="Segoe UI"/>
              </a:defRPr>
            </a:pPr>
            <a:r>
              <a:t>3.</a:t>
            </a:r>
          </a:p>
        </p:txBody>
      </p:sp>
      <p:sp>
        <p:nvSpPr>
          <p:cNvPr id="31" name="TextBox 30"/>
          <p:cNvSpPr txBox="1"/>
          <p:nvPr/>
        </p:nvSpPr>
        <p:spPr>
          <a:xfrm>
            <a:off x="1371600" y="534924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Manifest defines pipeline</a:t>
            </a:r>
          </a:p>
        </p:txBody>
      </p:sp>
      <p:sp>
        <p:nvSpPr>
          <p:cNvPr id="32" name="TextBox 31"/>
          <p:cNvSpPr txBox="1"/>
          <p:nvPr/>
        </p:nvSpPr>
        <p:spPr>
          <a:xfrm>
            <a:off x="3474720" y="534924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stages: [{produces: ...}, {consumes: ..., produces: ...}]</a:t>
            </a:r>
          </a:p>
        </p:txBody>
      </p:sp>
      <p:sp>
        <p:nvSpPr>
          <p:cNvPr id="33" name="TextBox 32"/>
          <p:cNvSpPr txBox="1"/>
          <p:nvPr/>
        </p:nvSpPr>
        <p:spPr>
          <a:xfrm>
            <a:off x="1005840" y="5669280"/>
            <a:ext cx="365760" cy="274320"/>
          </a:xfrm>
          <a:prstGeom prst="rect">
            <a:avLst/>
          </a:prstGeom>
          <a:noFill/>
        </p:spPr>
        <p:txBody>
          <a:bodyPr wrap="square">
            <a:spAutoFit/>
          </a:bodyPr>
          <a:lstStyle/>
          <a:p>
            <a:pPr algn="l">
              <a:lnSpc>
                <a:spcPts val="1439"/>
              </a:lnSpc>
              <a:spcAft>
                <a:spcPts val="359"/>
              </a:spcAft>
              <a:defRPr sz="1200" b="1">
                <a:solidFill>
                  <a:srgbClr val="FAB387"/>
                </a:solidFill>
                <a:latin typeface="Segoe UI"/>
              </a:defRPr>
            </a:pPr>
            <a:r>
              <a:t>4.</a:t>
            </a:r>
          </a:p>
        </p:txBody>
      </p:sp>
      <p:sp>
        <p:nvSpPr>
          <p:cNvPr id="34" name="TextBox 33"/>
          <p:cNvSpPr txBox="1"/>
          <p:nvPr/>
        </p:nvSpPr>
        <p:spPr>
          <a:xfrm>
            <a:off x="1371600" y="566928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Bootstrap validates</a:t>
            </a:r>
          </a:p>
        </p:txBody>
      </p:sp>
      <p:sp>
        <p:nvSpPr>
          <p:cNvPr id="35" name="TextBox 34"/>
          <p:cNvSpPr txBox="1"/>
          <p:nvPr/>
        </p:nvSpPr>
        <p:spPr>
          <a:xfrm>
            <a:off x="3474720" y="566928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Previous output matches next input before offering template</a:t>
            </a:r>
          </a:p>
        </p:txBody>
      </p:sp>
      <p:sp>
        <p:nvSpPr>
          <p:cNvPr id="36" name="TextBox 35"/>
          <p:cNvSpPr txBox="1"/>
          <p:nvPr/>
        </p:nvSpPr>
        <p:spPr>
          <a:xfrm>
            <a:off x="1005840" y="5989320"/>
            <a:ext cx="365760" cy="274320"/>
          </a:xfrm>
          <a:prstGeom prst="rect">
            <a:avLst/>
          </a:prstGeom>
          <a:noFill/>
        </p:spPr>
        <p:txBody>
          <a:bodyPr wrap="square">
            <a:spAutoFit/>
          </a:bodyPr>
          <a:lstStyle/>
          <a:p>
            <a:pPr algn="l">
              <a:lnSpc>
                <a:spcPts val="1439"/>
              </a:lnSpc>
              <a:spcAft>
                <a:spcPts val="359"/>
              </a:spcAft>
              <a:defRPr sz="1200" b="1">
                <a:solidFill>
                  <a:srgbClr val="F38BA8"/>
                </a:solidFill>
                <a:latin typeface="Segoe UI"/>
              </a:defRPr>
            </a:pPr>
            <a:r>
              <a:t>5.</a:t>
            </a:r>
          </a:p>
        </p:txBody>
      </p:sp>
      <p:sp>
        <p:nvSpPr>
          <p:cNvPr id="37" name="TextBox 36"/>
          <p:cNvSpPr txBox="1"/>
          <p:nvPr/>
        </p:nvSpPr>
        <p:spPr>
          <a:xfrm>
            <a:off x="1371600" y="5989320"/>
            <a:ext cx="201168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Artifacts flow forward</a:t>
            </a:r>
          </a:p>
        </p:txBody>
      </p:sp>
      <p:sp>
        <p:nvSpPr>
          <p:cNvPr id="38" name="TextBox 37"/>
          <p:cNvSpPr txBox="1"/>
          <p:nvPr/>
        </p:nvSpPr>
        <p:spPr>
          <a:xfrm>
            <a:off x="3474720" y="598932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 of stage N becomes input parameter of stage N+1</a:t>
            </a:r>
          </a:p>
        </p:txBody>
      </p:sp>
      <p:sp>
        <p:nvSpPr>
          <p:cNvPr id="39" name="TextBox 3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Testing: Reference Comparison Methodology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How do you test prompts? Compare against known-good references.</a:t>
            </a:r>
          </a:p>
        </p:txBody>
      </p:sp>
      <p:sp>
        <p:nvSpPr>
          <p:cNvPr id="5" name="Rounded Rectangle 4"/>
          <p:cNvSpPr/>
          <p:nvPr/>
        </p:nvSpPr>
        <p:spPr>
          <a:xfrm>
            <a:off x="8380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047" y="1463040"/>
            <a:ext cx="22860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94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Hand-craft</a:t>
            </a:r>
            <a:br/>
            <a:r>
              <a:t>reference prompt</a:t>
            </a:r>
          </a:p>
        </p:txBody>
      </p:sp>
      <p:sp>
        <p:nvSpPr>
          <p:cNvPr id="8" name="TextBox 7"/>
          <p:cNvSpPr txBox="1"/>
          <p:nvPr/>
        </p:nvSpPr>
        <p:spPr>
          <a:xfrm>
            <a:off x="31971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9" name="Rounded Rectangle 8"/>
          <p:cNvSpPr/>
          <p:nvPr/>
        </p:nvSpPr>
        <p:spPr>
          <a:xfrm>
            <a:off x="35812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81247" y="1463040"/>
            <a:ext cx="22860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6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Generate via</a:t>
            </a:r>
            <a:br/>
            <a:r>
              <a:t>PromptKit</a:t>
            </a:r>
          </a:p>
        </p:txBody>
      </p:sp>
      <p:sp>
        <p:nvSpPr>
          <p:cNvPr id="12" name="TextBox 11"/>
          <p:cNvSpPr txBox="1"/>
          <p:nvPr/>
        </p:nvSpPr>
        <p:spPr>
          <a:xfrm>
            <a:off x="59403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3" name="Rounded Rectangle 12"/>
          <p:cNvSpPr/>
          <p:nvPr/>
        </p:nvSpPr>
        <p:spPr>
          <a:xfrm>
            <a:off x="63244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4447" y="1463040"/>
            <a:ext cx="22860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58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Structured</a:t>
            </a:r>
            <a:br/>
            <a:r>
              <a:t>gap analysis</a:t>
            </a:r>
          </a:p>
        </p:txBody>
      </p:sp>
      <p:sp>
        <p:nvSpPr>
          <p:cNvPr id="16" name="TextBox 15"/>
          <p:cNvSpPr txBox="1"/>
          <p:nvPr/>
        </p:nvSpPr>
        <p:spPr>
          <a:xfrm>
            <a:off x="86835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90676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67647" y="1463040"/>
            <a:ext cx="22860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590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Feed gaps back</a:t>
            </a:r>
            <a:br/>
            <a:r>
              <a:t>as improvements</a:t>
            </a:r>
          </a:p>
        </p:txBody>
      </p:sp>
      <p:sp>
        <p:nvSpPr>
          <p:cNvPr id="20" name="TextBox 19"/>
          <p:cNvSpPr txBox="1"/>
          <p:nvPr/>
        </p:nvSpPr>
        <p:spPr>
          <a:xfrm>
            <a:off x="731520" y="2834640"/>
            <a:ext cx="100584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5 Gap Analysis Dimensions</a:t>
            </a:r>
          </a:p>
        </p:txBody>
      </p:sp>
      <p:sp>
        <p:nvSpPr>
          <p:cNvPr id="21" name="Rounded Rectangle 20"/>
          <p:cNvSpPr/>
          <p:nvPr/>
        </p:nvSpPr>
        <p:spPr>
          <a:xfrm>
            <a:off x="58658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6587" y="3291840"/>
            <a:ext cx="20574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027" y="3429000"/>
            <a:ext cx="1874520" cy="502920"/>
          </a:xfrm>
          <a:prstGeom prst="rect">
            <a:avLst/>
          </a:prstGeom>
          <a:noFill/>
        </p:spPr>
        <p:txBody>
          <a:bodyPr wrap="square">
            <a:spAutoFit/>
          </a:bodyPr>
          <a:lstStyle/>
          <a:p>
            <a:pPr algn="ctr">
              <a:lnSpc>
                <a:spcPts val="1560"/>
              </a:lnSpc>
              <a:spcAft>
                <a:spcPts val="390"/>
              </a:spcAft>
              <a:defRPr sz="1300" b="1">
                <a:solidFill>
                  <a:srgbClr val="89B4FA"/>
                </a:solidFill>
                <a:latin typeface="Segoe UI"/>
              </a:defRPr>
            </a:pPr>
            <a:r>
              <a:t>Task Framing</a:t>
            </a:r>
          </a:p>
        </p:txBody>
      </p:sp>
      <p:sp>
        <p:nvSpPr>
          <p:cNvPr id="24" name="TextBox 23"/>
          <p:cNvSpPr txBox="1"/>
          <p:nvPr/>
        </p:nvSpPr>
        <p:spPr>
          <a:xfrm>
            <a:off x="67802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Goal statement, success criteria,</a:t>
            </a:r>
            <a:br/>
            <a:r>
              <a:t>non-goals, context definition</a:t>
            </a:r>
          </a:p>
        </p:txBody>
      </p:sp>
      <p:sp>
        <p:nvSpPr>
          <p:cNvPr id="25" name="TextBox 24"/>
          <p:cNvSpPr txBox="1"/>
          <p:nvPr/>
        </p:nvSpPr>
        <p:spPr>
          <a:xfrm>
            <a:off x="67802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objective clearly stated?</a:t>
            </a:r>
            <a:br/>
            <a:r>
              <a:t>Is scope explicitly bounded?</a:t>
            </a:r>
          </a:p>
        </p:txBody>
      </p:sp>
      <p:sp>
        <p:nvSpPr>
          <p:cNvPr id="26" name="Rounded Rectangle 25"/>
          <p:cNvSpPr/>
          <p:nvPr/>
        </p:nvSpPr>
        <p:spPr>
          <a:xfrm>
            <a:off x="282686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26867" y="3291840"/>
            <a:ext cx="20574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18307" y="3429000"/>
            <a:ext cx="1874520" cy="502920"/>
          </a:xfrm>
          <a:prstGeom prst="rect">
            <a:avLst/>
          </a:prstGeom>
          <a:noFill/>
        </p:spPr>
        <p:txBody>
          <a:bodyPr wrap="square">
            <a:spAutoFit/>
          </a:bodyPr>
          <a:lstStyle/>
          <a:p>
            <a:pPr algn="ctr">
              <a:lnSpc>
                <a:spcPts val="1560"/>
              </a:lnSpc>
              <a:spcAft>
                <a:spcPts val="390"/>
              </a:spcAft>
              <a:defRPr sz="1300" b="1">
                <a:solidFill>
                  <a:srgbClr val="A6E3A1"/>
                </a:solidFill>
                <a:latin typeface="Segoe UI"/>
              </a:defRPr>
            </a:pPr>
            <a:r>
              <a:t>Reasoning</a:t>
            </a:r>
            <a:br/>
            <a:r>
              <a:t>Methodology</a:t>
            </a:r>
          </a:p>
        </p:txBody>
      </p:sp>
      <p:sp>
        <p:nvSpPr>
          <p:cNvPr id="29" name="TextBox 28"/>
          <p:cNvSpPr txBox="1"/>
          <p:nvPr/>
        </p:nvSpPr>
        <p:spPr>
          <a:xfrm>
            <a:off x="291830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Systematic analysis, hypothesis</a:t>
            </a:r>
            <a:br/>
            <a:r>
              <a:t>generation, evidence requirements</a:t>
            </a:r>
          </a:p>
        </p:txBody>
      </p:sp>
      <p:sp>
        <p:nvSpPr>
          <p:cNvPr id="30" name="TextBox 29"/>
          <p:cNvSpPr txBox="1"/>
          <p:nvPr/>
        </p:nvSpPr>
        <p:spPr>
          <a:xfrm>
            <a:off x="291830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anti-hallucination present?</a:t>
            </a:r>
            <a:br/>
            <a:r>
              <a:t>Are multiple hypotheses required?</a:t>
            </a:r>
          </a:p>
        </p:txBody>
      </p:sp>
      <p:sp>
        <p:nvSpPr>
          <p:cNvPr id="31" name="Rounded Rectangle 30"/>
          <p:cNvSpPr/>
          <p:nvPr/>
        </p:nvSpPr>
        <p:spPr>
          <a:xfrm>
            <a:off x="506714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67147" y="3291840"/>
            <a:ext cx="20574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58587" y="3429000"/>
            <a:ext cx="1874520" cy="502920"/>
          </a:xfrm>
          <a:prstGeom prst="rect">
            <a:avLst/>
          </a:prstGeom>
          <a:noFill/>
        </p:spPr>
        <p:txBody>
          <a:bodyPr wrap="square">
            <a:spAutoFit/>
          </a:bodyPr>
          <a:lstStyle/>
          <a:p>
            <a:pPr algn="ctr">
              <a:lnSpc>
                <a:spcPts val="1560"/>
              </a:lnSpc>
              <a:spcAft>
                <a:spcPts val="390"/>
              </a:spcAft>
              <a:defRPr sz="1300" b="1">
                <a:solidFill>
                  <a:srgbClr val="F9E2AF"/>
                </a:solidFill>
                <a:latin typeface="Segoe UI"/>
              </a:defRPr>
            </a:pPr>
            <a:r>
              <a:t>Output</a:t>
            </a:r>
            <a:br/>
            <a:r>
              <a:t>Specification</a:t>
            </a:r>
          </a:p>
        </p:txBody>
      </p:sp>
      <p:sp>
        <p:nvSpPr>
          <p:cNvPr id="34" name="TextBox 33"/>
          <p:cNvSpPr txBox="1"/>
          <p:nvPr/>
        </p:nvSpPr>
        <p:spPr>
          <a:xfrm>
            <a:off x="515858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Format structure, artifacts,</a:t>
            </a:r>
            <a:br/>
            <a:r>
              <a:t>taxonomy, severity ranking</a:t>
            </a:r>
          </a:p>
        </p:txBody>
      </p:sp>
      <p:sp>
        <p:nvSpPr>
          <p:cNvPr id="35" name="TextBox 34"/>
          <p:cNvSpPr txBox="1"/>
          <p:nvPr/>
        </p:nvSpPr>
        <p:spPr>
          <a:xfrm>
            <a:off x="515858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deliverable structure defined?</a:t>
            </a:r>
            <a:br/>
            <a:r>
              <a:t>Are classification schemes provided?</a:t>
            </a:r>
          </a:p>
        </p:txBody>
      </p:sp>
      <p:sp>
        <p:nvSpPr>
          <p:cNvPr id="36" name="Rounded Rectangle 35"/>
          <p:cNvSpPr/>
          <p:nvPr/>
        </p:nvSpPr>
        <p:spPr>
          <a:xfrm>
            <a:off x="730742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07427" y="3291840"/>
            <a:ext cx="20574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98867" y="3429000"/>
            <a:ext cx="1874520" cy="502920"/>
          </a:xfrm>
          <a:prstGeom prst="rect">
            <a:avLst/>
          </a:prstGeom>
          <a:noFill/>
        </p:spPr>
        <p:txBody>
          <a:bodyPr wrap="square">
            <a:spAutoFit/>
          </a:bodyPr>
          <a:lstStyle/>
          <a:p>
            <a:pPr algn="ctr">
              <a:lnSpc>
                <a:spcPts val="1560"/>
              </a:lnSpc>
              <a:spcAft>
                <a:spcPts val="390"/>
              </a:spcAft>
              <a:defRPr sz="1300" b="1">
                <a:solidFill>
                  <a:srgbClr val="FAB387"/>
                </a:solidFill>
                <a:latin typeface="Segoe UI"/>
              </a:defRPr>
            </a:pPr>
            <a:r>
              <a:t>Operational</a:t>
            </a:r>
            <a:br/>
            <a:r>
              <a:t>Guidance</a:t>
            </a:r>
          </a:p>
        </p:txBody>
      </p:sp>
      <p:sp>
        <p:nvSpPr>
          <p:cNvPr id="39" name="TextBox 38"/>
          <p:cNvSpPr txBox="1"/>
          <p:nvPr/>
        </p:nvSpPr>
        <p:spPr>
          <a:xfrm>
            <a:off x="739886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Scoping strategy, tool usage,</a:t>
            </a:r>
            <a:br/>
            <a:r>
              <a:t>step-by-step plan</a:t>
            </a:r>
          </a:p>
        </p:txBody>
      </p:sp>
      <p:sp>
        <p:nvSpPr>
          <p:cNvPr id="40" name="TextBox 39"/>
          <p:cNvSpPr txBox="1"/>
          <p:nvPr/>
        </p:nvSpPr>
        <p:spPr>
          <a:xfrm>
            <a:off x="739886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Does it guide how to scope work?</a:t>
            </a:r>
            <a:br/>
            <a:r>
              <a:t>Is a procedural plan provided?</a:t>
            </a:r>
          </a:p>
        </p:txBody>
      </p:sp>
      <p:sp>
        <p:nvSpPr>
          <p:cNvPr id="41" name="Rounded Rectangle 40"/>
          <p:cNvSpPr/>
          <p:nvPr/>
        </p:nvSpPr>
        <p:spPr>
          <a:xfrm>
            <a:off x="954770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7707" y="3291840"/>
            <a:ext cx="205740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39147" y="3429000"/>
            <a:ext cx="1874520" cy="502920"/>
          </a:xfrm>
          <a:prstGeom prst="rect">
            <a:avLst/>
          </a:prstGeom>
          <a:noFill/>
        </p:spPr>
        <p:txBody>
          <a:bodyPr wrap="square">
            <a:spAutoFit/>
          </a:bodyPr>
          <a:lstStyle/>
          <a:p>
            <a:pPr algn="ctr">
              <a:lnSpc>
                <a:spcPts val="1560"/>
              </a:lnSpc>
              <a:spcAft>
                <a:spcPts val="390"/>
              </a:spcAft>
              <a:defRPr sz="1300" b="1">
                <a:solidFill>
                  <a:srgbClr val="F38BA8"/>
                </a:solidFill>
                <a:latin typeface="Segoe UI"/>
              </a:defRPr>
            </a:pPr>
            <a:r>
              <a:t>Quality</a:t>
            </a:r>
            <a:br/>
            <a:r>
              <a:t>Assurance</a:t>
            </a:r>
          </a:p>
        </p:txBody>
      </p:sp>
      <p:sp>
        <p:nvSpPr>
          <p:cNvPr id="44" name="TextBox 43"/>
          <p:cNvSpPr txBox="1"/>
          <p:nvPr/>
        </p:nvSpPr>
        <p:spPr>
          <a:xfrm>
            <a:off x="963914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Self-verification, sampling,</a:t>
            </a:r>
            <a:br/>
            <a:r>
              <a:t>coverage, consistency</a:t>
            </a:r>
          </a:p>
        </p:txBody>
      </p:sp>
      <p:sp>
        <p:nvSpPr>
          <p:cNvPr id="45" name="TextBox 44"/>
          <p:cNvSpPr txBox="1"/>
          <p:nvPr/>
        </p:nvSpPr>
        <p:spPr>
          <a:xfrm>
            <a:off x="963914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Must LLM verify its output?</a:t>
            </a:r>
            <a:br/>
            <a:r>
              <a:t>Must it document what it examined?</a:t>
            </a:r>
          </a:p>
        </p:txBody>
      </p:sp>
      <p:sp>
        <p:nvSpPr>
          <p:cNvPr id="46" name="TextBox 4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walks you through template</a:t>
            </a:r>
            <a:br/>
            <a:r>
              <a:t>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github.com/microsoft/promptkit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PromptKit eats its own dog food — the</a:t>
            </a:r>
            <a:br/>
            <a:r>
              <a:t>contribution workflow is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